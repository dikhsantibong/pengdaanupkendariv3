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f99b888b-3b8f-4358-842b-a619d8e9d509}">
          <p14:sldIdLst>
            <p14:sldId id="256"/>
          </p14:sldIdLst>
        </p14:section>
        <p14:section name="Gambaran Umum" id="{438d054d-bda5-517b-060c-72be5436451b}">
          <p14:sldIdLst>
            <p14:sldId id="257"/>
          </p14:sldIdLst>
        </p14:section>
        <p14:section name="Alur Utama" id="{3ba3c00c-7e7d-bd60-5a89-d19f9591427e}">
          <p14:sldIdLst>
            <p14:sldId id="258"/>
            <p14:sldId id="259"/>
          </p14:sldIdLst>
        </p14:section>
        <p14:section name="Tahap Utama" id="{4aceac51-8c1d-bbfb-6fa1-0c57b66fe998}">
          <p14:sldIdLst>
            <p14:sldId id="260"/>
            <p14:sldId id="261"/>
            <p14:sldId id="262"/>
            <p14:sldId id="263"/>
            <p14:sldId id="264"/>
            <p14:sldId id="265"/>
          </p14:sldIdLst>
        </p14:section>
        <p14:section name="Proses Pendukung" id="{fc186b58-7a8a-d12a-d9cf-9f991b92eff5}">
          <p14:sldIdLst>
            <p14:sldId id="266"/>
            <p14:sldId id="267"/>
          </p14:sldIdLst>
        </p14:section>
        <p14:section name="Penutup" id="{49a45865-b242-ab5a-fa32-6b2e8362663d}">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 Presentasi ini menjelaskan alur aplikasi pengadaan UP Kendari: lima tahap utama (Usulan, Perencanaan, Pelaksanaan, Penyerahan, Pembayaran) dan proses pendukung (Amandemen, Delivery Order, Riwayat Approval). Sumber: dokumentasi aplikasi (prompt.md) dan hak akses bawaan di kode.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Gambaran umum. Tujuan diambil dari bagian Tujuan di dokumentasi. Delapan kartu di kanan adalah modul aplikasi yang terdokumentasi. Prinsip penting: data master dinamis (bukan hardcode) dan data pengadaan hanya terlihat oleh PIC yang ditugaskan, kecuali TL Pengadaan dan Administrator.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Alur utama. Lima tahap berurutan. Tiga titik persetujuan: usulan (TL lalu Asman), perencanaan (TL ICC), pelaksanaan (TL Pengadaan). Penyerahan dan Pembayaran dikerjakan Keuangan di dua tab; pengadaan ditutup bila semua item wajib Keuangan selesai. Amandemen dan DO berjalan di samping alur utama, bukan tahap ke-6 dan ke-7.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Aktor dan tanggung jawab, sesuai hak bawaan di kode (Permission::defaultRoles) dan dokumentasi Role. Catatan: dokumentasi lama menyebut TL Pengadaan menunjuk PIC Perencana, tetapi hak bawaan "Tunjuk PIC perencana" saat ini dimiliki TL ICC. Semua hak dapat diubah Administrator.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Tahap Usulan. Pengusul mengisi data dan dua dokumen (TOR digenerate lalu diunggah tervalidasi, Nota Dinas Usulan). Selama belum lengkap usulan tertahan dan tidak tampil di antrean TL/Asman. Persetujuan dua tingkat: TL atasan langsung, lalu Asman bidang. Mengembalikan wajib disertai catatan; pengajuan ulang mulai lagi dari TL. Setelah Asman menyetujui, usulan muncul di Penunjukan PIC dan Perencanaan.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Tahap Perencanaan. TL ICC menunjuk PIC Perencana (hak bawaan di kode). TL Pengadaan melengkapi data yang tidak diketahui bidang. PIC Perencana menyusun checklist: dokumen digenerate dari template, diedit, lalu diunggah versi tervalidasi. TL ICC menyetujui atau mengembalikan (Revisi Perencanaan). Setelah disetujui, TL Pengadaan menunjuk PIC Pelaksana. Untuk SPPL status perencanaannya: Inisiasi Rendan lalu Draft Nota Dinas ke Laksdan.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Tahap Pelaksanaan. TL Pengadaan menunjuk PIC Pelaksana. PIC Pelaksana melengkapi checklist sesuai format kontrak dan mengisi Nomor Kontrak di Identitas Pengadaan (dapat juga TL Pengadaan), lalu mengajukan. TL Pengadaan menyetujui dan meneruskan ke Keuangan, atau mengembalikan dengan catatan (Revisi Pelaksanaan). Setelah disetujui status menjadi Terkontrak. Perlu dikonfirmasi: Surat Pesanan tercantum sebagai tahapan SPPL di dokumentasi, tetapi item checklist aktif di Data Master hanya Lampiran Surat Pesanan.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Percabangan format. SPK dan Surat Perjanjian (PJ) memakai jalur lengkap; SPPL memakai jalur Surat Pesanan dengan banyak tahapan dilewati. Sumber: Checklist Perencanaan, Checklist Pelaksanaan SPK/PJ dan SPPL, Tahap Keuangan, Amandemen, dan DO di dokumentasi. Surat Pesanan sebagai item checklist SPPL perlu dikonfirmasi.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Tahap Penyerahan. Setelah pelaksanaan disetujui, pengadaan masuk menu Keuangan dan seluruh akun Keuangan mendapat notifikasi. Isi checklist Penyerahan dibaca dari pasal kontrak pengadaan; setiap item wajib harus memiliki berkas sebelum dapat dicentang.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Tahap Pembayaran. Keuangan melengkapi berkas di tab Pembayaran. Tombol Pembayaran Lunas dan Tutup Pengadaan hanya dapat dipakai bila tidak ada item wajib Keuangan (Penyerahan dan Pembayaran) yang tertunda. Pengadaan lalu berstatus Selesai dan notifikasi dikirim ke pihak terkait.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Amandemen Kontrak (proses pendukung). Alur revisi terbaru: Pengusul, TL, Asman, Laksdan. Persetujuan akhir TL Pengadaan sudah dihapus; Laksdan langsung menerbitkan. Nomor Amd otomatis saat Asman menyetujui. Teks Semula diambil dari pasal kontrak, Laksdan mengisi Menjadi.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Order (proses pendukung) untuk kontrak KHS. Laksdan lebih dulu mengisi Daftar Harga Satuan Kontrak dari lampiran kontrak. Pengusul memilih item dan volume, disetujui TL dan Asman, Rendan mengisi Nota Dinas DO, lalu Laksdan menerbitkan DO dengan nomor otomatis.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Ringkasan. Tabel merangkum pelaku dan keputusan tiap tahap. Panel kanan berisi hal yang perlu dikonfirmasi sebelum presentasi dibagikan.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E2F56"/>
        </a:solidFill>
      </p:bgPr>
    </p:bg>
    <p:spTree>
      <p:nvGrpSpPr>
        <p:cNvPr id="1" name=""/>
        <p:cNvGrpSpPr/>
        <p:nvPr/>
      </p:nvGrpSpPr>
      <p:grpSpPr>
        <a:xfrm>
          <a:off x="0" y="0"/>
          <a:ext cx="0" cy="0"/>
          <a:chOff x="0" y="0"/>
          <a:chExt cx="0" cy="0"/>
        </a:xfrm>
      </p:grpSpPr>
      <p:sp>
        <p:nvSpPr>
          <p:cNvPr id="2" name="Shape 0"/>
          <p:cNvSpPr/>
          <p:nvPr/>
        </p:nvSpPr>
        <p:spPr>
          <a:xfrm>
            <a:off x="548640" y="749808"/>
            <a:ext cx="11094415" cy="9144"/>
          </a:xfrm>
          <a:prstGeom prst="rect">
            <a:avLst/>
          </a:prstGeom>
          <a:solidFill>
            <a:srgbClr val="2B4C75"/>
          </a:solidFill>
          <a:ln/>
        </p:spPr>
      </p:sp>
      <p:sp>
        <p:nvSpPr>
          <p:cNvPr id="3" name="Shape 1"/>
          <p:cNvSpPr/>
          <p:nvPr/>
        </p:nvSpPr>
        <p:spPr>
          <a:xfrm>
            <a:off x="0" y="0"/>
            <a:ext cx="12191695" cy="749808"/>
          </a:xfrm>
          <a:prstGeom prst="rect">
            <a:avLst/>
          </a:prstGeom>
          <a:solidFill>
            <a:srgbClr val="0E2F56"/>
          </a:solidFill>
          <a:ln/>
        </p:spPr>
      </p:sp>
      <p:pic>
        <p:nvPicPr>
          <p:cNvPr id="4" name="Image 0" descr="Logo vendor">    </p:cNvPr>
          <p:cNvPicPr>
            <a:picLocks noChangeAspect="1"/>
          </p:cNvPicPr>
          <p:nvPr/>
        </p:nvPicPr>
        <p:blipFill>
          <a:blip r:embed="rId1"/>
          <a:stretch>
            <a:fillRect/>
          </a:stretch>
        </p:blipFill>
        <p:spPr>
          <a:xfrm>
            <a:off x="548640" y="146304"/>
            <a:ext cx="1664060" cy="457200"/>
          </a:xfrm>
          <a:prstGeom prst="rect">
            <a:avLst/>
          </a:prstGeom>
        </p:spPr>
      </p:pic>
      <p:pic>
        <p:nvPicPr>
          <p:cNvPr id="5" name="Image 1" descr="Logo PLN Nusantara Power UP Kendari">    </p:cNvPr>
          <p:cNvPicPr>
            <a:picLocks noChangeAspect="1"/>
          </p:cNvPicPr>
          <p:nvPr/>
        </p:nvPicPr>
        <p:blipFill>
          <a:blip r:embed="rId2"/>
          <a:stretch>
            <a:fillRect/>
          </a:stretch>
        </p:blipFill>
        <p:spPr>
          <a:xfrm>
            <a:off x="9866109" y="146304"/>
            <a:ext cx="1776946" cy="4572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6419088"/>
            <a:ext cx="11094415" cy="0"/>
          </a:xfrm>
          <a:prstGeom prst="line">
            <a:avLst/>
          </a:prstGeom>
          <a:noFill/>
          <a:ln w="9525">
            <a:solidFill>
              <a:srgbClr val="CDD5DF"/>
            </a:solidFill>
            <a:prstDash val="solid"/>
          </a:ln>
        </p:spPr>
      </p:sp>
      <p:sp>
        <p:nvSpPr>
          <p:cNvPr id="3" name="Text 1"/>
          <p:cNvSpPr/>
          <p:nvPr/>
        </p:nvSpPr>
        <p:spPr>
          <a:xfrm>
            <a:off x="548640" y="6464808"/>
            <a:ext cx="7315200" cy="274320"/>
          </a:xfrm>
          <a:prstGeom prst="rect">
            <a:avLst/>
          </a:prstGeom>
          <a:noFill/>
          <a:ln/>
        </p:spPr>
        <p:txBody>
          <a:bodyPr wrap="square" lIns="0" tIns="0" rIns="0" bIns="0" rtlCol="0" anchor="ctr"/>
          <a:lstStyle/>
          <a:p>
            <a:pPr indent="0" marL="0">
              <a:buNone/>
            </a:pPr>
            <a:r>
              <a:rPr lang="en-US" sz="900" dirty="0">
                <a:solidFill>
                  <a:srgbClr val="5B6B7C"/>
                </a:solidFill>
              </a:rPr>
              <a:t>Sistem Pengadaan Barang dan Jasa  |  PLN Nusantara Power UP Kendari</a:t>
            </a:r>
            <a:endParaRPr lang="en-US" sz="900" dirty="0"/>
          </a:p>
        </p:txBody>
      </p:sp>
      <p:sp>
        <p:nvSpPr>
          <p:cNvPr id="4" name="Text 2"/>
          <p:cNvSpPr/>
          <p:nvPr>
            <p:ph idx="102" type="title" hasCustomPrompt="1"/>
          </p:nvPr>
        </p:nvSpPr>
        <p:spPr>
          <a:xfrm>
            <a:off x="548640" y="896112"/>
            <a:ext cx="7680960" cy="502920"/>
          </a:xfrm>
          <a:prstGeom prst="rect">
            <a:avLst/>
          </a:prstGeom>
          <a:noFill/>
          <a:ln/>
        </p:spPr>
        <p:txBody>
          <a:bodyPr wrap="square" rtlCol="0"/>
          <a:lstStyle>
            <a:lvl1pPr algn="l" indent="0" marL="0">
              <a:buNone/>
              <a:defRPr lang="en-US" sz="2400" b="1" dirty="0">
                <a:solidFill>
                  <a:srgbClr val="0E2F56"/>
                </a:solidFill>
              </a:defRPr>
            </a:lvl1pPr>
          </a:lstStyle>
          <a:p>
            <a:pPr algn="l" indent="0" marL="0">
              <a:buNone/>
            </a:pPr>
            <a:endParaRPr lang="en-US" sz="2400" dirty="0"/>
          </a:p>
        </p:txBody>
      </p:sp>
      <p:sp>
        <p:nvSpPr>
          <p:cNvPr id="5" name="Text 2"/>
          <p:cNvSpPr/>
          <p:nvPr>
            <p:ph idx="103" type="body" hasCustomPrompt="1"/>
          </p:nvPr>
        </p:nvSpPr>
        <p:spPr>
          <a:xfrm>
            <a:off x="548640" y="1371600"/>
            <a:ext cx="7680960" cy="292608"/>
          </a:xfrm>
          <a:prstGeom prst="rect">
            <a:avLst/>
          </a:prstGeom>
          <a:noFill/>
          <a:ln/>
        </p:spPr>
        <p:txBody>
          <a:bodyPr wrap="square" rtlCol="0"/>
          <a:lstStyle>
            <a:lvl1pPr algn="l" indent="0" marL="0">
              <a:buNone/>
              <a:defRPr lang="en-US" sz="1200" dirty="0">
                <a:solidFill>
                  <a:srgbClr val="5B6B7C"/>
                </a:solidFill>
              </a:defRPr>
            </a:lvl1pPr>
          </a:lstStyle>
          <a:p>
            <a:pPr algn="l" indent="0" marL="0">
              <a:buNone/>
            </a:pPr>
            <a:endParaRPr lang="en-US" sz="1200" dirty="0"/>
          </a:p>
        </p:txBody>
      </p:sp>
      <p:sp>
        <p:nvSpPr>
          <p:cNvPr id="6" name="Shape 2"/>
          <p:cNvSpPr/>
          <p:nvPr/>
        </p:nvSpPr>
        <p:spPr>
          <a:xfrm>
            <a:off x="0" y="0"/>
            <a:ext cx="12191695" cy="749808"/>
          </a:xfrm>
          <a:prstGeom prst="rect">
            <a:avLst/>
          </a:prstGeom>
          <a:solidFill>
            <a:srgbClr val="0E2F56"/>
          </a:solidFill>
          <a:ln/>
        </p:spPr>
      </p:sp>
      <p:pic>
        <p:nvPicPr>
          <p:cNvPr id="7" name="Image 0" descr="Logo vendor">    </p:cNvPr>
          <p:cNvPicPr>
            <a:picLocks noChangeAspect="1"/>
          </p:cNvPicPr>
          <p:nvPr/>
        </p:nvPicPr>
        <p:blipFill>
          <a:blip r:embed="rId1"/>
          <a:stretch>
            <a:fillRect/>
          </a:stretch>
        </p:blipFill>
        <p:spPr>
          <a:xfrm>
            <a:off x="548640" y="146304"/>
            <a:ext cx="1664060" cy="457200"/>
          </a:xfrm>
          <a:prstGeom prst="rect">
            <a:avLst/>
          </a:prstGeom>
        </p:spPr>
      </p:pic>
      <p:pic>
        <p:nvPicPr>
          <p:cNvPr id="8" name="Image 1" descr="Logo PLN Nusantara Power UP Kendari">    </p:cNvPr>
          <p:cNvPicPr>
            <a:picLocks noChangeAspect="1"/>
          </p:cNvPicPr>
          <p:nvPr/>
        </p:nvPicPr>
        <p:blipFill>
          <a:blip r:embed="rId2"/>
          <a:stretch>
            <a:fillRect/>
          </a:stretch>
        </p:blipFill>
        <p:spPr>
          <a:xfrm>
            <a:off x="9866109" y="146304"/>
            <a:ext cx="1776946" cy="457200"/>
          </a:xfrm>
          <a:prstGeom prst="rect">
            <a:avLst/>
          </a:prstGeom>
        </p:spPr>
      </p:pic>
      <p:sp>
        <p:nvSpPr>
          <p:cNvPr id="25" name="Slide Number Placeholder 0"/>
          <p:cNvSpPr>
            <a:spLocks noGrp="1"/>
          </p:cNvSpPr>
          <p:nvPr>
            <p:ph type="sldNum" sz="quarter" idx="4294967295"/>
          </p:nvPr>
        </p:nvSpPr>
        <p:spPr>
          <a:xfrm>
            <a:off x="11094415" y="646480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6480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600200"/>
            <a:ext cx="8229600" cy="320040"/>
          </a:xfrm>
          <a:prstGeom prst="rect">
            <a:avLst/>
          </a:prstGeom>
          <a:noFill/>
          <a:ln/>
        </p:spPr>
        <p:txBody>
          <a:bodyPr wrap="square" lIns="0" tIns="0" rIns="0" bIns="0" rtlCol="0" anchor="ctr"/>
          <a:lstStyle/>
          <a:p>
            <a:pPr indent="0" marL="0">
              <a:buNone/>
            </a:pPr>
            <a:r>
              <a:rPr lang="en-US" sz="1300" b="1" spc="300" kern="0" dirty="0">
                <a:solidFill>
                  <a:srgbClr val="AFC2D8"/>
                </a:solidFill>
              </a:rPr>
              <a:t>APLIKASI MANAJEMEN PENGADAAN</a:t>
            </a:r>
            <a:endParaRPr lang="en-US" sz="1300" dirty="0"/>
          </a:p>
        </p:txBody>
      </p:sp>
      <p:sp>
        <p:nvSpPr>
          <p:cNvPr id="3" name="Text 1"/>
          <p:cNvSpPr txBox="1"/>
          <p:nvPr/>
        </p:nvSpPr>
        <p:spPr>
          <a:xfrm>
            <a:off x="548640" y="1965960"/>
            <a:ext cx="9601200" cy="1371600"/>
          </a:xfrm>
          <a:prstGeom prst="rect">
            <a:avLst/>
          </a:prstGeom>
          <a:noFill/>
          <a:ln/>
        </p:spPr>
        <p:txBody>
          <a:bodyPr wrap="square" lIns="0" tIns="0" rIns="0" bIns="0" rtlCol="0" anchor="t"/>
          <a:lstStyle/>
          <a:p>
            <a:pPr indent="0" marL="0">
              <a:buNone/>
            </a:pPr>
            <a:r>
              <a:rPr lang="en-US" sz="4000" b="1" dirty="0">
                <a:solidFill>
                  <a:srgbClr val="FFFFFF"/>
                </a:solidFill>
              </a:rPr>
              <a:t>Sistem Pengadaan Barang dan Jasa UP Kendari</a:t>
            </a:r>
            <a:endParaRPr lang="en-US" sz="4000" dirty="0"/>
          </a:p>
        </p:txBody>
      </p:sp>
      <p:sp>
        <p:nvSpPr>
          <p:cNvPr id="4" name="Text 2"/>
          <p:cNvSpPr txBox="1"/>
          <p:nvPr/>
        </p:nvSpPr>
        <p:spPr>
          <a:xfrm>
            <a:off x="548640" y="3429000"/>
            <a:ext cx="8686800" cy="640080"/>
          </a:xfrm>
          <a:prstGeom prst="rect">
            <a:avLst/>
          </a:prstGeom>
          <a:noFill/>
          <a:ln/>
        </p:spPr>
        <p:txBody>
          <a:bodyPr wrap="square" lIns="0" tIns="0" rIns="0" bIns="0" rtlCol="0" anchor="ctr"/>
          <a:lstStyle/>
          <a:p>
            <a:pPr indent="0" marL="0">
              <a:buNone/>
            </a:pPr>
            <a:r>
              <a:rPr lang="en-US" sz="1600" dirty="0">
                <a:solidFill>
                  <a:srgbClr val="D6E2F0"/>
                </a:solidFill>
              </a:rPr>
              <a:t>Alur kerja dari usulan pekerjaan sampai pembayaran, beserta peran, keputusan, dan proses pendukungnya.</a:t>
            </a:r>
            <a:endParaRPr lang="en-US" sz="1600" dirty="0"/>
          </a:p>
        </p:txBody>
      </p:sp>
      <p:sp>
        <p:nvSpPr>
          <p:cNvPr id="5" name="cover-stage-1"/>
          <p:cNvSpPr/>
          <p:nvPr/>
        </p:nvSpPr>
        <p:spPr>
          <a:xfrm>
            <a:off x="548640" y="4663440"/>
            <a:ext cx="2057400" cy="685800"/>
          </a:xfrm>
          <a:prstGeom prst="rect">
            <a:avLst/>
          </a:prstGeom>
          <a:solidFill>
            <a:srgbClr val="163D6B"/>
          </a:solidFill>
          <a:ln w="9525">
            <a:solidFill>
              <a:srgbClr val="3D6593"/>
            </a:solidFill>
            <a:prstDash val="solid"/>
          </a:ln>
        </p:spPr>
      </p:sp>
      <p:sp>
        <p:nvSpPr>
          <p:cNvPr id="6" name="cover-stage-text-2"/>
          <p:cNvSpPr txBox="1"/>
          <p:nvPr/>
        </p:nvSpPr>
        <p:spPr>
          <a:xfrm>
            <a:off x="685800" y="4663440"/>
            <a:ext cx="1783080" cy="685800"/>
          </a:xfrm>
          <a:prstGeom prst="rect">
            <a:avLst/>
          </a:prstGeom>
          <a:noFill/>
          <a:ln/>
        </p:spPr>
        <p:txBody>
          <a:bodyPr wrap="square" lIns="0" tIns="0" rIns="0" bIns="0" rtlCol="0" anchor="ctr"/>
          <a:lstStyle/>
          <a:p>
            <a:pPr indent="0" marL="0">
              <a:buNone/>
            </a:pPr>
            <a:r>
              <a:rPr lang="en-US" sz="1400" b="1" dirty="0">
                <a:solidFill>
                  <a:srgbClr val="AFC2D8"/>
                </a:solidFill>
              </a:rPr>
              <a:t>01  </a:t>
            </a:r>
            <a:pPr indent="0" marL="0">
              <a:buNone/>
            </a:pPr>
            <a:r>
              <a:rPr lang="en-US" sz="1400" b="1" dirty="0">
                <a:solidFill>
                  <a:srgbClr val="FFFFFF"/>
                </a:solidFill>
              </a:rPr>
              <a:t>Usulan</a:t>
            </a:r>
            <a:endParaRPr lang="en-US" sz="1400" dirty="0"/>
          </a:p>
        </p:txBody>
      </p:sp>
      <p:sp>
        <p:nvSpPr>
          <p:cNvPr id="7" name="connector-3"/>
          <p:cNvSpPr/>
          <p:nvPr/>
        </p:nvSpPr>
        <p:spPr>
          <a:xfrm>
            <a:off x="2624328" y="5006340"/>
            <a:ext cx="164592" cy="0"/>
          </a:xfrm>
          <a:prstGeom prst="line">
            <a:avLst/>
          </a:prstGeom>
          <a:noFill/>
          <a:ln w="19050">
            <a:solidFill>
              <a:srgbClr val="AFC2D8"/>
            </a:solidFill>
            <a:prstDash val="solid"/>
            <a:tailEnd type="triangle"/>
          </a:ln>
        </p:spPr>
      </p:sp>
      <p:sp>
        <p:nvSpPr>
          <p:cNvPr id="8" name="cover-stage-4"/>
          <p:cNvSpPr/>
          <p:nvPr/>
        </p:nvSpPr>
        <p:spPr>
          <a:xfrm>
            <a:off x="2807208" y="4663440"/>
            <a:ext cx="2057400" cy="685800"/>
          </a:xfrm>
          <a:prstGeom prst="rect">
            <a:avLst/>
          </a:prstGeom>
          <a:solidFill>
            <a:srgbClr val="163D6B"/>
          </a:solidFill>
          <a:ln w="9525">
            <a:solidFill>
              <a:srgbClr val="3D6593"/>
            </a:solidFill>
            <a:prstDash val="solid"/>
          </a:ln>
        </p:spPr>
      </p:sp>
      <p:sp>
        <p:nvSpPr>
          <p:cNvPr id="9" name="cover-stage-text-5"/>
          <p:cNvSpPr txBox="1"/>
          <p:nvPr/>
        </p:nvSpPr>
        <p:spPr>
          <a:xfrm>
            <a:off x="2944368" y="4663440"/>
            <a:ext cx="1783080" cy="685800"/>
          </a:xfrm>
          <a:prstGeom prst="rect">
            <a:avLst/>
          </a:prstGeom>
          <a:noFill/>
          <a:ln/>
        </p:spPr>
        <p:txBody>
          <a:bodyPr wrap="square" lIns="0" tIns="0" rIns="0" bIns="0" rtlCol="0" anchor="ctr"/>
          <a:lstStyle/>
          <a:p>
            <a:pPr indent="0" marL="0">
              <a:buNone/>
            </a:pPr>
            <a:r>
              <a:rPr lang="en-US" sz="1400" b="1" dirty="0">
                <a:solidFill>
                  <a:srgbClr val="AFC2D8"/>
                </a:solidFill>
              </a:rPr>
              <a:t>02  </a:t>
            </a:r>
            <a:pPr indent="0" marL="0">
              <a:buNone/>
            </a:pPr>
            <a:r>
              <a:rPr lang="en-US" sz="1400" b="1" dirty="0">
                <a:solidFill>
                  <a:srgbClr val="FFFFFF"/>
                </a:solidFill>
              </a:rPr>
              <a:t>Perencanaan</a:t>
            </a:r>
            <a:endParaRPr lang="en-US" sz="1400" dirty="0"/>
          </a:p>
        </p:txBody>
      </p:sp>
      <p:sp>
        <p:nvSpPr>
          <p:cNvPr id="10" name="connector-6"/>
          <p:cNvSpPr/>
          <p:nvPr/>
        </p:nvSpPr>
        <p:spPr>
          <a:xfrm>
            <a:off x="4882896" y="5006340"/>
            <a:ext cx="164592" cy="0"/>
          </a:xfrm>
          <a:prstGeom prst="line">
            <a:avLst/>
          </a:prstGeom>
          <a:noFill/>
          <a:ln w="19050">
            <a:solidFill>
              <a:srgbClr val="AFC2D8"/>
            </a:solidFill>
            <a:prstDash val="solid"/>
            <a:tailEnd type="triangle"/>
          </a:ln>
        </p:spPr>
      </p:sp>
      <p:sp>
        <p:nvSpPr>
          <p:cNvPr id="11" name="cover-stage-7"/>
          <p:cNvSpPr/>
          <p:nvPr/>
        </p:nvSpPr>
        <p:spPr>
          <a:xfrm>
            <a:off x="5065776" y="4663440"/>
            <a:ext cx="2057400" cy="685800"/>
          </a:xfrm>
          <a:prstGeom prst="rect">
            <a:avLst/>
          </a:prstGeom>
          <a:solidFill>
            <a:srgbClr val="163D6B"/>
          </a:solidFill>
          <a:ln w="9525">
            <a:solidFill>
              <a:srgbClr val="3D6593"/>
            </a:solidFill>
            <a:prstDash val="solid"/>
          </a:ln>
        </p:spPr>
      </p:sp>
      <p:sp>
        <p:nvSpPr>
          <p:cNvPr id="12" name="cover-stage-text-8"/>
          <p:cNvSpPr txBox="1"/>
          <p:nvPr/>
        </p:nvSpPr>
        <p:spPr>
          <a:xfrm>
            <a:off x="5202936" y="4663440"/>
            <a:ext cx="1783080" cy="685800"/>
          </a:xfrm>
          <a:prstGeom prst="rect">
            <a:avLst/>
          </a:prstGeom>
          <a:noFill/>
          <a:ln/>
        </p:spPr>
        <p:txBody>
          <a:bodyPr wrap="square" lIns="0" tIns="0" rIns="0" bIns="0" rtlCol="0" anchor="ctr"/>
          <a:lstStyle/>
          <a:p>
            <a:pPr indent="0" marL="0">
              <a:buNone/>
            </a:pPr>
            <a:r>
              <a:rPr lang="en-US" sz="1400" b="1" dirty="0">
                <a:solidFill>
                  <a:srgbClr val="AFC2D8"/>
                </a:solidFill>
              </a:rPr>
              <a:t>03  </a:t>
            </a:r>
            <a:pPr indent="0" marL="0">
              <a:buNone/>
            </a:pPr>
            <a:r>
              <a:rPr lang="en-US" sz="1400" b="1" dirty="0">
                <a:solidFill>
                  <a:srgbClr val="FFFFFF"/>
                </a:solidFill>
              </a:rPr>
              <a:t>Pelaksanaan</a:t>
            </a:r>
            <a:endParaRPr lang="en-US" sz="1400" dirty="0"/>
          </a:p>
        </p:txBody>
      </p:sp>
      <p:sp>
        <p:nvSpPr>
          <p:cNvPr id="13" name="connector-9"/>
          <p:cNvSpPr/>
          <p:nvPr/>
        </p:nvSpPr>
        <p:spPr>
          <a:xfrm>
            <a:off x="7141464" y="5006340"/>
            <a:ext cx="164592" cy="0"/>
          </a:xfrm>
          <a:prstGeom prst="line">
            <a:avLst/>
          </a:prstGeom>
          <a:noFill/>
          <a:ln w="19050">
            <a:solidFill>
              <a:srgbClr val="AFC2D8"/>
            </a:solidFill>
            <a:prstDash val="solid"/>
            <a:tailEnd type="triangle"/>
          </a:ln>
        </p:spPr>
      </p:sp>
      <p:sp>
        <p:nvSpPr>
          <p:cNvPr id="14" name="cover-stage-10"/>
          <p:cNvSpPr/>
          <p:nvPr/>
        </p:nvSpPr>
        <p:spPr>
          <a:xfrm>
            <a:off x="7324344" y="4663440"/>
            <a:ext cx="2057400" cy="685800"/>
          </a:xfrm>
          <a:prstGeom prst="rect">
            <a:avLst/>
          </a:prstGeom>
          <a:solidFill>
            <a:srgbClr val="163D6B"/>
          </a:solidFill>
          <a:ln w="9525">
            <a:solidFill>
              <a:srgbClr val="3D6593"/>
            </a:solidFill>
            <a:prstDash val="solid"/>
          </a:ln>
        </p:spPr>
      </p:sp>
      <p:sp>
        <p:nvSpPr>
          <p:cNvPr id="15" name="cover-stage-text-11"/>
          <p:cNvSpPr txBox="1"/>
          <p:nvPr/>
        </p:nvSpPr>
        <p:spPr>
          <a:xfrm>
            <a:off x="7461504" y="4663440"/>
            <a:ext cx="1783080" cy="685800"/>
          </a:xfrm>
          <a:prstGeom prst="rect">
            <a:avLst/>
          </a:prstGeom>
          <a:noFill/>
          <a:ln/>
        </p:spPr>
        <p:txBody>
          <a:bodyPr wrap="square" lIns="0" tIns="0" rIns="0" bIns="0" rtlCol="0" anchor="ctr"/>
          <a:lstStyle/>
          <a:p>
            <a:pPr indent="0" marL="0">
              <a:buNone/>
            </a:pPr>
            <a:r>
              <a:rPr lang="en-US" sz="1400" b="1" dirty="0">
                <a:solidFill>
                  <a:srgbClr val="AFC2D8"/>
                </a:solidFill>
              </a:rPr>
              <a:t>04  </a:t>
            </a:r>
            <a:pPr indent="0" marL="0">
              <a:buNone/>
            </a:pPr>
            <a:r>
              <a:rPr lang="en-US" sz="1400" b="1" dirty="0">
                <a:solidFill>
                  <a:srgbClr val="FFFFFF"/>
                </a:solidFill>
              </a:rPr>
              <a:t>Penyerahan</a:t>
            </a:r>
            <a:endParaRPr lang="en-US" sz="1400" dirty="0"/>
          </a:p>
        </p:txBody>
      </p:sp>
      <p:sp>
        <p:nvSpPr>
          <p:cNvPr id="16" name="connector-12"/>
          <p:cNvSpPr/>
          <p:nvPr/>
        </p:nvSpPr>
        <p:spPr>
          <a:xfrm>
            <a:off x="9400032" y="5006340"/>
            <a:ext cx="164592" cy="0"/>
          </a:xfrm>
          <a:prstGeom prst="line">
            <a:avLst/>
          </a:prstGeom>
          <a:noFill/>
          <a:ln w="19050">
            <a:solidFill>
              <a:srgbClr val="AFC2D8"/>
            </a:solidFill>
            <a:prstDash val="solid"/>
            <a:tailEnd type="triangle"/>
          </a:ln>
        </p:spPr>
      </p:sp>
      <p:sp>
        <p:nvSpPr>
          <p:cNvPr id="17" name="cover-stage-13"/>
          <p:cNvSpPr/>
          <p:nvPr/>
        </p:nvSpPr>
        <p:spPr>
          <a:xfrm>
            <a:off x="9582912" y="4663440"/>
            <a:ext cx="2057400" cy="685800"/>
          </a:xfrm>
          <a:prstGeom prst="rect">
            <a:avLst/>
          </a:prstGeom>
          <a:solidFill>
            <a:srgbClr val="163D6B"/>
          </a:solidFill>
          <a:ln w="9525">
            <a:solidFill>
              <a:srgbClr val="3D6593"/>
            </a:solidFill>
            <a:prstDash val="solid"/>
          </a:ln>
        </p:spPr>
      </p:sp>
      <p:sp>
        <p:nvSpPr>
          <p:cNvPr id="18" name="cover-stage-text-14"/>
          <p:cNvSpPr txBox="1"/>
          <p:nvPr/>
        </p:nvSpPr>
        <p:spPr>
          <a:xfrm>
            <a:off x="9720072" y="4663440"/>
            <a:ext cx="1783080" cy="685800"/>
          </a:xfrm>
          <a:prstGeom prst="rect">
            <a:avLst/>
          </a:prstGeom>
          <a:noFill/>
          <a:ln/>
        </p:spPr>
        <p:txBody>
          <a:bodyPr wrap="square" lIns="0" tIns="0" rIns="0" bIns="0" rtlCol="0" anchor="ctr"/>
          <a:lstStyle/>
          <a:p>
            <a:pPr indent="0" marL="0">
              <a:buNone/>
            </a:pPr>
            <a:r>
              <a:rPr lang="en-US" sz="1400" b="1" dirty="0">
                <a:solidFill>
                  <a:srgbClr val="AFC2D8"/>
                </a:solidFill>
              </a:rPr>
              <a:t>05  </a:t>
            </a:r>
            <a:pPr indent="0" marL="0">
              <a:buNone/>
            </a:pPr>
            <a:r>
              <a:rPr lang="en-US" sz="1400" b="1" dirty="0">
                <a:solidFill>
                  <a:srgbClr val="FFFFFF"/>
                </a:solidFill>
              </a:rPr>
              <a:t>Pembayaran</a:t>
            </a:r>
            <a:endParaRPr lang="en-US" sz="1400" dirty="0"/>
          </a:p>
        </p:txBody>
      </p:sp>
      <p:sp>
        <p:nvSpPr>
          <p:cNvPr id="19" name="Text 17"/>
          <p:cNvSpPr txBox="1"/>
          <p:nvPr/>
        </p:nvSpPr>
        <p:spPr>
          <a:xfrm>
            <a:off x="548640" y="6172200"/>
            <a:ext cx="7315200" cy="274320"/>
          </a:xfrm>
          <a:prstGeom prst="rect">
            <a:avLst/>
          </a:prstGeom>
          <a:noFill/>
          <a:ln/>
        </p:spPr>
        <p:txBody>
          <a:bodyPr wrap="square" lIns="0" tIns="0" rIns="0" bIns="0" rtlCol="0" anchor="ctr"/>
          <a:lstStyle/>
          <a:p>
            <a:pPr indent="0" marL="0">
              <a:buNone/>
            </a:pPr>
            <a:r>
              <a:rPr lang="en-US" sz="1000" dirty="0">
                <a:solidFill>
                  <a:srgbClr val="AFC2D8"/>
                </a:solidFill>
              </a:rPr>
              <a:t>PLN Nusantara Power  |  Unit Pembangkitan Kendari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title" hasCustomPrompt="1"/>
          </p:nvPr>
        </p:nvSpPr>
        <p:spPr>
          <a:xfrm>
            <a:off x="548640" y="896112"/>
            <a:ext cx="7680960" cy="502920"/>
          </a:xfrm>
          <a:prstGeom prst="rect">
            <a:avLst/>
          </a:prstGeom>
          <a:noFill/>
          <a:ln/>
        </p:spPr>
        <p:txBody>
          <a:bodyPr wrap="square" lIns="0" tIns="0" rIns="0" bIns="0" rtlCol="0" anchor="ctr"/>
          <a:lstStyle/>
          <a:p>
            <a:pPr algn="l" indent="0" marL="0">
              <a:buNone/>
            </a:pPr>
            <a:r>
              <a:rPr lang="en-US" sz="2400" b="1" dirty="0">
                <a:solidFill>
                  <a:srgbClr val="0E2F56"/>
                </a:solidFill>
              </a:rPr>
              <a:t>Satu sistem untuk seluruh siklus pengadaan</a:t>
            </a:r>
            <a:endParaRPr lang="en-US" sz="2400" dirty="0"/>
          </a:p>
        </p:txBody>
      </p:sp>
      <p:sp>
        <p:nvSpPr>
          <p:cNvPr id="3" name="Text 2"/>
          <p:cNvSpPr/>
          <p:nvPr>
            <p:ph idx="103" type="body" hasCustomPrompt="1"/>
          </p:nvPr>
        </p:nvSpPr>
        <p:spPr>
          <a:xfrm>
            <a:off x="548640" y="1371600"/>
            <a:ext cx="7680960" cy="292608"/>
          </a:xfrm>
          <a:prstGeom prst="rect">
            <a:avLst/>
          </a:prstGeom>
          <a:noFill/>
          <a:ln/>
        </p:spPr>
        <p:txBody>
          <a:bodyPr wrap="square" lIns="0" tIns="0" rIns="0" bIns="0" rtlCol="0" anchor="t"/>
          <a:lstStyle/>
          <a:p>
            <a:pPr algn="l" indent="0" marL="0">
              <a:buNone/>
            </a:pPr>
            <a:r>
              <a:rPr lang="en-US" sz="1200" dirty="0">
                <a:solidFill>
                  <a:srgbClr val="5B6B7C"/>
                </a:solidFill>
              </a:rPr>
              <a:t>Mengelola pengadaan barang dan jasa UP Kendari dari usulan bidang hingga pembayaran mitra.</a:t>
            </a:r>
            <a:endParaRPr lang="en-US" sz="1200" dirty="0"/>
          </a:p>
        </p:txBody>
      </p:sp>
      <p:sp>
        <p:nvSpPr>
          <p:cNvPr id="4" name="panel-15"/>
          <p:cNvSpPr/>
          <p:nvPr/>
        </p:nvSpPr>
        <p:spPr>
          <a:xfrm>
            <a:off x="548640" y="1874520"/>
            <a:ext cx="3840480" cy="4343400"/>
          </a:xfrm>
          <a:prstGeom prst="rect">
            <a:avLst/>
          </a:prstGeom>
          <a:solidFill>
            <a:srgbClr val="F2F4F7"/>
          </a:solidFill>
          <a:ln w="6350">
            <a:solidFill>
              <a:srgbClr val="CDD5DF"/>
            </a:solidFill>
            <a:prstDash val="solid"/>
          </a:ln>
        </p:spPr>
      </p:sp>
      <p:sp>
        <p:nvSpPr>
          <p:cNvPr id="5" name="panel-title-16"/>
          <p:cNvSpPr txBox="1"/>
          <p:nvPr/>
        </p:nvSpPr>
        <p:spPr>
          <a:xfrm>
            <a:off x="713232" y="1984248"/>
            <a:ext cx="3511296" cy="256032"/>
          </a:xfrm>
          <a:prstGeom prst="rect">
            <a:avLst/>
          </a:prstGeom>
          <a:noFill/>
          <a:ln/>
        </p:spPr>
        <p:txBody>
          <a:bodyPr wrap="square" lIns="0" tIns="0" rIns="0" bIns="0" rtlCol="0" anchor="ctr"/>
          <a:lstStyle/>
          <a:p>
            <a:pPr indent="0" marL="0">
              <a:buNone/>
            </a:pPr>
            <a:r>
              <a:rPr lang="en-US" sz="950" b="1" spc="100" kern="0" dirty="0">
                <a:solidFill>
                  <a:srgbClr val="0E2F56"/>
                </a:solidFill>
              </a:rPr>
              <a:t>TUJUAN</a:t>
            </a:r>
            <a:endParaRPr lang="en-US" sz="950" dirty="0"/>
          </a:p>
        </p:txBody>
      </p:sp>
      <p:sp>
        <p:nvSpPr>
          <p:cNvPr id="6" name="panel-body-17"/>
          <p:cNvSpPr txBox="1"/>
          <p:nvPr/>
        </p:nvSpPr>
        <p:spPr>
          <a:xfrm>
            <a:off x="713232" y="2286000"/>
            <a:ext cx="3511296" cy="384048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1F2D3D"/>
                </a:solidFill>
              </a:rPr>
              <a:t>Mempermudah proses pengadaan barang dan jasa.</a:t>
            </a:r>
            <a:endParaRPr lang="en-US" sz="1150" dirty="0"/>
          </a:p>
          <a:p>
            <a:pPr marL="152400" indent="-152400">
              <a:spcAft>
                <a:spcPts val="500"/>
              </a:spcAft>
              <a:buSzPct val="100000"/>
              <a:buChar char="•"/>
            </a:pPr>
            <a:r>
              <a:rPr lang="en-US" sz="1150" dirty="0">
                <a:solidFill>
                  <a:srgbClr val="1F2D3D"/>
                </a:solidFill>
              </a:rPr>
              <a:t>Meningkatkan transparansi dan akuntabilitas.</a:t>
            </a:r>
            <a:endParaRPr lang="en-US" sz="1150" dirty="0"/>
          </a:p>
          <a:p>
            <a:pPr marL="152400" indent="-152400">
              <a:spcAft>
                <a:spcPts val="500"/>
              </a:spcAft>
              <a:buSzPct val="100000"/>
              <a:buChar char="•"/>
            </a:pPr>
            <a:r>
              <a:rPr lang="en-US" sz="1150" dirty="0">
                <a:solidFill>
                  <a:srgbClr val="1F2D3D"/>
                </a:solidFill>
              </a:rPr>
              <a:t>Memusatkan seluruh data pengadaan dalam satu sistem.</a:t>
            </a:r>
            <a:endParaRPr lang="en-US" sz="1150" dirty="0"/>
          </a:p>
          <a:p>
            <a:pPr marL="152400" indent="-152400">
              <a:spcAft>
                <a:spcPts val="500"/>
              </a:spcAft>
              <a:buSzPct val="100000"/>
              <a:buChar char="•"/>
            </a:pPr>
            <a:r>
              <a:rPr lang="en-US" sz="1150" dirty="0">
                <a:solidFill>
                  <a:srgbClr val="1F2D3D"/>
                </a:solidFill>
              </a:rPr>
              <a:t>Mempermudah monitoring progres pengadaan.</a:t>
            </a:r>
            <a:endParaRPr lang="en-US" sz="1150" dirty="0"/>
          </a:p>
          <a:p>
            <a:pPr marL="152400" indent="-152400">
              <a:spcAft>
                <a:spcPts val="500"/>
              </a:spcAft>
              <a:buSzPct val="100000"/>
              <a:buChar char="•"/>
            </a:pPr>
            <a:r>
              <a:rPr lang="en-US" sz="1150" dirty="0">
                <a:solidFill>
                  <a:srgbClr val="1F2D3D"/>
                </a:solidFill>
              </a:rPr>
              <a:t>Menghasilkan dokumen pengadaan otomatis (UPB, RKS, HPE, dan dokumen pendukung).</a:t>
            </a:r>
            <a:endParaRPr lang="en-US" sz="1150" dirty="0"/>
          </a:p>
          <a:p>
            <a:pPr marL="152400" indent="-152400">
              <a:spcAft>
                <a:spcPts val="500"/>
              </a:spcAft>
              <a:buSzPct val="100000"/>
              <a:buChar char="•"/>
            </a:pPr>
            <a:r>
              <a:rPr lang="en-US" sz="1150" b="1" dirty="0">
                <a:solidFill>
                  <a:srgbClr val="0E2F56"/>
                </a:solidFill>
              </a:rPr>
              <a:t>Prinsip: data master dinamis (CRUD), tanpa hardcode.</a:t>
            </a:r>
            <a:endParaRPr lang="en-US" sz="1150" dirty="0"/>
          </a:p>
          <a:p>
            <a:pPr marL="152400" indent="-152400">
              <a:spcAft>
                <a:spcPts val="500"/>
              </a:spcAft>
              <a:buSzPct val="100000"/>
              <a:buChar char="•"/>
            </a:pPr>
            <a:r>
              <a:rPr lang="en-US" sz="1150" b="1" dirty="0">
                <a:solidFill>
                  <a:srgbClr val="0E2F56"/>
                </a:solidFill>
              </a:rPr>
              <a:t>Prinsip: PIC hanya melihat pengadaan yang ditugaskan; TL Pengadaan dan Administrator melihat semua.</a:t>
            </a:r>
            <a:endParaRPr lang="en-US" sz="1150" dirty="0"/>
          </a:p>
          <a:p>
            <a:pPr marL="152400" indent="-152400">
              <a:spcAft>
                <a:spcPts val="500"/>
              </a:spcAft>
              <a:buSzPct val="100000"/>
              <a:buChar char="•"/>
            </a:pPr>
            <a:r>
              <a:rPr lang="en-US" sz="1150" b="1" dirty="0">
                <a:solidFill>
                  <a:srgbClr val="0E2F56"/>
                </a:solidFill>
              </a:rPr>
              <a:t>Prinsip: status progres dihitung otomatis dari posisi pengadaan dan dokumennya.</a:t>
            </a:r>
            <a:endParaRPr lang="en-US" sz="1150" dirty="0"/>
          </a:p>
        </p:txBody>
      </p:sp>
      <p:sp>
        <p:nvSpPr>
          <p:cNvPr id="7" name="module-18"/>
          <p:cNvSpPr/>
          <p:nvPr/>
        </p:nvSpPr>
        <p:spPr>
          <a:xfrm>
            <a:off x="4617720" y="1874520"/>
            <a:ext cx="3465576" cy="1005840"/>
          </a:xfrm>
          <a:prstGeom prst="rect">
            <a:avLst/>
          </a:prstGeom>
          <a:solidFill>
            <a:srgbClr val="FFFFFF"/>
          </a:solidFill>
          <a:ln w="9525">
            <a:solidFill>
              <a:srgbClr val="CDD5DF"/>
            </a:solidFill>
            <a:prstDash val="solid"/>
          </a:ln>
        </p:spPr>
      </p:sp>
      <p:sp>
        <p:nvSpPr>
          <p:cNvPr id="8" name="module-mark-19"/>
          <p:cNvSpPr/>
          <p:nvPr/>
        </p:nvSpPr>
        <p:spPr>
          <a:xfrm>
            <a:off x="4617720" y="1874520"/>
            <a:ext cx="64008" cy="1005840"/>
          </a:xfrm>
          <a:prstGeom prst="rect">
            <a:avLst/>
          </a:prstGeom>
          <a:solidFill>
            <a:srgbClr val="1F6FB2"/>
          </a:solidFill>
          <a:ln w="12700">
            <a:solidFill>
              <a:srgbClr val="1F6FB2"/>
            </a:solidFill>
            <a:prstDash val="solid"/>
          </a:ln>
        </p:spPr>
      </p:sp>
      <p:sp>
        <p:nvSpPr>
          <p:cNvPr id="9" name="module-text-20"/>
          <p:cNvSpPr txBox="1"/>
          <p:nvPr/>
        </p:nvSpPr>
        <p:spPr>
          <a:xfrm>
            <a:off x="4818888" y="1947672"/>
            <a:ext cx="3172968" cy="859536"/>
          </a:xfrm>
          <a:prstGeom prst="rect">
            <a:avLst/>
          </a:prstGeom>
          <a:noFill/>
          <a:ln/>
        </p:spPr>
        <p:txBody>
          <a:bodyPr wrap="square" lIns="0" tIns="0" rIns="0" bIns="0" rtlCol="0" anchor="ctr"/>
          <a:lstStyle/>
          <a:p>
            <a:pPr indent="0" marL="0">
              <a:spcAft>
                <a:spcPts val="300"/>
              </a:spcAft>
              <a:buNone/>
            </a:pPr>
            <a:r>
              <a:rPr lang="en-US" sz="1200" b="1" dirty="0">
                <a:solidFill>
                  <a:srgbClr val="0E2F56"/>
                </a:solidFill>
              </a:rPr>
              <a:t>Usulan Pekerjaan</a:t>
            </a:r>
            <a:endParaRPr lang="en-US" sz="1200" dirty="0"/>
          </a:p>
          <a:p>
            <a:pPr indent="0" marL="0">
              <a:spcAft>
                <a:spcPts val="300"/>
              </a:spcAft>
              <a:buNone/>
            </a:pPr>
            <a:r>
              <a:rPr lang="en-US" sz="1000" dirty="0">
                <a:solidFill>
                  <a:srgbClr val="1F2D3D"/>
                </a:solidFill>
              </a:rPr>
              <a:t>Bidang mengusulkan; TOR digenerate; persetujuan TL dan Asman.</a:t>
            </a:r>
            <a:endParaRPr lang="en-US" sz="1200" dirty="0"/>
          </a:p>
        </p:txBody>
      </p:sp>
      <p:sp>
        <p:nvSpPr>
          <p:cNvPr id="10" name="module-21"/>
          <p:cNvSpPr/>
          <p:nvPr/>
        </p:nvSpPr>
        <p:spPr>
          <a:xfrm>
            <a:off x="8174736" y="1874520"/>
            <a:ext cx="3465576" cy="1005840"/>
          </a:xfrm>
          <a:prstGeom prst="rect">
            <a:avLst/>
          </a:prstGeom>
          <a:solidFill>
            <a:srgbClr val="FFFFFF"/>
          </a:solidFill>
          <a:ln w="9525">
            <a:solidFill>
              <a:srgbClr val="CDD5DF"/>
            </a:solidFill>
            <a:prstDash val="solid"/>
          </a:ln>
        </p:spPr>
      </p:sp>
      <p:sp>
        <p:nvSpPr>
          <p:cNvPr id="11" name="module-mark-22"/>
          <p:cNvSpPr/>
          <p:nvPr/>
        </p:nvSpPr>
        <p:spPr>
          <a:xfrm>
            <a:off x="8174736" y="1874520"/>
            <a:ext cx="64008" cy="1005840"/>
          </a:xfrm>
          <a:prstGeom prst="rect">
            <a:avLst/>
          </a:prstGeom>
          <a:solidFill>
            <a:srgbClr val="1F6FB2"/>
          </a:solidFill>
          <a:ln w="12700">
            <a:solidFill>
              <a:srgbClr val="1F6FB2"/>
            </a:solidFill>
            <a:prstDash val="solid"/>
          </a:ln>
        </p:spPr>
      </p:sp>
      <p:sp>
        <p:nvSpPr>
          <p:cNvPr id="12" name="module-text-23"/>
          <p:cNvSpPr txBox="1"/>
          <p:nvPr/>
        </p:nvSpPr>
        <p:spPr>
          <a:xfrm>
            <a:off x="8375904" y="1947672"/>
            <a:ext cx="3172968" cy="859536"/>
          </a:xfrm>
          <a:prstGeom prst="rect">
            <a:avLst/>
          </a:prstGeom>
          <a:noFill/>
          <a:ln/>
        </p:spPr>
        <p:txBody>
          <a:bodyPr wrap="square" lIns="0" tIns="0" rIns="0" bIns="0" rtlCol="0" anchor="ctr"/>
          <a:lstStyle/>
          <a:p>
            <a:pPr indent="0" marL="0">
              <a:spcAft>
                <a:spcPts val="300"/>
              </a:spcAft>
              <a:buNone/>
            </a:pPr>
            <a:r>
              <a:rPr lang="en-US" sz="1200" b="1" dirty="0">
                <a:solidFill>
                  <a:srgbClr val="0E2F56"/>
                </a:solidFill>
              </a:rPr>
              <a:t>Checklist Tahapan</a:t>
            </a:r>
            <a:endParaRPr lang="en-US" sz="1200" dirty="0"/>
          </a:p>
          <a:p>
            <a:pPr indent="0" marL="0">
              <a:spcAft>
                <a:spcPts val="300"/>
              </a:spcAft>
              <a:buNone/>
            </a:pPr>
            <a:r>
              <a:rPr lang="en-US" sz="1000" dirty="0">
                <a:solidFill>
                  <a:srgbClr val="1F2D3D"/>
                </a:solidFill>
              </a:rPr>
              <a:t>Perencanaan dan Pelaksanaan per format kontrak (SPK / PJ / SPPL).</a:t>
            </a:r>
            <a:endParaRPr lang="en-US" sz="1200" dirty="0"/>
          </a:p>
        </p:txBody>
      </p:sp>
      <p:sp>
        <p:nvSpPr>
          <p:cNvPr id="13" name="module-24"/>
          <p:cNvSpPr/>
          <p:nvPr/>
        </p:nvSpPr>
        <p:spPr>
          <a:xfrm>
            <a:off x="4617720" y="2985516"/>
            <a:ext cx="3465576" cy="1005840"/>
          </a:xfrm>
          <a:prstGeom prst="rect">
            <a:avLst/>
          </a:prstGeom>
          <a:solidFill>
            <a:srgbClr val="FFFFFF"/>
          </a:solidFill>
          <a:ln w="9525">
            <a:solidFill>
              <a:srgbClr val="CDD5DF"/>
            </a:solidFill>
            <a:prstDash val="solid"/>
          </a:ln>
        </p:spPr>
      </p:sp>
      <p:sp>
        <p:nvSpPr>
          <p:cNvPr id="14" name="module-mark-25"/>
          <p:cNvSpPr/>
          <p:nvPr/>
        </p:nvSpPr>
        <p:spPr>
          <a:xfrm>
            <a:off x="4617720" y="2985516"/>
            <a:ext cx="64008" cy="1005840"/>
          </a:xfrm>
          <a:prstGeom prst="rect">
            <a:avLst/>
          </a:prstGeom>
          <a:solidFill>
            <a:srgbClr val="1F6FB2"/>
          </a:solidFill>
          <a:ln w="12700">
            <a:solidFill>
              <a:srgbClr val="1F6FB2"/>
            </a:solidFill>
            <a:prstDash val="solid"/>
          </a:ln>
        </p:spPr>
      </p:sp>
      <p:sp>
        <p:nvSpPr>
          <p:cNvPr id="15" name="module-text-26"/>
          <p:cNvSpPr txBox="1"/>
          <p:nvPr/>
        </p:nvSpPr>
        <p:spPr>
          <a:xfrm>
            <a:off x="4818888" y="3058668"/>
            <a:ext cx="3172968" cy="859536"/>
          </a:xfrm>
          <a:prstGeom prst="rect">
            <a:avLst/>
          </a:prstGeom>
          <a:noFill/>
          <a:ln/>
        </p:spPr>
        <p:txBody>
          <a:bodyPr wrap="square" lIns="0" tIns="0" rIns="0" bIns="0" rtlCol="0" anchor="ctr"/>
          <a:lstStyle/>
          <a:p>
            <a:pPr indent="0" marL="0">
              <a:spcAft>
                <a:spcPts val="300"/>
              </a:spcAft>
              <a:buNone/>
            </a:pPr>
            <a:r>
              <a:rPr lang="en-US" sz="1200" b="1" dirty="0">
                <a:solidFill>
                  <a:srgbClr val="0E2F56"/>
                </a:solidFill>
              </a:rPr>
              <a:t>Generate Dokumen</a:t>
            </a:r>
            <a:endParaRPr lang="en-US" sz="1200" dirty="0"/>
          </a:p>
          <a:p>
            <a:pPr indent="0" marL="0">
              <a:spcAft>
                <a:spcPts val="300"/>
              </a:spcAft>
              <a:buNone/>
            </a:pPr>
            <a:r>
              <a:rPr lang="en-US" sz="1000" dirty="0">
                <a:solidFill>
                  <a:srgbClr val="1F2D3D"/>
                </a:solidFill>
              </a:rPr>
              <a:t>Template dari Data Master, editor visual, unggah dokumen tervalidasi.</a:t>
            </a:r>
            <a:endParaRPr lang="en-US" sz="1200" dirty="0"/>
          </a:p>
        </p:txBody>
      </p:sp>
      <p:sp>
        <p:nvSpPr>
          <p:cNvPr id="16" name="module-27"/>
          <p:cNvSpPr/>
          <p:nvPr/>
        </p:nvSpPr>
        <p:spPr>
          <a:xfrm>
            <a:off x="8174736" y="2985516"/>
            <a:ext cx="3465576" cy="1005840"/>
          </a:xfrm>
          <a:prstGeom prst="rect">
            <a:avLst/>
          </a:prstGeom>
          <a:solidFill>
            <a:srgbClr val="FFFFFF"/>
          </a:solidFill>
          <a:ln w="9525">
            <a:solidFill>
              <a:srgbClr val="CDD5DF"/>
            </a:solidFill>
            <a:prstDash val="solid"/>
          </a:ln>
        </p:spPr>
      </p:sp>
      <p:sp>
        <p:nvSpPr>
          <p:cNvPr id="17" name="module-mark-28"/>
          <p:cNvSpPr/>
          <p:nvPr/>
        </p:nvSpPr>
        <p:spPr>
          <a:xfrm>
            <a:off x="8174736" y="2985516"/>
            <a:ext cx="64008" cy="1005840"/>
          </a:xfrm>
          <a:prstGeom prst="rect">
            <a:avLst/>
          </a:prstGeom>
          <a:solidFill>
            <a:srgbClr val="1F6FB2"/>
          </a:solidFill>
          <a:ln w="12700">
            <a:solidFill>
              <a:srgbClr val="1F6FB2"/>
            </a:solidFill>
            <a:prstDash val="solid"/>
          </a:ln>
        </p:spPr>
      </p:sp>
      <p:sp>
        <p:nvSpPr>
          <p:cNvPr id="18" name="module-text-29"/>
          <p:cNvSpPr txBox="1"/>
          <p:nvPr/>
        </p:nvSpPr>
        <p:spPr>
          <a:xfrm>
            <a:off x="8375904" y="3058668"/>
            <a:ext cx="3172968" cy="859536"/>
          </a:xfrm>
          <a:prstGeom prst="rect">
            <a:avLst/>
          </a:prstGeom>
          <a:noFill/>
          <a:ln/>
        </p:spPr>
        <p:txBody>
          <a:bodyPr wrap="square" lIns="0" tIns="0" rIns="0" bIns="0" rtlCol="0" anchor="ctr"/>
          <a:lstStyle/>
          <a:p>
            <a:pPr indent="0" marL="0">
              <a:spcAft>
                <a:spcPts val="300"/>
              </a:spcAft>
              <a:buNone/>
            </a:pPr>
            <a:r>
              <a:rPr lang="en-US" sz="1200" b="1" dirty="0">
                <a:solidFill>
                  <a:srgbClr val="0E2F56"/>
                </a:solidFill>
              </a:rPr>
              <a:t>Penyerahan dan Pembayaran</a:t>
            </a:r>
            <a:endParaRPr lang="en-US" sz="1200" dirty="0"/>
          </a:p>
          <a:p>
            <a:pPr indent="0" marL="0">
              <a:spcAft>
                <a:spcPts val="300"/>
              </a:spcAft>
              <a:buNone/>
            </a:pPr>
            <a:r>
              <a:rPr lang="en-US" sz="1000" dirty="0">
                <a:solidFill>
                  <a:srgbClr val="1F2D3D"/>
                </a:solidFill>
              </a:rPr>
              <a:t>Syarat dibaca dari pasal kontrak; ditutup oleh Keuangan.</a:t>
            </a:r>
            <a:endParaRPr lang="en-US" sz="1200" dirty="0"/>
          </a:p>
        </p:txBody>
      </p:sp>
      <p:sp>
        <p:nvSpPr>
          <p:cNvPr id="19" name="module-30"/>
          <p:cNvSpPr/>
          <p:nvPr/>
        </p:nvSpPr>
        <p:spPr>
          <a:xfrm>
            <a:off x="4617720" y="4096512"/>
            <a:ext cx="3465576" cy="1005840"/>
          </a:xfrm>
          <a:prstGeom prst="rect">
            <a:avLst/>
          </a:prstGeom>
          <a:solidFill>
            <a:srgbClr val="FFFFFF"/>
          </a:solidFill>
          <a:ln w="9525">
            <a:solidFill>
              <a:srgbClr val="CDD5DF"/>
            </a:solidFill>
            <a:prstDash val="solid"/>
          </a:ln>
        </p:spPr>
      </p:sp>
      <p:sp>
        <p:nvSpPr>
          <p:cNvPr id="20" name="module-mark-31"/>
          <p:cNvSpPr/>
          <p:nvPr/>
        </p:nvSpPr>
        <p:spPr>
          <a:xfrm>
            <a:off x="4617720" y="4096512"/>
            <a:ext cx="64008" cy="1005840"/>
          </a:xfrm>
          <a:prstGeom prst="rect">
            <a:avLst/>
          </a:prstGeom>
          <a:solidFill>
            <a:srgbClr val="1F6FB2"/>
          </a:solidFill>
          <a:ln w="12700">
            <a:solidFill>
              <a:srgbClr val="1F6FB2"/>
            </a:solidFill>
            <a:prstDash val="solid"/>
          </a:ln>
        </p:spPr>
      </p:sp>
      <p:sp>
        <p:nvSpPr>
          <p:cNvPr id="21" name="module-text-32"/>
          <p:cNvSpPr txBox="1"/>
          <p:nvPr/>
        </p:nvSpPr>
        <p:spPr>
          <a:xfrm>
            <a:off x="4818888" y="4169664"/>
            <a:ext cx="3172968" cy="859536"/>
          </a:xfrm>
          <a:prstGeom prst="rect">
            <a:avLst/>
          </a:prstGeom>
          <a:noFill/>
          <a:ln/>
        </p:spPr>
        <p:txBody>
          <a:bodyPr wrap="square" lIns="0" tIns="0" rIns="0" bIns="0" rtlCol="0" anchor="ctr"/>
          <a:lstStyle/>
          <a:p>
            <a:pPr indent="0" marL="0">
              <a:spcAft>
                <a:spcPts val="300"/>
              </a:spcAft>
              <a:buNone/>
            </a:pPr>
            <a:r>
              <a:rPr lang="en-US" sz="1200" b="1" dirty="0">
                <a:solidFill>
                  <a:srgbClr val="0E2F56"/>
                </a:solidFill>
              </a:rPr>
              <a:t>Amandemen dan DO</a:t>
            </a:r>
            <a:endParaRPr lang="en-US" sz="1200" dirty="0"/>
          </a:p>
          <a:p>
            <a:pPr indent="0" marL="0">
              <a:spcAft>
                <a:spcPts val="300"/>
              </a:spcAft>
              <a:buNone/>
            </a:pPr>
            <a:r>
              <a:rPr lang="en-US" sz="1000" dirty="0">
                <a:solidFill>
                  <a:srgbClr val="1F2D3D"/>
                </a:solidFill>
              </a:rPr>
              <a:t>Perubahan pasal kontrak dan Delivery Order untuk kontrak KHS.</a:t>
            </a:r>
            <a:endParaRPr lang="en-US" sz="1200" dirty="0"/>
          </a:p>
        </p:txBody>
      </p:sp>
      <p:sp>
        <p:nvSpPr>
          <p:cNvPr id="22" name="module-33"/>
          <p:cNvSpPr/>
          <p:nvPr/>
        </p:nvSpPr>
        <p:spPr>
          <a:xfrm>
            <a:off x="8174736" y="4096512"/>
            <a:ext cx="3465576" cy="1005840"/>
          </a:xfrm>
          <a:prstGeom prst="rect">
            <a:avLst/>
          </a:prstGeom>
          <a:solidFill>
            <a:srgbClr val="FFFFFF"/>
          </a:solidFill>
          <a:ln w="9525">
            <a:solidFill>
              <a:srgbClr val="CDD5DF"/>
            </a:solidFill>
            <a:prstDash val="solid"/>
          </a:ln>
        </p:spPr>
      </p:sp>
      <p:sp>
        <p:nvSpPr>
          <p:cNvPr id="23" name="module-mark-34"/>
          <p:cNvSpPr/>
          <p:nvPr/>
        </p:nvSpPr>
        <p:spPr>
          <a:xfrm>
            <a:off x="8174736" y="4096512"/>
            <a:ext cx="64008" cy="1005840"/>
          </a:xfrm>
          <a:prstGeom prst="rect">
            <a:avLst/>
          </a:prstGeom>
          <a:solidFill>
            <a:srgbClr val="1F6FB2"/>
          </a:solidFill>
          <a:ln w="12700">
            <a:solidFill>
              <a:srgbClr val="1F6FB2"/>
            </a:solidFill>
            <a:prstDash val="solid"/>
          </a:ln>
        </p:spPr>
      </p:sp>
      <p:sp>
        <p:nvSpPr>
          <p:cNvPr id="24" name="module-text-35"/>
          <p:cNvSpPr txBox="1"/>
          <p:nvPr/>
        </p:nvSpPr>
        <p:spPr>
          <a:xfrm>
            <a:off x="8375904" y="4169664"/>
            <a:ext cx="3172968" cy="859536"/>
          </a:xfrm>
          <a:prstGeom prst="rect">
            <a:avLst/>
          </a:prstGeom>
          <a:noFill/>
          <a:ln/>
        </p:spPr>
        <p:txBody>
          <a:bodyPr wrap="square" lIns="0" tIns="0" rIns="0" bIns="0" rtlCol="0" anchor="ctr"/>
          <a:lstStyle/>
          <a:p>
            <a:pPr indent="0" marL="0">
              <a:spcAft>
                <a:spcPts val="300"/>
              </a:spcAft>
              <a:buNone/>
            </a:pPr>
            <a:r>
              <a:rPr lang="en-US" sz="1200" b="1" dirty="0">
                <a:solidFill>
                  <a:srgbClr val="0E2F56"/>
                </a:solidFill>
              </a:rPr>
              <a:t>Approval dan Monitoring</a:t>
            </a:r>
            <a:endParaRPr lang="en-US" sz="1200" dirty="0"/>
          </a:p>
          <a:p>
            <a:pPr indent="0" marL="0">
              <a:spcAft>
                <a:spcPts val="300"/>
              </a:spcAft>
              <a:buNone/>
            </a:pPr>
            <a:r>
              <a:rPr lang="en-US" sz="1000" dirty="0">
                <a:solidFill>
                  <a:srgbClr val="1F2D3D"/>
                </a:solidFill>
              </a:rPr>
              <a:t>Antrean persetujuan, status progres otomatis, monitoring per mitra.</a:t>
            </a:r>
            <a:endParaRPr lang="en-US" sz="1200" dirty="0"/>
          </a:p>
        </p:txBody>
      </p:sp>
      <p:sp>
        <p:nvSpPr>
          <p:cNvPr id="25" name="module-36"/>
          <p:cNvSpPr/>
          <p:nvPr/>
        </p:nvSpPr>
        <p:spPr>
          <a:xfrm>
            <a:off x="4617720" y="5207508"/>
            <a:ext cx="3465576" cy="1005840"/>
          </a:xfrm>
          <a:prstGeom prst="rect">
            <a:avLst/>
          </a:prstGeom>
          <a:solidFill>
            <a:srgbClr val="FFFFFF"/>
          </a:solidFill>
          <a:ln w="9525">
            <a:solidFill>
              <a:srgbClr val="CDD5DF"/>
            </a:solidFill>
            <a:prstDash val="solid"/>
          </a:ln>
        </p:spPr>
      </p:sp>
      <p:sp>
        <p:nvSpPr>
          <p:cNvPr id="26" name="module-mark-37"/>
          <p:cNvSpPr/>
          <p:nvPr/>
        </p:nvSpPr>
        <p:spPr>
          <a:xfrm>
            <a:off x="4617720" y="5207508"/>
            <a:ext cx="64008" cy="1005840"/>
          </a:xfrm>
          <a:prstGeom prst="rect">
            <a:avLst/>
          </a:prstGeom>
          <a:solidFill>
            <a:srgbClr val="1F6FB2"/>
          </a:solidFill>
          <a:ln w="12700">
            <a:solidFill>
              <a:srgbClr val="1F6FB2"/>
            </a:solidFill>
            <a:prstDash val="solid"/>
          </a:ln>
        </p:spPr>
      </p:sp>
      <p:sp>
        <p:nvSpPr>
          <p:cNvPr id="27" name="module-text-38"/>
          <p:cNvSpPr txBox="1"/>
          <p:nvPr/>
        </p:nvSpPr>
        <p:spPr>
          <a:xfrm>
            <a:off x="4818888" y="5280660"/>
            <a:ext cx="3172968" cy="859536"/>
          </a:xfrm>
          <a:prstGeom prst="rect">
            <a:avLst/>
          </a:prstGeom>
          <a:noFill/>
          <a:ln/>
        </p:spPr>
        <p:txBody>
          <a:bodyPr wrap="square" lIns="0" tIns="0" rIns="0" bIns="0" rtlCol="0" anchor="ctr"/>
          <a:lstStyle/>
          <a:p>
            <a:pPr indent="0" marL="0">
              <a:spcAft>
                <a:spcPts val="300"/>
              </a:spcAft>
              <a:buNone/>
            </a:pPr>
            <a:r>
              <a:rPr lang="en-US" sz="1200" b="1" dirty="0">
                <a:solidFill>
                  <a:srgbClr val="0E2F56"/>
                </a:solidFill>
              </a:rPr>
              <a:t>Penilaian Penyedia</a:t>
            </a:r>
            <a:endParaRPr lang="en-US" sz="1200" dirty="0"/>
          </a:p>
          <a:p>
            <a:pPr indent="0" marL="0">
              <a:spcAft>
                <a:spcPts val="300"/>
              </a:spcAft>
              <a:buNone/>
            </a:pPr>
            <a:r>
              <a:rPr lang="en-US" sz="1000" dirty="0">
                <a:solidFill>
                  <a:srgbClr val="1F2D3D"/>
                </a:solidFill>
              </a:rPr>
              <a:t>Formulir penilaian kinerja mitra per lembar penilai.</a:t>
            </a:r>
            <a:endParaRPr lang="en-US" sz="1200" dirty="0"/>
          </a:p>
        </p:txBody>
      </p:sp>
      <p:sp>
        <p:nvSpPr>
          <p:cNvPr id="28" name="module-39"/>
          <p:cNvSpPr/>
          <p:nvPr/>
        </p:nvSpPr>
        <p:spPr>
          <a:xfrm>
            <a:off x="8174736" y="5207508"/>
            <a:ext cx="3465576" cy="1005840"/>
          </a:xfrm>
          <a:prstGeom prst="rect">
            <a:avLst/>
          </a:prstGeom>
          <a:solidFill>
            <a:srgbClr val="FFFFFF"/>
          </a:solidFill>
          <a:ln w="9525">
            <a:solidFill>
              <a:srgbClr val="CDD5DF"/>
            </a:solidFill>
            <a:prstDash val="solid"/>
          </a:ln>
        </p:spPr>
      </p:sp>
      <p:sp>
        <p:nvSpPr>
          <p:cNvPr id="29" name="module-mark-40"/>
          <p:cNvSpPr/>
          <p:nvPr/>
        </p:nvSpPr>
        <p:spPr>
          <a:xfrm>
            <a:off x="8174736" y="5207508"/>
            <a:ext cx="64008" cy="1005840"/>
          </a:xfrm>
          <a:prstGeom prst="rect">
            <a:avLst/>
          </a:prstGeom>
          <a:solidFill>
            <a:srgbClr val="1F6FB2"/>
          </a:solidFill>
          <a:ln w="12700">
            <a:solidFill>
              <a:srgbClr val="1F6FB2"/>
            </a:solidFill>
            <a:prstDash val="solid"/>
          </a:ln>
        </p:spPr>
      </p:sp>
      <p:sp>
        <p:nvSpPr>
          <p:cNvPr id="30" name="module-text-41"/>
          <p:cNvSpPr txBox="1"/>
          <p:nvPr/>
        </p:nvSpPr>
        <p:spPr>
          <a:xfrm>
            <a:off x="8375904" y="5280660"/>
            <a:ext cx="3172968" cy="859536"/>
          </a:xfrm>
          <a:prstGeom prst="rect">
            <a:avLst/>
          </a:prstGeom>
          <a:noFill/>
          <a:ln/>
        </p:spPr>
        <p:txBody>
          <a:bodyPr wrap="square" lIns="0" tIns="0" rIns="0" bIns="0" rtlCol="0" anchor="ctr"/>
          <a:lstStyle/>
          <a:p>
            <a:pPr indent="0" marL="0">
              <a:spcAft>
                <a:spcPts val="300"/>
              </a:spcAft>
              <a:buNone/>
            </a:pPr>
            <a:r>
              <a:rPr lang="en-US" sz="1200" b="1" dirty="0">
                <a:solidFill>
                  <a:srgbClr val="0E2F56"/>
                </a:solidFill>
              </a:rPr>
              <a:t>Data Master dan Hak Akses</a:t>
            </a:r>
            <a:endParaRPr lang="en-US" sz="1200" dirty="0"/>
          </a:p>
          <a:p>
            <a:pPr indent="0" marL="0">
              <a:spcAft>
                <a:spcPts val="300"/>
              </a:spcAft>
              <a:buNone/>
            </a:pPr>
            <a:r>
              <a:rPr lang="en-US" sz="1000" dirty="0">
                <a:solidFill>
                  <a:srgbClr val="1F2D3D"/>
                </a:solidFill>
              </a:rPr>
              <a:t>Data dinamis (CRUD) dan matriks hak per peran oleh Administrator.</a:t>
            </a:r>
            <a:endParaRPr lang="en-US" sz="1200" dirty="0"/>
          </a:p>
        </p:txBody>
      </p:sp>
      <p:sp>
        <p:nvSpPr>
          <p:cNvPr id="25" name="Slide Number Placeholder 0"/>
          <p:cNvSpPr>
            <a:spLocks noGrp="1"/>
          </p:cNvSpPr>
          <p:nvPr>
            <p:ph type="sldNum" sz="quarter" idx="4294967295"/>
          </p:nvPr>
        </p:nvSpPr>
        <p:spPr>
          <a:xfrm>
            <a:off x="11094415" y="646480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548640" y="896112"/>
            <a:ext cx="7680960" cy="502920"/>
          </a:xfrm>
          <a:prstGeom prst="rect">
            <a:avLst/>
          </a:prstGeom>
          <a:noFill/>
          <a:ln/>
        </p:spPr>
        <p:txBody>
          <a:bodyPr wrap="square" lIns="0" tIns="0" rIns="0" bIns="0" rtlCol="0" anchor="ctr"/>
          <a:lstStyle/>
          <a:p>
            <a:pPr algn="l" indent="0" marL="0">
              <a:buNone/>
            </a:pPr>
            <a:r>
              <a:rPr lang="en-US" sz="2400" b="1" dirty="0">
                <a:solidFill>
                  <a:srgbClr val="0E2F56"/>
                </a:solidFill>
              </a:rPr>
              <a:t>Lima tahap utama, tiga titik persetujuan</a:t>
            </a:r>
            <a:endParaRPr lang="en-US" sz="2400" dirty="0"/>
          </a:p>
        </p:txBody>
      </p:sp>
      <p:sp>
        <p:nvSpPr>
          <p:cNvPr id="3" name="Text 2"/>
          <p:cNvSpPr/>
          <p:nvPr>
            <p:ph idx="103" type="body" hasCustomPrompt="1"/>
          </p:nvPr>
        </p:nvSpPr>
        <p:spPr>
          <a:xfrm>
            <a:off x="548640" y="1371600"/>
            <a:ext cx="7680960" cy="292608"/>
          </a:xfrm>
          <a:prstGeom prst="rect">
            <a:avLst/>
          </a:prstGeom>
          <a:noFill/>
          <a:ln/>
        </p:spPr>
        <p:txBody>
          <a:bodyPr wrap="square" lIns="0" tIns="0" rIns="0" bIns="0" rtlCol="0" anchor="t"/>
          <a:lstStyle/>
          <a:p>
            <a:pPr algn="l" indent="0" marL="0">
              <a:buNone/>
            </a:pPr>
            <a:r>
              <a:rPr lang="en-US" sz="1200" dirty="0">
                <a:solidFill>
                  <a:srgbClr val="5B6B7C"/>
                </a:solidFill>
              </a:rPr>
              <a:t>Setiap tahap punya pelaku, keputusan, dan keluaran. Status progres dihitung otomatis oleh sistem.</a:t>
            </a:r>
            <a:endParaRPr lang="en-US" sz="1200" dirty="0"/>
          </a:p>
        </p:txBody>
      </p:sp>
      <p:sp>
        <p:nvSpPr>
          <p:cNvPr id="4" name="stage-card-42"/>
          <p:cNvSpPr/>
          <p:nvPr/>
        </p:nvSpPr>
        <p:spPr>
          <a:xfrm>
            <a:off x="548640" y="1874520"/>
            <a:ext cx="2057400" cy="2468880"/>
          </a:xfrm>
          <a:prstGeom prst="rect">
            <a:avLst/>
          </a:prstGeom>
          <a:solidFill>
            <a:srgbClr val="FFFFFF"/>
          </a:solidFill>
          <a:ln w="9525">
            <a:solidFill>
              <a:srgbClr val="CDD5DF"/>
            </a:solidFill>
            <a:prstDash val="solid"/>
          </a:ln>
        </p:spPr>
      </p:sp>
      <p:sp>
        <p:nvSpPr>
          <p:cNvPr id="5" name="stage-head-43"/>
          <p:cNvSpPr/>
          <p:nvPr/>
        </p:nvSpPr>
        <p:spPr>
          <a:xfrm>
            <a:off x="548640" y="1874520"/>
            <a:ext cx="2057400" cy="566928"/>
          </a:xfrm>
          <a:prstGeom prst="rect">
            <a:avLst/>
          </a:prstGeom>
          <a:solidFill>
            <a:srgbClr val="1F6FB2"/>
          </a:solidFill>
          <a:ln w="12700">
            <a:solidFill>
              <a:srgbClr val="1F6FB2"/>
            </a:solidFill>
            <a:prstDash val="solid"/>
          </a:ln>
        </p:spPr>
      </p:sp>
      <p:sp>
        <p:nvSpPr>
          <p:cNvPr id="6" name="stage-title-44"/>
          <p:cNvSpPr txBox="1"/>
          <p:nvPr/>
        </p:nvSpPr>
        <p:spPr>
          <a:xfrm>
            <a:off x="685800" y="1874520"/>
            <a:ext cx="1783080" cy="566928"/>
          </a:xfrm>
          <a:prstGeom prst="rect">
            <a:avLst/>
          </a:prstGeom>
          <a:noFill/>
          <a:ln/>
        </p:spPr>
        <p:txBody>
          <a:bodyPr wrap="square" lIns="0" tIns="0" rIns="0" bIns="0" rtlCol="0" anchor="ctr"/>
          <a:lstStyle/>
          <a:p>
            <a:pPr indent="0" marL="0">
              <a:buNone/>
            </a:pPr>
            <a:r>
              <a:rPr lang="en-US" sz="1500" b="1" dirty="0">
                <a:solidFill>
                  <a:srgbClr val="D6E2F0"/>
                </a:solidFill>
              </a:rPr>
              <a:t>1  </a:t>
            </a:r>
            <a:pPr indent="0" marL="0">
              <a:buNone/>
            </a:pPr>
            <a:r>
              <a:rPr lang="en-US" sz="1500" b="1" dirty="0">
                <a:solidFill>
                  <a:srgbClr val="FFFFFF"/>
                </a:solidFill>
              </a:rPr>
              <a:t>Usulan</a:t>
            </a:r>
            <a:endParaRPr lang="en-US" sz="1500" dirty="0"/>
          </a:p>
        </p:txBody>
      </p:sp>
      <p:sp>
        <p:nvSpPr>
          <p:cNvPr id="7" name="stage-body-45"/>
          <p:cNvSpPr txBox="1"/>
          <p:nvPr/>
        </p:nvSpPr>
        <p:spPr>
          <a:xfrm>
            <a:off x="685800" y="2532888"/>
            <a:ext cx="1783080" cy="1719072"/>
          </a:xfrm>
          <a:prstGeom prst="rect">
            <a:avLst/>
          </a:prstGeom>
          <a:noFill/>
          <a:ln/>
        </p:spPr>
        <p:txBody>
          <a:bodyPr wrap="square" lIns="0" tIns="0" rIns="0" bIns="0" rtlCol="0" anchor="t"/>
          <a:lstStyle/>
          <a:p>
            <a:pPr indent="0" marL="0">
              <a:spcAft>
                <a:spcPts val="400"/>
              </a:spcAft>
              <a:buNone/>
            </a:pPr>
            <a:r>
              <a:rPr lang="en-US" sz="800" b="1" spc="100" kern="0" dirty="0">
                <a:solidFill>
                  <a:srgbClr val="5B6B7C"/>
                </a:solidFill>
              </a:rPr>
              <a:t>PELAKU</a:t>
            </a:r>
            <a:endParaRPr lang="en-US" sz="800" dirty="0"/>
          </a:p>
          <a:p>
            <a:pPr indent="0" marL="0">
              <a:spcAft>
                <a:spcPts val="400"/>
              </a:spcAft>
              <a:buNone/>
            </a:pPr>
            <a:r>
              <a:rPr lang="en-US" sz="1000" dirty="0">
                <a:solidFill>
                  <a:srgbClr val="1F2D3D"/>
                </a:solidFill>
              </a:rPr>
              <a:t>Pengusul, TL Atasan, Direksi Pekerjaan (Asman)</a:t>
            </a:r>
            <a:endParaRPr lang="en-US" sz="800" dirty="0"/>
          </a:p>
          <a:p>
            <a:pPr indent="0" marL="0">
              <a:spcAft>
                <a:spcPts val="400"/>
              </a:spcAft>
              <a:buNone/>
            </a:pPr>
            <a:r>
              <a:rPr lang="en-US" sz="800" b="1" spc="100" kern="0" dirty="0">
                <a:solidFill>
                  <a:srgbClr val="5B6B7C"/>
                </a:solidFill>
              </a:rPr>
              <a:t>KEPUTUSAN</a:t>
            </a:r>
            <a:endParaRPr lang="en-US" sz="800" dirty="0"/>
          </a:p>
          <a:p>
            <a:pPr indent="0" marL="0">
              <a:spcAft>
                <a:spcPts val="400"/>
              </a:spcAft>
              <a:buNone/>
            </a:pPr>
            <a:r>
              <a:rPr lang="en-US" sz="1000" dirty="0">
                <a:solidFill>
                  <a:srgbClr val="1F2D3D"/>
                </a:solidFill>
              </a:rPr>
              <a:t>TL lalu Asman: setujui atau kembalikan</a:t>
            </a:r>
            <a:endParaRPr lang="en-US" sz="800" dirty="0"/>
          </a:p>
          <a:p>
            <a:pPr indent="0" marL="0">
              <a:spcAft>
                <a:spcPts val="400"/>
              </a:spcAft>
              <a:buNone/>
            </a:pPr>
            <a:r>
              <a:rPr lang="en-US" sz="800" b="1" spc="100" kern="0" dirty="0">
                <a:solidFill>
                  <a:srgbClr val="5B6B7C"/>
                </a:solidFill>
              </a:rPr>
              <a:t>KELUARAN</a:t>
            </a:r>
            <a:endParaRPr lang="en-US" sz="800" dirty="0"/>
          </a:p>
          <a:p>
            <a:pPr indent="0" marL="0">
              <a:spcAft>
                <a:spcPts val="400"/>
              </a:spcAft>
              <a:buNone/>
            </a:pPr>
            <a:r>
              <a:rPr lang="en-US" sz="1000" dirty="0">
                <a:solidFill>
                  <a:srgbClr val="1F2D3D"/>
                </a:solidFill>
              </a:rPr>
              <a:t>Usulan disetujui; TOR dan Nota Dinas Usulan</a:t>
            </a:r>
            <a:endParaRPr lang="en-US" sz="800" dirty="0"/>
          </a:p>
        </p:txBody>
      </p:sp>
      <p:sp>
        <p:nvSpPr>
          <p:cNvPr id="8" name="connector-46"/>
          <p:cNvSpPr/>
          <p:nvPr/>
        </p:nvSpPr>
        <p:spPr>
          <a:xfrm>
            <a:off x="2624328" y="2157984"/>
            <a:ext cx="164592" cy="0"/>
          </a:xfrm>
          <a:prstGeom prst="line">
            <a:avLst/>
          </a:prstGeom>
          <a:noFill/>
          <a:ln w="19050">
            <a:solidFill>
              <a:srgbClr val="0E2F56"/>
            </a:solidFill>
            <a:prstDash val="solid"/>
            <a:tailEnd type="triangle"/>
          </a:ln>
        </p:spPr>
      </p:sp>
      <p:sp>
        <p:nvSpPr>
          <p:cNvPr id="9" name="stage-card-47"/>
          <p:cNvSpPr/>
          <p:nvPr/>
        </p:nvSpPr>
        <p:spPr>
          <a:xfrm>
            <a:off x="2807208" y="1874520"/>
            <a:ext cx="2057400" cy="2468880"/>
          </a:xfrm>
          <a:prstGeom prst="rect">
            <a:avLst/>
          </a:prstGeom>
          <a:solidFill>
            <a:srgbClr val="FFFFFF"/>
          </a:solidFill>
          <a:ln w="9525">
            <a:solidFill>
              <a:srgbClr val="CDD5DF"/>
            </a:solidFill>
            <a:prstDash val="solid"/>
          </a:ln>
        </p:spPr>
      </p:sp>
      <p:sp>
        <p:nvSpPr>
          <p:cNvPr id="10" name="stage-head-48"/>
          <p:cNvSpPr/>
          <p:nvPr/>
        </p:nvSpPr>
        <p:spPr>
          <a:xfrm>
            <a:off x="2807208" y="1874520"/>
            <a:ext cx="2057400" cy="566928"/>
          </a:xfrm>
          <a:prstGeom prst="rect">
            <a:avLst/>
          </a:prstGeom>
          <a:solidFill>
            <a:srgbClr val="1F6FB2"/>
          </a:solidFill>
          <a:ln w="12700">
            <a:solidFill>
              <a:srgbClr val="1F6FB2"/>
            </a:solidFill>
            <a:prstDash val="solid"/>
          </a:ln>
        </p:spPr>
      </p:sp>
      <p:sp>
        <p:nvSpPr>
          <p:cNvPr id="11" name="stage-title-49"/>
          <p:cNvSpPr txBox="1"/>
          <p:nvPr/>
        </p:nvSpPr>
        <p:spPr>
          <a:xfrm>
            <a:off x="2944368" y="1874520"/>
            <a:ext cx="1783080" cy="566928"/>
          </a:xfrm>
          <a:prstGeom prst="rect">
            <a:avLst/>
          </a:prstGeom>
          <a:noFill/>
          <a:ln/>
        </p:spPr>
        <p:txBody>
          <a:bodyPr wrap="square" lIns="0" tIns="0" rIns="0" bIns="0" rtlCol="0" anchor="ctr"/>
          <a:lstStyle/>
          <a:p>
            <a:pPr indent="0" marL="0">
              <a:buNone/>
            </a:pPr>
            <a:r>
              <a:rPr lang="en-US" sz="1500" b="1" dirty="0">
                <a:solidFill>
                  <a:srgbClr val="D6E2F0"/>
                </a:solidFill>
              </a:rPr>
              <a:t>2  </a:t>
            </a:r>
            <a:pPr indent="0" marL="0">
              <a:buNone/>
            </a:pPr>
            <a:r>
              <a:rPr lang="en-US" sz="1500" b="1" dirty="0">
                <a:solidFill>
                  <a:srgbClr val="FFFFFF"/>
                </a:solidFill>
              </a:rPr>
              <a:t>Perencanaan</a:t>
            </a:r>
            <a:endParaRPr lang="en-US" sz="1500" dirty="0"/>
          </a:p>
        </p:txBody>
      </p:sp>
      <p:sp>
        <p:nvSpPr>
          <p:cNvPr id="12" name="stage-body-50"/>
          <p:cNvSpPr txBox="1"/>
          <p:nvPr/>
        </p:nvSpPr>
        <p:spPr>
          <a:xfrm>
            <a:off x="2944368" y="2532888"/>
            <a:ext cx="1783080" cy="1719072"/>
          </a:xfrm>
          <a:prstGeom prst="rect">
            <a:avLst/>
          </a:prstGeom>
          <a:noFill/>
          <a:ln/>
        </p:spPr>
        <p:txBody>
          <a:bodyPr wrap="square" lIns="0" tIns="0" rIns="0" bIns="0" rtlCol="0" anchor="t"/>
          <a:lstStyle/>
          <a:p>
            <a:pPr indent="0" marL="0">
              <a:spcAft>
                <a:spcPts val="400"/>
              </a:spcAft>
              <a:buNone/>
            </a:pPr>
            <a:r>
              <a:rPr lang="en-US" sz="800" b="1" spc="100" kern="0" dirty="0">
                <a:solidFill>
                  <a:srgbClr val="5B6B7C"/>
                </a:solidFill>
              </a:rPr>
              <a:t>PELAKU</a:t>
            </a:r>
            <a:endParaRPr lang="en-US" sz="800" dirty="0"/>
          </a:p>
          <a:p>
            <a:pPr indent="0" marL="0">
              <a:spcAft>
                <a:spcPts val="400"/>
              </a:spcAft>
              <a:buNone/>
            </a:pPr>
            <a:r>
              <a:rPr lang="en-US" sz="1000" dirty="0">
                <a:solidFill>
                  <a:srgbClr val="1F2D3D"/>
                </a:solidFill>
              </a:rPr>
              <a:t>TL ICC, PIC Perencana, TL Pengadaan</a:t>
            </a:r>
            <a:endParaRPr lang="en-US" sz="800" dirty="0"/>
          </a:p>
          <a:p>
            <a:pPr indent="0" marL="0">
              <a:spcAft>
                <a:spcPts val="400"/>
              </a:spcAft>
              <a:buNone/>
            </a:pPr>
            <a:r>
              <a:rPr lang="en-US" sz="800" b="1" spc="100" kern="0" dirty="0">
                <a:solidFill>
                  <a:srgbClr val="5B6B7C"/>
                </a:solidFill>
              </a:rPr>
              <a:t>KEPUTUSAN</a:t>
            </a:r>
            <a:endParaRPr lang="en-US" sz="800" dirty="0"/>
          </a:p>
          <a:p>
            <a:pPr indent="0" marL="0">
              <a:spcAft>
                <a:spcPts val="400"/>
              </a:spcAft>
              <a:buNone/>
            </a:pPr>
            <a:r>
              <a:rPr lang="en-US" sz="1000" dirty="0">
                <a:solidFill>
                  <a:srgbClr val="1F2D3D"/>
                </a:solidFill>
              </a:rPr>
              <a:t>TL ICC: setujui atau kembalikan</a:t>
            </a:r>
            <a:endParaRPr lang="en-US" sz="800" dirty="0"/>
          </a:p>
          <a:p>
            <a:pPr indent="0" marL="0">
              <a:spcAft>
                <a:spcPts val="400"/>
              </a:spcAft>
              <a:buNone/>
            </a:pPr>
            <a:r>
              <a:rPr lang="en-US" sz="800" b="1" spc="100" kern="0" dirty="0">
                <a:solidFill>
                  <a:srgbClr val="5B6B7C"/>
                </a:solidFill>
              </a:rPr>
              <a:t>KELUARAN</a:t>
            </a:r>
            <a:endParaRPr lang="en-US" sz="800" dirty="0"/>
          </a:p>
          <a:p>
            <a:pPr indent="0" marL="0">
              <a:spcAft>
                <a:spcPts val="400"/>
              </a:spcAft>
              <a:buNone/>
            </a:pPr>
            <a:r>
              <a:rPr lang="en-US" sz="1000" dirty="0">
                <a:solidFill>
                  <a:srgbClr val="1F2D3D"/>
                </a:solidFill>
              </a:rPr>
              <a:t>Dokumen perencanaan (HPE, UPB, RKS untuk SPK/PJ); PIC Pelaksana ditunjuk</a:t>
            </a:r>
            <a:endParaRPr lang="en-US" sz="800" dirty="0"/>
          </a:p>
        </p:txBody>
      </p:sp>
      <p:sp>
        <p:nvSpPr>
          <p:cNvPr id="13" name="connector-51"/>
          <p:cNvSpPr/>
          <p:nvPr/>
        </p:nvSpPr>
        <p:spPr>
          <a:xfrm>
            <a:off x="4882896" y="2157984"/>
            <a:ext cx="164592" cy="0"/>
          </a:xfrm>
          <a:prstGeom prst="line">
            <a:avLst/>
          </a:prstGeom>
          <a:noFill/>
          <a:ln w="19050">
            <a:solidFill>
              <a:srgbClr val="0E2F56"/>
            </a:solidFill>
            <a:prstDash val="solid"/>
            <a:tailEnd type="triangle"/>
          </a:ln>
        </p:spPr>
      </p:sp>
      <p:sp>
        <p:nvSpPr>
          <p:cNvPr id="14" name="stage-card-52"/>
          <p:cNvSpPr/>
          <p:nvPr/>
        </p:nvSpPr>
        <p:spPr>
          <a:xfrm>
            <a:off x="5065776" y="1874520"/>
            <a:ext cx="2057400" cy="2468880"/>
          </a:xfrm>
          <a:prstGeom prst="rect">
            <a:avLst/>
          </a:prstGeom>
          <a:solidFill>
            <a:srgbClr val="FFFFFF"/>
          </a:solidFill>
          <a:ln w="9525">
            <a:solidFill>
              <a:srgbClr val="CDD5DF"/>
            </a:solidFill>
            <a:prstDash val="solid"/>
          </a:ln>
        </p:spPr>
      </p:sp>
      <p:sp>
        <p:nvSpPr>
          <p:cNvPr id="15" name="stage-head-53"/>
          <p:cNvSpPr/>
          <p:nvPr/>
        </p:nvSpPr>
        <p:spPr>
          <a:xfrm>
            <a:off x="5065776" y="1874520"/>
            <a:ext cx="2057400" cy="566928"/>
          </a:xfrm>
          <a:prstGeom prst="rect">
            <a:avLst/>
          </a:prstGeom>
          <a:solidFill>
            <a:srgbClr val="1F6FB2"/>
          </a:solidFill>
          <a:ln w="12700">
            <a:solidFill>
              <a:srgbClr val="1F6FB2"/>
            </a:solidFill>
            <a:prstDash val="solid"/>
          </a:ln>
        </p:spPr>
      </p:sp>
      <p:sp>
        <p:nvSpPr>
          <p:cNvPr id="16" name="stage-title-54"/>
          <p:cNvSpPr txBox="1"/>
          <p:nvPr/>
        </p:nvSpPr>
        <p:spPr>
          <a:xfrm>
            <a:off x="5202936" y="1874520"/>
            <a:ext cx="1783080" cy="566928"/>
          </a:xfrm>
          <a:prstGeom prst="rect">
            <a:avLst/>
          </a:prstGeom>
          <a:noFill/>
          <a:ln/>
        </p:spPr>
        <p:txBody>
          <a:bodyPr wrap="square" lIns="0" tIns="0" rIns="0" bIns="0" rtlCol="0" anchor="ctr"/>
          <a:lstStyle/>
          <a:p>
            <a:pPr indent="0" marL="0">
              <a:buNone/>
            </a:pPr>
            <a:r>
              <a:rPr lang="en-US" sz="1500" b="1" dirty="0">
                <a:solidFill>
                  <a:srgbClr val="D6E2F0"/>
                </a:solidFill>
              </a:rPr>
              <a:t>3  </a:t>
            </a:r>
            <a:pPr indent="0" marL="0">
              <a:buNone/>
            </a:pPr>
            <a:r>
              <a:rPr lang="en-US" sz="1500" b="1" dirty="0">
                <a:solidFill>
                  <a:srgbClr val="FFFFFF"/>
                </a:solidFill>
              </a:rPr>
              <a:t>Pelaksanaan</a:t>
            </a:r>
            <a:endParaRPr lang="en-US" sz="1500" dirty="0"/>
          </a:p>
        </p:txBody>
      </p:sp>
      <p:sp>
        <p:nvSpPr>
          <p:cNvPr id="17" name="stage-body-55"/>
          <p:cNvSpPr txBox="1"/>
          <p:nvPr/>
        </p:nvSpPr>
        <p:spPr>
          <a:xfrm>
            <a:off x="5202936" y="2532888"/>
            <a:ext cx="1783080" cy="1719072"/>
          </a:xfrm>
          <a:prstGeom prst="rect">
            <a:avLst/>
          </a:prstGeom>
          <a:noFill/>
          <a:ln/>
        </p:spPr>
        <p:txBody>
          <a:bodyPr wrap="square" lIns="0" tIns="0" rIns="0" bIns="0" rtlCol="0" anchor="t"/>
          <a:lstStyle/>
          <a:p>
            <a:pPr indent="0" marL="0">
              <a:spcAft>
                <a:spcPts val="400"/>
              </a:spcAft>
              <a:buNone/>
            </a:pPr>
            <a:r>
              <a:rPr lang="en-US" sz="800" b="1" spc="100" kern="0" dirty="0">
                <a:solidFill>
                  <a:srgbClr val="5B6B7C"/>
                </a:solidFill>
              </a:rPr>
              <a:t>PELAKU</a:t>
            </a:r>
            <a:endParaRPr lang="en-US" sz="800" dirty="0"/>
          </a:p>
          <a:p>
            <a:pPr indent="0" marL="0">
              <a:spcAft>
                <a:spcPts val="400"/>
              </a:spcAft>
              <a:buNone/>
            </a:pPr>
            <a:r>
              <a:rPr lang="en-US" sz="1000" dirty="0">
                <a:solidFill>
                  <a:srgbClr val="1F2D3D"/>
                </a:solidFill>
              </a:rPr>
              <a:t>PIC Pelaksana, TL Pengadaan</a:t>
            </a:r>
            <a:endParaRPr lang="en-US" sz="800" dirty="0"/>
          </a:p>
          <a:p>
            <a:pPr indent="0" marL="0">
              <a:spcAft>
                <a:spcPts val="400"/>
              </a:spcAft>
              <a:buNone/>
            </a:pPr>
            <a:r>
              <a:rPr lang="en-US" sz="800" b="1" spc="100" kern="0" dirty="0">
                <a:solidFill>
                  <a:srgbClr val="5B6B7C"/>
                </a:solidFill>
              </a:rPr>
              <a:t>KEPUTUSAN</a:t>
            </a:r>
            <a:endParaRPr lang="en-US" sz="800" dirty="0"/>
          </a:p>
          <a:p>
            <a:pPr indent="0" marL="0">
              <a:spcAft>
                <a:spcPts val="400"/>
              </a:spcAft>
              <a:buNone/>
            </a:pPr>
            <a:r>
              <a:rPr lang="en-US" sz="1000" dirty="0">
                <a:solidFill>
                  <a:srgbClr val="1F2D3D"/>
                </a:solidFill>
              </a:rPr>
              <a:t>TL Pengadaan: setujui dan teruskan, atau kembalikan</a:t>
            </a:r>
            <a:endParaRPr lang="en-US" sz="800" dirty="0"/>
          </a:p>
          <a:p>
            <a:pPr indent="0" marL="0">
              <a:spcAft>
                <a:spcPts val="400"/>
              </a:spcAft>
              <a:buNone/>
            </a:pPr>
            <a:r>
              <a:rPr lang="en-US" sz="800" b="1" spc="100" kern="0" dirty="0">
                <a:solidFill>
                  <a:srgbClr val="5B6B7C"/>
                </a:solidFill>
              </a:rPr>
              <a:t>KELUARAN</a:t>
            </a:r>
            <a:endParaRPr lang="en-US" sz="800" dirty="0"/>
          </a:p>
          <a:p>
            <a:pPr indent="0" marL="0">
              <a:spcAft>
                <a:spcPts val="400"/>
              </a:spcAft>
              <a:buNone/>
            </a:pPr>
            <a:r>
              <a:rPr lang="en-US" sz="1000" dirty="0">
                <a:solidFill>
                  <a:srgbClr val="1F2D3D"/>
                </a:solidFill>
              </a:rPr>
              <a:t>Kontrak / Surat Pesanan; status Terkontrak</a:t>
            </a:r>
            <a:endParaRPr lang="en-US" sz="800" dirty="0"/>
          </a:p>
        </p:txBody>
      </p:sp>
      <p:sp>
        <p:nvSpPr>
          <p:cNvPr id="18" name="connector-56"/>
          <p:cNvSpPr/>
          <p:nvPr/>
        </p:nvSpPr>
        <p:spPr>
          <a:xfrm>
            <a:off x="7141464" y="2157984"/>
            <a:ext cx="164592" cy="0"/>
          </a:xfrm>
          <a:prstGeom prst="line">
            <a:avLst/>
          </a:prstGeom>
          <a:noFill/>
          <a:ln w="19050">
            <a:solidFill>
              <a:srgbClr val="0E2F56"/>
            </a:solidFill>
            <a:prstDash val="solid"/>
            <a:tailEnd type="triangle"/>
          </a:ln>
        </p:spPr>
      </p:sp>
      <p:sp>
        <p:nvSpPr>
          <p:cNvPr id="19" name="stage-card-57"/>
          <p:cNvSpPr/>
          <p:nvPr/>
        </p:nvSpPr>
        <p:spPr>
          <a:xfrm>
            <a:off x="7324344" y="1874520"/>
            <a:ext cx="2057400" cy="2468880"/>
          </a:xfrm>
          <a:prstGeom prst="rect">
            <a:avLst/>
          </a:prstGeom>
          <a:solidFill>
            <a:srgbClr val="FFFFFF"/>
          </a:solidFill>
          <a:ln w="9525">
            <a:solidFill>
              <a:srgbClr val="CDD5DF"/>
            </a:solidFill>
            <a:prstDash val="solid"/>
          </a:ln>
        </p:spPr>
      </p:sp>
      <p:sp>
        <p:nvSpPr>
          <p:cNvPr id="20" name="stage-head-58"/>
          <p:cNvSpPr/>
          <p:nvPr/>
        </p:nvSpPr>
        <p:spPr>
          <a:xfrm>
            <a:off x="7324344" y="1874520"/>
            <a:ext cx="2057400" cy="566928"/>
          </a:xfrm>
          <a:prstGeom prst="rect">
            <a:avLst/>
          </a:prstGeom>
          <a:solidFill>
            <a:srgbClr val="1F6FB2"/>
          </a:solidFill>
          <a:ln w="12700">
            <a:solidFill>
              <a:srgbClr val="1F6FB2"/>
            </a:solidFill>
            <a:prstDash val="solid"/>
          </a:ln>
        </p:spPr>
      </p:sp>
      <p:sp>
        <p:nvSpPr>
          <p:cNvPr id="21" name="stage-title-59"/>
          <p:cNvSpPr txBox="1"/>
          <p:nvPr/>
        </p:nvSpPr>
        <p:spPr>
          <a:xfrm>
            <a:off x="7461504" y="1874520"/>
            <a:ext cx="1783080" cy="566928"/>
          </a:xfrm>
          <a:prstGeom prst="rect">
            <a:avLst/>
          </a:prstGeom>
          <a:noFill/>
          <a:ln/>
        </p:spPr>
        <p:txBody>
          <a:bodyPr wrap="square" lIns="0" tIns="0" rIns="0" bIns="0" rtlCol="0" anchor="ctr"/>
          <a:lstStyle/>
          <a:p>
            <a:pPr indent="0" marL="0">
              <a:buNone/>
            </a:pPr>
            <a:r>
              <a:rPr lang="en-US" sz="1500" b="1" dirty="0">
                <a:solidFill>
                  <a:srgbClr val="D6E2F0"/>
                </a:solidFill>
              </a:rPr>
              <a:t>4  </a:t>
            </a:r>
            <a:pPr indent="0" marL="0">
              <a:buNone/>
            </a:pPr>
            <a:r>
              <a:rPr lang="en-US" sz="1500" b="1" dirty="0">
                <a:solidFill>
                  <a:srgbClr val="FFFFFF"/>
                </a:solidFill>
              </a:rPr>
              <a:t>Penyerahan</a:t>
            </a:r>
            <a:endParaRPr lang="en-US" sz="1500" dirty="0"/>
          </a:p>
        </p:txBody>
      </p:sp>
      <p:sp>
        <p:nvSpPr>
          <p:cNvPr id="22" name="stage-body-60"/>
          <p:cNvSpPr txBox="1"/>
          <p:nvPr/>
        </p:nvSpPr>
        <p:spPr>
          <a:xfrm>
            <a:off x="7461504" y="2532888"/>
            <a:ext cx="1783080" cy="1719072"/>
          </a:xfrm>
          <a:prstGeom prst="rect">
            <a:avLst/>
          </a:prstGeom>
          <a:noFill/>
          <a:ln/>
        </p:spPr>
        <p:txBody>
          <a:bodyPr wrap="square" lIns="0" tIns="0" rIns="0" bIns="0" rtlCol="0" anchor="t"/>
          <a:lstStyle/>
          <a:p>
            <a:pPr indent="0" marL="0">
              <a:spcAft>
                <a:spcPts val="400"/>
              </a:spcAft>
              <a:buNone/>
            </a:pPr>
            <a:r>
              <a:rPr lang="en-US" sz="800" b="1" spc="100" kern="0" dirty="0">
                <a:solidFill>
                  <a:srgbClr val="5B6B7C"/>
                </a:solidFill>
              </a:rPr>
              <a:t>PELAKU</a:t>
            </a:r>
            <a:endParaRPr lang="en-US" sz="800" dirty="0"/>
          </a:p>
          <a:p>
            <a:pPr indent="0" marL="0">
              <a:spcAft>
                <a:spcPts val="400"/>
              </a:spcAft>
              <a:buNone/>
            </a:pPr>
            <a:r>
              <a:rPr lang="en-US" sz="1000" dirty="0">
                <a:solidFill>
                  <a:srgbClr val="1F2D3D"/>
                </a:solidFill>
              </a:rPr>
              <a:t>Keuangan</a:t>
            </a:r>
            <a:endParaRPr lang="en-US" sz="800" dirty="0"/>
          </a:p>
          <a:p>
            <a:pPr indent="0" marL="0">
              <a:spcAft>
                <a:spcPts val="400"/>
              </a:spcAft>
              <a:buNone/>
            </a:pPr>
            <a:r>
              <a:rPr lang="en-US" sz="800" b="1" spc="100" kern="0" dirty="0">
                <a:solidFill>
                  <a:srgbClr val="5B6B7C"/>
                </a:solidFill>
              </a:rPr>
              <a:t>KEPUTUSAN</a:t>
            </a:r>
            <a:endParaRPr lang="en-US" sz="800" dirty="0"/>
          </a:p>
          <a:p>
            <a:pPr indent="0" marL="0">
              <a:spcAft>
                <a:spcPts val="400"/>
              </a:spcAft>
              <a:buNone/>
            </a:pPr>
            <a:r>
              <a:rPr lang="en-US" sz="1000" dirty="0">
                <a:solidFill>
                  <a:srgbClr val="1F2D3D"/>
                </a:solidFill>
              </a:rPr>
              <a:t>Setiap item wajib harus berberkas</a:t>
            </a:r>
            <a:endParaRPr lang="en-US" sz="800" dirty="0"/>
          </a:p>
          <a:p>
            <a:pPr indent="0" marL="0">
              <a:spcAft>
                <a:spcPts val="400"/>
              </a:spcAft>
              <a:buNone/>
            </a:pPr>
            <a:r>
              <a:rPr lang="en-US" sz="800" b="1" spc="100" kern="0" dirty="0">
                <a:solidFill>
                  <a:srgbClr val="5B6B7C"/>
                </a:solidFill>
              </a:rPr>
              <a:t>KELUARAN</a:t>
            </a:r>
            <a:endParaRPr lang="en-US" sz="800" dirty="0"/>
          </a:p>
          <a:p>
            <a:pPr indent="0" marL="0">
              <a:spcAft>
                <a:spcPts val="400"/>
              </a:spcAft>
              <a:buNone/>
            </a:pPr>
            <a:r>
              <a:rPr lang="en-US" sz="1000" dirty="0">
                <a:solidFill>
                  <a:srgbClr val="1F2D3D"/>
                </a:solidFill>
              </a:rPr>
              <a:t>Berkas syarat penyerahan sesuai pasal kontrak</a:t>
            </a:r>
            <a:endParaRPr lang="en-US" sz="800" dirty="0"/>
          </a:p>
        </p:txBody>
      </p:sp>
      <p:sp>
        <p:nvSpPr>
          <p:cNvPr id="23" name="connector-61"/>
          <p:cNvSpPr/>
          <p:nvPr/>
        </p:nvSpPr>
        <p:spPr>
          <a:xfrm>
            <a:off x="9400032" y="2157984"/>
            <a:ext cx="164592" cy="0"/>
          </a:xfrm>
          <a:prstGeom prst="line">
            <a:avLst/>
          </a:prstGeom>
          <a:noFill/>
          <a:ln w="19050">
            <a:solidFill>
              <a:srgbClr val="0E2F56"/>
            </a:solidFill>
            <a:prstDash val="solid"/>
            <a:tailEnd type="triangle"/>
          </a:ln>
        </p:spPr>
      </p:sp>
      <p:sp>
        <p:nvSpPr>
          <p:cNvPr id="24" name="stage-card-62"/>
          <p:cNvSpPr/>
          <p:nvPr/>
        </p:nvSpPr>
        <p:spPr>
          <a:xfrm>
            <a:off x="9582912" y="1874520"/>
            <a:ext cx="2057400" cy="2468880"/>
          </a:xfrm>
          <a:prstGeom prst="rect">
            <a:avLst/>
          </a:prstGeom>
          <a:solidFill>
            <a:srgbClr val="FFFFFF"/>
          </a:solidFill>
          <a:ln w="9525">
            <a:solidFill>
              <a:srgbClr val="CDD5DF"/>
            </a:solidFill>
            <a:prstDash val="solid"/>
          </a:ln>
        </p:spPr>
      </p:sp>
      <p:sp>
        <p:nvSpPr>
          <p:cNvPr id="25" name="stage-head-63"/>
          <p:cNvSpPr/>
          <p:nvPr/>
        </p:nvSpPr>
        <p:spPr>
          <a:xfrm>
            <a:off x="9582912" y="1874520"/>
            <a:ext cx="2057400" cy="566928"/>
          </a:xfrm>
          <a:prstGeom prst="rect">
            <a:avLst/>
          </a:prstGeom>
          <a:solidFill>
            <a:srgbClr val="1E7B4F"/>
          </a:solidFill>
          <a:ln w="12700">
            <a:solidFill>
              <a:srgbClr val="1E7B4F"/>
            </a:solidFill>
            <a:prstDash val="solid"/>
          </a:ln>
        </p:spPr>
      </p:sp>
      <p:sp>
        <p:nvSpPr>
          <p:cNvPr id="26" name="stage-title-64"/>
          <p:cNvSpPr txBox="1"/>
          <p:nvPr/>
        </p:nvSpPr>
        <p:spPr>
          <a:xfrm>
            <a:off x="9720072" y="1874520"/>
            <a:ext cx="1783080" cy="566928"/>
          </a:xfrm>
          <a:prstGeom prst="rect">
            <a:avLst/>
          </a:prstGeom>
          <a:noFill/>
          <a:ln/>
        </p:spPr>
        <p:txBody>
          <a:bodyPr wrap="square" lIns="0" tIns="0" rIns="0" bIns="0" rtlCol="0" anchor="ctr"/>
          <a:lstStyle/>
          <a:p>
            <a:pPr indent="0" marL="0">
              <a:buNone/>
            </a:pPr>
            <a:r>
              <a:rPr lang="en-US" sz="1500" b="1" dirty="0">
                <a:solidFill>
                  <a:srgbClr val="D6E2F0"/>
                </a:solidFill>
              </a:rPr>
              <a:t>5  </a:t>
            </a:r>
            <a:pPr indent="0" marL="0">
              <a:buNone/>
            </a:pPr>
            <a:r>
              <a:rPr lang="en-US" sz="1500" b="1" dirty="0">
                <a:solidFill>
                  <a:srgbClr val="FFFFFF"/>
                </a:solidFill>
              </a:rPr>
              <a:t>Pembayaran</a:t>
            </a:r>
            <a:endParaRPr lang="en-US" sz="1500" dirty="0"/>
          </a:p>
        </p:txBody>
      </p:sp>
      <p:sp>
        <p:nvSpPr>
          <p:cNvPr id="27" name="stage-body-65"/>
          <p:cNvSpPr txBox="1"/>
          <p:nvPr/>
        </p:nvSpPr>
        <p:spPr>
          <a:xfrm>
            <a:off x="9720072" y="2532888"/>
            <a:ext cx="1783080" cy="1719072"/>
          </a:xfrm>
          <a:prstGeom prst="rect">
            <a:avLst/>
          </a:prstGeom>
          <a:noFill/>
          <a:ln/>
        </p:spPr>
        <p:txBody>
          <a:bodyPr wrap="square" lIns="0" tIns="0" rIns="0" bIns="0" rtlCol="0" anchor="t"/>
          <a:lstStyle/>
          <a:p>
            <a:pPr indent="0" marL="0">
              <a:spcAft>
                <a:spcPts val="400"/>
              </a:spcAft>
              <a:buNone/>
            </a:pPr>
            <a:r>
              <a:rPr lang="en-US" sz="800" b="1" spc="100" kern="0" dirty="0">
                <a:solidFill>
                  <a:srgbClr val="5B6B7C"/>
                </a:solidFill>
              </a:rPr>
              <a:t>PELAKU</a:t>
            </a:r>
            <a:endParaRPr lang="en-US" sz="800" dirty="0"/>
          </a:p>
          <a:p>
            <a:pPr indent="0" marL="0">
              <a:spcAft>
                <a:spcPts val="400"/>
              </a:spcAft>
              <a:buNone/>
            </a:pPr>
            <a:r>
              <a:rPr lang="en-US" sz="1000" dirty="0">
                <a:solidFill>
                  <a:srgbClr val="1F2D3D"/>
                </a:solidFill>
              </a:rPr>
              <a:t>Keuangan</a:t>
            </a:r>
            <a:endParaRPr lang="en-US" sz="800" dirty="0"/>
          </a:p>
          <a:p>
            <a:pPr indent="0" marL="0">
              <a:spcAft>
                <a:spcPts val="400"/>
              </a:spcAft>
              <a:buNone/>
            </a:pPr>
            <a:r>
              <a:rPr lang="en-US" sz="800" b="1" spc="100" kern="0" dirty="0">
                <a:solidFill>
                  <a:srgbClr val="5B6B7C"/>
                </a:solidFill>
              </a:rPr>
              <a:t>KEPUTUSAN</a:t>
            </a:r>
            <a:endParaRPr lang="en-US" sz="800" dirty="0"/>
          </a:p>
          <a:p>
            <a:pPr indent="0" marL="0">
              <a:spcAft>
                <a:spcPts val="400"/>
              </a:spcAft>
              <a:buNone/>
            </a:pPr>
            <a:r>
              <a:rPr lang="en-US" sz="1000" dirty="0">
                <a:solidFill>
                  <a:srgbClr val="1F2D3D"/>
                </a:solidFill>
              </a:rPr>
              <a:t>Semua item wajib Keuangan selesai</a:t>
            </a:r>
            <a:endParaRPr lang="en-US" sz="800" dirty="0"/>
          </a:p>
          <a:p>
            <a:pPr indent="0" marL="0">
              <a:spcAft>
                <a:spcPts val="400"/>
              </a:spcAft>
              <a:buNone/>
            </a:pPr>
            <a:r>
              <a:rPr lang="en-US" sz="800" b="1" spc="100" kern="0" dirty="0">
                <a:solidFill>
                  <a:srgbClr val="5B6B7C"/>
                </a:solidFill>
              </a:rPr>
              <a:t>KELUARAN</a:t>
            </a:r>
            <a:endParaRPr lang="en-US" sz="800" dirty="0"/>
          </a:p>
          <a:p>
            <a:pPr indent="0" marL="0">
              <a:spcAft>
                <a:spcPts val="400"/>
              </a:spcAft>
              <a:buNone/>
            </a:pPr>
            <a:r>
              <a:rPr lang="en-US" sz="1000" dirty="0">
                <a:solidFill>
                  <a:srgbClr val="1F2D3D"/>
                </a:solidFill>
              </a:rPr>
              <a:t>Pembayaran Lunas; status Selesai</a:t>
            </a:r>
            <a:endParaRPr lang="en-US" sz="800" dirty="0"/>
          </a:p>
        </p:txBody>
      </p:sp>
      <p:sp>
        <p:nvSpPr>
          <p:cNvPr id="28" name="connector-66"/>
          <p:cNvSpPr/>
          <p:nvPr/>
        </p:nvSpPr>
        <p:spPr>
          <a:xfrm>
            <a:off x="2194560" y="4343400"/>
            <a:ext cx="0" cy="274320"/>
          </a:xfrm>
          <a:prstGeom prst="line">
            <a:avLst/>
          </a:prstGeom>
          <a:noFill/>
          <a:ln w="19050">
            <a:solidFill>
              <a:srgbClr val="D9822B"/>
            </a:solidFill>
            <a:prstDash val="dash"/>
          </a:ln>
        </p:spPr>
      </p:sp>
      <p:sp>
        <p:nvSpPr>
          <p:cNvPr id="29" name="connector-67"/>
          <p:cNvSpPr/>
          <p:nvPr/>
        </p:nvSpPr>
        <p:spPr>
          <a:xfrm flipH="1">
            <a:off x="960120" y="4617720"/>
            <a:ext cx="1234440" cy="0"/>
          </a:xfrm>
          <a:prstGeom prst="line">
            <a:avLst/>
          </a:prstGeom>
          <a:noFill/>
          <a:ln w="19050">
            <a:solidFill>
              <a:srgbClr val="D9822B"/>
            </a:solidFill>
            <a:prstDash val="dash"/>
          </a:ln>
        </p:spPr>
      </p:sp>
      <p:sp>
        <p:nvSpPr>
          <p:cNvPr id="30" name="connector-68"/>
          <p:cNvSpPr/>
          <p:nvPr/>
        </p:nvSpPr>
        <p:spPr>
          <a:xfrm flipV="1">
            <a:off x="960120" y="4361688"/>
            <a:ext cx="0" cy="256032"/>
          </a:xfrm>
          <a:prstGeom prst="line">
            <a:avLst/>
          </a:prstGeom>
          <a:noFill/>
          <a:ln w="19050">
            <a:solidFill>
              <a:srgbClr val="D9822B"/>
            </a:solidFill>
            <a:prstDash val="dash"/>
            <a:tailEnd type="triangle"/>
          </a:ln>
        </p:spPr>
      </p:sp>
      <p:sp>
        <p:nvSpPr>
          <p:cNvPr id="31" name="flow-label-69"/>
          <p:cNvSpPr txBox="1"/>
          <p:nvPr/>
        </p:nvSpPr>
        <p:spPr>
          <a:xfrm>
            <a:off x="960120" y="4636008"/>
            <a:ext cx="1234440" cy="219456"/>
          </a:xfrm>
          <a:prstGeom prst="rect">
            <a:avLst/>
          </a:prstGeom>
          <a:noFill/>
          <a:ln/>
        </p:spPr>
        <p:txBody>
          <a:bodyPr wrap="square" lIns="0" tIns="0" rIns="0" bIns="0" rtlCol="0" anchor="ctr"/>
          <a:lstStyle/>
          <a:p>
            <a:pPr algn="ctr" indent="0" marL="0">
              <a:buNone/>
            </a:pPr>
            <a:r>
              <a:rPr lang="en-US" sz="850" b="1" dirty="0">
                <a:solidFill>
                  <a:srgbClr val="D9822B"/>
                </a:solidFill>
              </a:rPr>
              <a:t>Dikembalikan: Revisi Usulan</a:t>
            </a:r>
            <a:endParaRPr lang="en-US" sz="850" dirty="0"/>
          </a:p>
        </p:txBody>
      </p:sp>
      <p:sp>
        <p:nvSpPr>
          <p:cNvPr id="32" name="connector-70"/>
          <p:cNvSpPr/>
          <p:nvPr/>
        </p:nvSpPr>
        <p:spPr>
          <a:xfrm>
            <a:off x="4453128" y="4343400"/>
            <a:ext cx="0" cy="274320"/>
          </a:xfrm>
          <a:prstGeom prst="line">
            <a:avLst/>
          </a:prstGeom>
          <a:noFill/>
          <a:ln w="19050">
            <a:solidFill>
              <a:srgbClr val="D9822B"/>
            </a:solidFill>
            <a:prstDash val="dash"/>
          </a:ln>
        </p:spPr>
      </p:sp>
      <p:sp>
        <p:nvSpPr>
          <p:cNvPr id="33" name="connector-71"/>
          <p:cNvSpPr/>
          <p:nvPr/>
        </p:nvSpPr>
        <p:spPr>
          <a:xfrm flipH="1">
            <a:off x="3218688" y="4617720"/>
            <a:ext cx="1234440" cy="0"/>
          </a:xfrm>
          <a:prstGeom prst="line">
            <a:avLst/>
          </a:prstGeom>
          <a:noFill/>
          <a:ln w="19050">
            <a:solidFill>
              <a:srgbClr val="D9822B"/>
            </a:solidFill>
            <a:prstDash val="dash"/>
          </a:ln>
        </p:spPr>
      </p:sp>
      <p:sp>
        <p:nvSpPr>
          <p:cNvPr id="34" name="connector-72"/>
          <p:cNvSpPr/>
          <p:nvPr/>
        </p:nvSpPr>
        <p:spPr>
          <a:xfrm flipV="1">
            <a:off x="3218688" y="4361688"/>
            <a:ext cx="0" cy="256032"/>
          </a:xfrm>
          <a:prstGeom prst="line">
            <a:avLst/>
          </a:prstGeom>
          <a:noFill/>
          <a:ln w="19050">
            <a:solidFill>
              <a:srgbClr val="D9822B"/>
            </a:solidFill>
            <a:prstDash val="dash"/>
            <a:tailEnd type="triangle"/>
          </a:ln>
        </p:spPr>
      </p:sp>
      <p:sp>
        <p:nvSpPr>
          <p:cNvPr id="35" name="flow-label-73"/>
          <p:cNvSpPr txBox="1"/>
          <p:nvPr/>
        </p:nvSpPr>
        <p:spPr>
          <a:xfrm>
            <a:off x="3218688" y="4636008"/>
            <a:ext cx="1234440" cy="219456"/>
          </a:xfrm>
          <a:prstGeom prst="rect">
            <a:avLst/>
          </a:prstGeom>
          <a:noFill/>
          <a:ln/>
        </p:spPr>
        <p:txBody>
          <a:bodyPr wrap="square" lIns="0" tIns="0" rIns="0" bIns="0" rtlCol="0" anchor="ctr"/>
          <a:lstStyle/>
          <a:p>
            <a:pPr algn="ctr" indent="0" marL="0">
              <a:buNone/>
            </a:pPr>
            <a:r>
              <a:rPr lang="en-US" sz="850" b="1" dirty="0">
                <a:solidFill>
                  <a:srgbClr val="D9822B"/>
                </a:solidFill>
              </a:rPr>
              <a:t>Dikembalikan: Revisi Perencanaan</a:t>
            </a:r>
            <a:endParaRPr lang="en-US" sz="850" dirty="0"/>
          </a:p>
        </p:txBody>
      </p:sp>
      <p:sp>
        <p:nvSpPr>
          <p:cNvPr id="36" name="connector-74"/>
          <p:cNvSpPr/>
          <p:nvPr/>
        </p:nvSpPr>
        <p:spPr>
          <a:xfrm>
            <a:off x="6711696" y="4343400"/>
            <a:ext cx="0" cy="274320"/>
          </a:xfrm>
          <a:prstGeom prst="line">
            <a:avLst/>
          </a:prstGeom>
          <a:noFill/>
          <a:ln w="19050">
            <a:solidFill>
              <a:srgbClr val="D9822B"/>
            </a:solidFill>
            <a:prstDash val="dash"/>
          </a:ln>
        </p:spPr>
      </p:sp>
      <p:sp>
        <p:nvSpPr>
          <p:cNvPr id="37" name="connector-75"/>
          <p:cNvSpPr/>
          <p:nvPr/>
        </p:nvSpPr>
        <p:spPr>
          <a:xfrm flipH="1">
            <a:off x="5477256" y="4617720"/>
            <a:ext cx="1234440" cy="0"/>
          </a:xfrm>
          <a:prstGeom prst="line">
            <a:avLst/>
          </a:prstGeom>
          <a:noFill/>
          <a:ln w="19050">
            <a:solidFill>
              <a:srgbClr val="D9822B"/>
            </a:solidFill>
            <a:prstDash val="dash"/>
          </a:ln>
        </p:spPr>
      </p:sp>
      <p:sp>
        <p:nvSpPr>
          <p:cNvPr id="38" name="connector-76"/>
          <p:cNvSpPr/>
          <p:nvPr/>
        </p:nvSpPr>
        <p:spPr>
          <a:xfrm flipV="1">
            <a:off x="5477256" y="4361688"/>
            <a:ext cx="0" cy="256032"/>
          </a:xfrm>
          <a:prstGeom prst="line">
            <a:avLst/>
          </a:prstGeom>
          <a:noFill/>
          <a:ln w="19050">
            <a:solidFill>
              <a:srgbClr val="D9822B"/>
            </a:solidFill>
            <a:prstDash val="dash"/>
            <a:tailEnd type="triangle"/>
          </a:ln>
        </p:spPr>
      </p:sp>
      <p:sp>
        <p:nvSpPr>
          <p:cNvPr id="39" name="flow-label-77"/>
          <p:cNvSpPr txBox="1"/>
          <p:nvPr/>
        </p:nvSpPr>
        <p:spPr>
          <a:xfrm>
            <a:off x="5477256" y="4636008"/>
            <a:ext cx="1234440" cy="219456"/>
          </a:xfrm>
          <a:prstGeom prst="rect">
            <a:avLst/>
          </a:prstGeom>
          <a:noFill/>
          <a:ln/>
        </p:spPr>
        <p:txBody>
          <a:bodyPr wrap="square" lIns="0" tIns="0" rIns="0" bIns="0" rtlCol="0" anchor="ctr"/>
          <a:lstStyle/>
          <a:p>
            <a:pPr algn="ctr" indent="0" marL="0">
              <a:buNone/>
            </a:pPr>
            <a:r>
              <a:rPr lang="en-US" sz="850" b="1" dirty="0">
                <a:solidFill>
                  <a:srgbClr val="D9822B"/>
                </a:solidFill>
              </a:rPr>
              <a:t>Dikembalikan: Revisi Pelaksanaan</a:t>
            </a:r>
            <a:endParaRPr lang="en-US" sz="850" dirty="0"/>
          </a:p>
        </p:txBody>
      </p:sp>
      <p:sp>
        <p:nvSpPr>
          <p:cNvPr id="40" name="Text 38"/>
          <p:cNvSpPr txBox="1"/>
          <p:nvPr/>
        </p:nvSpPr>
        <p:spPr>
          <a:xfrm>
            <a:off x="2807208" y="4910328"/>
            <a:ext cx="5687568" cy="228600"/>
          </a:xfrm>
          <a:prstGeom prst="rect">
            <a:avLst/>
          </a:prstGeom>
          <a:noFill/>
          <a:ln/>
        </p:spPr>
        <p:txBody>
          <a:bodyPr wrap="square" lIns="0" tIns="0" rIns="0" bIns="0" rtlCol="0" anchor="ctr"/>
          <a:lstStyle/>
          <a:p>
            <a:pPr indent="0" marL="0">
              <a:buNone/>
            </a:pPr>
            <a:r>
              <a:rPr lang="en-US" sz="900" i="1" dirty="0">
                <a:solidFill>
                  <a:srgbClr val="5B6B7C"/>
                </a:solidFill>
              </a:rPr>
              <a:t>Jalur langsung: pengadaan dapat dibuat TL Pengadaan tanpa usulan, langsung masuk Perencanaan.</a:t>
            </a:r>
            <a:endParaRPr lang="en-US" sz="900" dirty="0"/>
          </a:p>
        </p:txBody>
      </p:sp>
      <p:sp>
        <p:nvSpPr>
          <p:cNvPr id="41" name="support-78"/>
          <p:cNvSpPr/>
          <p:nvPr/>
        </p:nvSpPr>
        <p:spPr>
          <a:xfrm>
            <a:off x="548640" y="5504688"/>
            <a:ext cx="11094415" cy="777240"/>
          </a:xfrm>
          <a:prstGeom prst="rect">
            <a:avLst/>
          </a:prstGeom>
          <a:solidFill>
            <a:srgbClr val="F2F4F7"/>
          </a:solidFill>
          <a:ln w="6350">
            <a:solidFill>
              <a:srgbClr val="CDD5DF"/>
            </a:solidFill>
            <a:prstDash val="solid"/>
          </a:ln>
        </p:spPr>
      </p:sp>
      <p:sp>
        <p:nvSpPr>
          <p:cNvPr id="42" name="Text 40"/>
          <p:cNvSpPr txBox="1"/>
          <p:nvPr/>
        </p:nvSpPr>
        <p:spPr>
          <a:xfrm>
            <a:off x="713232" y="5504688"/>
            <a:ext cx="1645920" cy="777240"/>
          </a:xfrm>
          <a:prstGeom prst="rect">
            <a:avLst/>
          </a:prstGeom>
          <a:noFill/>
          <a:ln/>
        </p:spPr>
        <p:txBody>
          <a:bodyPr wrap="square" lIns="0" tIns="0" rIns="0" bIns="0" rtlCol="0" anchor="ctr"/>
          <a:lstStyle/>
          <a:p>
            <a:pPr indent="0" marL="0">
              <a:buNone/>
            </a:pPr>
            <a:r>
              <a:rPr lang="en-US" sz="950" b="1" spc="100" kern="0" dirty="0">
                <a:solidFill>
                  <a:srgbClr val="0E2F56"/>
                </a:solidFill>
              </a:rPr>
              <a:t>PROSES PENDUKUNG</a:t>
            </a:r>
            <a:endParaRPr lang="en-US" sz="950" dirty="0"/>
          </a:p>
        </p:txBody>
      </p:sp>
      <p:sp>
        <p:nvSpPr>
          <p:cNvPr id="43" name="support-chip-79"/>
          <p:cNvSpPr/>
          <p:nvPr/>
        </p:nvSpPr>
        <p:spPr>
          <a:xfrm>
            <a:off x="2377440" y="5687568"/>
            <a:ext cx="1737360" cy="411480"/>
          </a:xfrm>
          <a:prstGeom prst="rect">
            <a:avLst/>
          </a:prstGeom>
          <a:solidFill>
            <a:srgbClr val="FFFFFF"/>
          </a:solidFill>
          <a:ln w="9525">
            <a:solidFill>
              <a:srgbClr val="1F6FB2"/>
            </a:solidFill>
            <a:prstDash val="solid"/>
          </a:ln>
        </p:spPr>
      </p:sp>
      <p:sp>
        <p:nvSpPr>
          <p:cNvPr id="44" name="Text 42"/>
          <p:cNvSpPr txBox="1"/>
          <p:nvPr/>
        </p:nvSpPr>
        <p:spPr>
          <a:xfrm>
            <a:off x="2377440" y="5687568"/>
            <a:ext cx="1737360" cy="411480"/>
          </a:xfrm>
          <a:prstGeom prst="rect">
            <a:avLst/>
          </a:prstGeom>
          <a:noFill/>
          <a:ln/>
        </p:spPr>
        <p:txBody>
          <a:bodyPr wrap="square" lIns="0" tIns="0" rIns="0" bIns="0" rtlCol="0" anchor="ctr"/>
          <a:lstStyle/>
          <a:p>
            <a:pPr algn="ctr" indent="0" marL="0">
              <a:buNone/>
            </a:pPr>
            <a:r>
              <a:rPr lang="en-US" sz="1000" b="1" dirty="0">
                <a:solidFill>
                  <a:srgbClr val="0E2F56"/>
                </a:solidFill>
              </a:rPr>
              <a:t>Amandemen Kontrak</a:t>
            </a:r>
            <a:endParaRPr lang="en-US" sz="1000" dirty="0"/>
          </a:p>
        </p:txBody>
      </p:sp>
      <p:sp>
        <p:nvSpPr>
          <p:cNvPr id="45" name="support-chip-80"/>
          <p:cNvSpPr/>
          <p:nvPr/>
        </p:nvSpPr>
        <p:spPr>
          <a:xfrm>
            <a:off x="4233672" y="5687568"/>
            <a:ext cx="1737360" cy="411480"/>
          </a:xfrm>
          <a:prstGeom prst="rect">
            <a:avLst/>
          </a:prstGeom>
          <a:solidFill>
            <a:srgbClr val="FFFFFF"/>
          </a:solidFill>
          <a:ln w="9525">
            <a:solidFill>
              <a:srgbClr val="1F6FB2"/>
            </a:solidFill>
            <a:prstDash val="solid"/>
          </a:ln>
        </p:spPr>
      </p:sp>
      <p:sp>
        <p:nvSpPr>
          <p:cNvPr id="46" name="Text 44"/>
          <p:cNvSpPr txBox="1"/>
          <p:nvPr/>
        </p:nvSpPr>
        <p:spPr>
          <a:xfrm>
            <a:off x="4233672" y="5687568"/>
            <a:ext cx="1737360" cy="411480"/>
          </a:xfrm>
          <a:prstGeom prst="rect">
            <a:avLst/>
          </a:prstGeom>
          <a:noFill/>
          <a:ln/>
        </p:spPr>
        <p:txBody>
          <a:bodyPr wrap="square" lIns="0" tIns="0" rIns="0" bIns="0" rtlCol="0" anchor="ctr"/>
          <a:lstStyle/>
          <a:p>
            <a:pPr algn="ctr" indent="0" marL="0">
              <a:buNone/>
            </a:pPr>
            <a:r>
              <a:rPr lang="en-US" sz="1000" b="1" dirty="0">
                <a:solidFill>
                  <a:srgbClr val="0E2F56"/>
                </a:solidFill>
              </a:rPr>
              <a:t>Delivery Order (KHS)</a:t>
            </a:r>
            <a:endParaRPr lang="en-US" sz="1000" dirty="0"/>
          </a:p>
        </p:txBody>
      </p:sp>
      <p:sp>
        <p:nvSpPr>
          <p:cNvPr id="47" name="support-chip-81"/>
          <p:cNvSpPr/>
          <p:nvPr/>
        </p:nvSpPr>
        <p:spPr>
          <a:xfrm>
            <a:off x="6089904" y="5687568"/>
            <a:ext cx="1737360" cy="411480"/>
          </a:xfrm>
          <a:prstGeom prst="rect">
            <a:avLst/>
          </a:prstGeom>
          <a:solidFill>
            <a:srgbClr val="FFFFFF"/>
          </a:solidFill>
          <a:ln w="9525">
            <a:solidFill>
              <a:srgbClr val="1F6FB2"/>
            </a:solidFill>
            <a:prstDash val="solid"/>
          </a:ln>
        </p:spPr>
      </p:sp>
      <p:sp>
        <p:nvSpPr>
          <p:cNvPr id="48" name="Text 46"/>
          <p:cNvSpPr txBox="1"/>
          <p:nvPr/>
        </p:nvSpPr>
        <p:spPr>
          <a:xfrm>
            <a:off x="6089904" y="5687568"/>
            <a:ext cx="1737360" cy="411480"/>
          </a:xfrm>
          <a:prstGeom prst="rect">
            <a:avLst/>
          </a:prstGeom>
          <a:noFill/>
          <a:ln/>
        </p:spPr>
        <p:txBody>
          <a:bodyPr wrap="square" lIns="0" tIns="0" rIns="0" bIns="0" rtlCol="0" anchor="ctr"/>
          <a:lstStyle/>
          <a:p>
            <a:pPr algn="ctr" indent="0" marL="0">
              <a:buNone/>
            </a:pPr>
            <a:r>
              <a:rPr lang="en-US" sz="1000" b="1" dirty="0">
                <a:solidFill>
                  <a:srgbClr val="0E2F56"/>
                </a:solidFill>
              </a:rPr>
              <a:t>Riwayat Approval</a:t>
            </a:r>
            <a:endParaRPr lang="en-US" sz="1000" dirty="0"/>
          </a:p>
        </p:txBody>
      </p:sp>
      <p:sp>
        <p:nvSpPr>
          <p:cNvPr id="49" name="support-chip-82"/>
          <p:cNvSpPr/>
          <p:nvPr/>
        </p:nvSpPr>
        <p:spPr>
          <a:xfrm>
            <a:off x="7946136" y="5687568"/>
            <a:ext cx="1737360" cy="411480"/>
          </a:xfrm>
          <a:prstGeom prst="rect">
            <a:avLst/>
          </a:prstGeom>
          <a:solidFill>
            <a:srgbClr val="FFFFFF"/>
          </a:solidFill>
          <a:ln w="9525">
            <a:solidFill>
              <a:srgbClr val="1F6FB2"/>
            </a:solidFill>
            <a:prstDash val="solid"/>
          </a:ln>
        </p:spPr>
      </p:sp>
      <p:sp>
        <p:nvSpPr>
          <p:cNvPr id="50" name="Text 48"/>
          <p:cNvSpPr txBox="1"/>
          <p:nvPr/>
        </p:nvSpPr>
        <p:spPr>
          <a:xfrm>
            <a:off x="7946136" y="5687568"/>
            <a:ext cx="1737360" cy="411480"/>
          </a:xfrm>
          <a:prstGeom prst="rect">
            <a:avLst/>
          </a:prstGeom>
          <a:noFill/>
          <a:ln/>
        </p:spPr>
        <p:txBody>
          <a:bodyPr wrap="square" lIns="0" tIns="0" rIns="0" bIns="0" rtlCol="0" anchor="ctr"/>
          <a:lstStyle/>
          <a:p>
            <a:pPr algn="ctr" indent="0" marL="0">
              <a:buNone/>
            </a:pPr>
            <a:r>
              <a:rPr lang="en-US" sz="1000" b="1" dirty="0">
                <a:solidFill>
                  <a:srgbClr val="0E2F56"/>
                </a:solidFill>
              </a:rPr>
              <a:t>Notifikasi tiap tahap</a:t>
            </a:r>
            <a:endParaRPr lang="en-US" sz="1000" dirty="0"/>
          </a:p>
        </p:txBody>
      </p:sp>
      <p:sp>
        <p:nvSpPr>
          <p:cNvPr id="51" name="support-chip-83"/>
          <p:cNvSpPr/>
          <p:nvPr/>
        </p:nvSpPr>
        <p:spPr>
          <a:xfrm>
            <a:off x="9802368" y="5687568"/>
            <a:ext cx="1737360" cy="411480"/>
          </a:xfrm>
          <a:prstGeom prst="rect">
            <a:avLst/>
          </a:prstGeom>
          <a:solidFill>
            <a:srgbClr val="FFFFFF"/>
          </a:solidFill>
          <a:ln w="9525">
            <a:solidFill>
              <a:srgbClr val="1F6FB2"/>
            </a:solidFill>
            <a:prstDash val="solid"/>
          </a:ln>
        </p:spPr>
      </p:sp>
      <p:sp>
        <p:nvSpPr>
          <p:cNvPr id="52" name="Text 50"/>
          <p:cNvSpPr txBox="1"/>
          <p:nvPr/>
        </p:nvSpPr>
        <p:spPr>
          <a:xfrm>
            <a:off x="9802368" y="5687568"/>
            <a:ext cx="1737360" cy="411480"/>
          </a:xfrm>
          <a:prstGeom prst="rect">
            <a:avLst/>
          </a:prstGeom>
          <a:noFill/>
          <a:ln/>
        </p:spPr>
        <p:txBody>
          <a:bodyPr wrap="square" lIns="0" tIns="0" rIns="0" bIns="0" rtlCol="0" anchor="ctr"/>
          <a:lstStyle/>
          <a:p>
            <a:pPr algn="ctr" indent="0" marL="0">
              <a:buNone/>
            </a:pPr>
            <a:r>
              <a:rPr lang="en-US" sz="1000" b="1" dirty="0">
                <a:solidFill>
                  <a:srgbClr val="0E2F56"/>
                </a:solidFill>
              </a:rPr>
              <a:t>Monitoring per mitra</a:t>
            </a:r>
            <a:endParaRPr lang="en-US" sz="1000" dirty="0"/>
          </a:p>
        </p:txBody>
      </p:sp>
      <p:sp>
        <p:nvSpPr>
          <p:cNvPr id="25" name="Slide Number Placeholder 0"/>
          <p:cNvSpPr>
            <a:spLocks noGrp="1"/>
          </p:cNvSpPr>
          <p:nvPr>
            <p:ph type="sldNum" sz="quarter" idx="4294967295"/>
          </p:nvPr>
        </p:nvSpPr>
        <p:spPr>
          <a:xfrm>
            <a:off x="11094415" y="646480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548640" y="896112"/>
            <a:ext cx="7680960" cy="502920"/>
          </a:xfrm>
          <a:prstGeom prst="rect">
            <a:avLst/>
          </a:prstGeom>
          <a:noFill/>
          <a:ln/>
        </p:spPr>
        <p:txBody>
          <a:bodyPr wrap="square" lIns="0" tIns="0" rIns="0" bIns="0" rtlCol="0" anchor="ctr"/>
          <a:lstStyle/>
          <a:p>
            <a:pPr algn="l" indent="0" marL="0">
              <a:buNone/>
            </a:pPr>
            <a:r>
              <a:rPr lang="en-US" sz="2400" b="1" dirty="0">
                <a:solidFill>
                  <a:srgbClr val="0E2F56"/>
                </a:solidFill>
              </a:rPr>
              <a:t>Aktor dan tanggung jawab</a:t>
            </a:r>
            <a:endParaRPr lang="en-US" sz="2400" dirty="0"/>
          </a:p>
        </p:txBody>
      </p:sp>
      <p:sp>
        <p:nvSpPr>
          <p:cNvPr id="3" name="Text 2"/>
          <p:cNvSpPr/>
          <p:nvPr>
            <p:ph idx="103" type="body" hasCustomPrompt="1"/>
          </p:nvPr>
        </p:nvSpPr>
        <p:spPr>
          <a:xfrm>
            <a:off x="548640" y="1371600"/>
            <a:ext cx="7680960" cy="292608"/>
          </a:xfrm>
          <a:prstGeom prst="rect">
            <a:avLst/>
          </a:prstGeom>
          <a:noFill/>
          <a:ln/>
        </p:spPr>
        <p:txBody>
          <a:bodyPr wrap="square" lIns="0" tIns="0" rIns="0" bIns="0" rtlCol="0" anchor="t"/>
          <a:lstStyle/>
          <a:p>
            <a:pPr algn="l" indent="0" marL="0">
              <a:buNone/>
            </a:pPr>
            <a:r>
              <a:rPr lang="en-US" sz="1200" dirty="0">
                <a:solidFill>
                  <a:srgbClr val="5B6B7C"/>
                </a:solidFill>
              </a:rPr>
              <a:t>Hak bawaan per peran; Administrator dapat mengubahnya lewat Administrasi &gt; Hak Akses.</a:t>
            </a:r>
            <a:endParaRPr lang="en-US" sz="1200" dirty="0"/>
          </a:p>
        </p:txBody>
      </p:sp>
      <p:graphicFrame>
        <p:nvGraphicFramePr>
          <p:cNvPr id="5" name="table-84"/>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914400"/>
        </p:xfrm>
        <a:graphic>
          <a:graphicData uri="http://schemas.openxmlformats.org/drawingml/2006/table">
            <a:tbl>
              <a:tblPr/>
              <a:tblGrid>
                <a:gridCol w="2148840"/>
                <a:gridCol w="5166360"/>
                <a:gridCol w="603504"/>
                <a:gridCol w="603504"/>
                <a:gridCol w="603504"/>
                <a:gridCol w="603504"/>
                <a:gridCol w="603504"/>
                <a:gridCol w="758952"/>
              </a:tblGrid>
              <a:tr h="438912">
                <a:tc>
                  <a:txBody>
                    <a:bodyPr/>
                    <a:lstStyle/>
                    <a:p>
                      <a:pPr algn="l" indent="0" marL="0">
                        <a:buNone/>
                      </a:pPr>
                      <a:r>
                        <a:rPr lang="en-US" sz="1000" b="1" dirty="0">
                          <a:solidFill>
                            <a:srgbClr val="FFFFFF"/>
                          </a:solidFill>
                        </a:rPr>
                        <a:t>Aktor</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0E2F56"/>
                    </a:solidFill>
                  </a:tcPr>
                </a:tc>
                <a:tc>
                  <a:txBody>
                    <a:bodyPr/>
                    <a:lstStyle/>
                    <a:p>
                      <a:pPr algn="l" indent="0" marL="0">
                        <a:buNone/>
                      </a:pPr>
                      <a:r>
                        <a:rPr lang="en-US" sz="1000" b="1" dirty="0">
                          <a:solidFill>
                            <a:srgbClr val="FFFFFF"/>
                          </a:solidFill>
                        </a:rPr>
                        <a:t>Tanggung jawab utama</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0E2F56"/>
                    </a:solidFill>
                  </a:tcPr>
                </a:tc>
                <a:tc>
                  <a:txBody>
                    <a:bodyPr/>
                    <a:lstStyle/>
                    <a:p>
                      <a:pPr algn="ctr" indent="0" marL="0">
                        <a:buNone/>
                      </a:pPr>
                      <a:r>
                        <a:rPr lang="en-US" sz="1000" b="1" dirty="0">
                          <a:solidFill>
                            <a:srgbClr val="FFFFFF"/>
                          </a:solidFill>
                        </a:rPr>
                        <a:t>Usulan</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0E2F56"/>
                    </a:solidFill>
                  </a:tcPr>
                </a:tc>
                <a:tc>
                  <a:txBody>
                    <a:bodyPr/>
                    <a:lstStyle/>
                    <a:p>
                      <a:pPr algn="ctr" indent="0" marL="0">
                        <a:buNone/>
                      </a:pPr>
                      <a:r>
                        <a:rPr lang="en-US" sz="1000" b="1" dirty="0">
                          <a:solidFill>
                            <a:srgbClr val="FFFFFF"/>
                          </a:solidFill>
                        </a:rPr>
                        <a:t>Renc.</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0E2F56"/>
                    </a:solidFill>
                  </a:tcPr>
                </a:tc>
                <a:tc>
                  <a:txBody>
                    <a:bodyPr/>
                    <a:lstStyle/>
                    <a:p>
                      <a:pPr algn="ctr" indent="0" marL="0">
                        <a:buNone/>
                      </a:pPr>
                      <a:r>
                        <a:rPr lang="en-US" sz="1000" b="1" dirty="0">
                          <a:solidFill>
                            <a:srgbClr val="FFFFFF"/>
                          </a:solidFill>
                        </a:rPr>
                        <a:t>Pelak.</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0E2F56"/>
                    </a:solidFill>
                  </a:tcPr>
                </a:tc>
                <a:tc>
                  <a:txBody>
                    <a:bodyPr/>
                    <a:lstStyle/>
                    <a:p>
                      <a:pPr algn="ctr" indent="0" marL="0">
                        <a:buNone/>
                      </a:pPr>
                      <a:r>
                        <a:rPr lang="en-US" sz="1000" b="1" dirty="0">
                          <a:solidFill>
                            <a:srgbClr val="FFFFFF"/>
                          </a:solidFill>
                        </a:rPr>
                        <a:t>Penyr.</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0E2F56"/>
                    </a:solidFill>
                  </a:tcPr>
                </a:tc>
                <a:tc>
                  <a:txBody>
                    <a:bodyPr/>
                    <a:lstStyle/>
                    <a:p>
                      <a:pPr algn="ctr" indent="0" marL="0">
                        <a:buNone/>
                      </a:pPr>
                      <a:r>
                        <a:rPr lang="en-US" sz="1000" b="1" dirty="0">
                          <a:solidFill>
                            <a:srgbClr val="FFFFFF"/>
                          </a:solidFill>
                        </a:rPr>
                        <a:t>Bayar</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0E2F56"/>
                    </a:solidFill>
                  </a:tcPr>
                </a:tc>
                <a:tc>
                  <a:txBody>
                    <a:bodyPr/>
                    <a:lstStyle/>
                    <a:p>
                      <a:pPr algn="ctr" indent="0" marL="0">
                        <a:buNone/>
                      </a:pPr>
                      <a:r>
                        <a:rPr lang="en-US" sz="1000" b="1" dirty="0">
                          <a:solidFill>
                            <a:srgbClr val="FFFFFF"/>
                          </a:solidFill>
                        </a:rPr>
                        <a:t>Amd/DO</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0E2F56"/>
                    </a:solidFill>
                  </a:tcPr>
                </a:tc>
              </a:tr>
              <a:tr h="438912">
                <a:tc>
                  <a:txBody>
                    <a:bodyPr/>
                    <a:lstStyle/>
                    <a:p>
                      <a:pPr indent="0" marL="0">
                        <a:buNone/>
                      </a:pPr>
                      <a:r>
                        <a:rPr lang="en-US" sz="1000" b="1" dirty="0">
                          <a:solidFill>
                            <a:srgbClr val="0E2F56"/>
                          </a:solidFill>
                        </a:rPr>
                        <a:t>Pengusul</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indent="0" marL="0">
                        <a:buNone/>
                      </a:pPr>
                      <a:r>
                        <a:rPr lang="en-US" sz="1000" dirty="0">
                          <a:solidFill>
                            <a:srgbClr val="1F2D3D"/>
                          </a:solidFill>
                        </a:rPr>
                        <a:t>Mengisi usulan, mengunggah TOR dan Nota Dinas Usulan, memperbaiki usulan yang dikembalikan; mengajukan Amandemen dan DO.</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1E7B4F"/>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5B6B7C"/>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5B6B7C"/>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5B6B7C"/>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5B6B7C"/>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1E7B4F"/>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r>
              <a:tr h="438912">
                <a:tc>
                  <a:txBody>
                    <a:bodyPr/>
                    <a:lstStyle/>
                    <a:p>
                      <a:pPr indent="0" marL="0">
                        <a:buNone/>
                      </a:pPr>
                      <a:r>
                        <a:rPr lang="en-US" sz="1000" b="1" dirty="0">
                          <a:solidFill>
                            <a:srgbClr val="0E2F56"/>
                          </a:solidFill>
                        </a:rPr>
                        <a:t>TL Atasan</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indent="0" marL="0">
                        <a:buNone/>
                      </a:pPr>
                      <a:r>
                        <a:rPr lang="en-US" sz="1000" dirty="0">
                          <a:solidFill>
                            <a:srgbClr val="1F2D3D"/>
                          </a:solidFill>
                        </a:rPr>
                        <a:t>Persetujuan pertama usulan staf; persetujuan TL pada Amandemen dan DO.</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B4F"/>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B6B7C"/>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B6B7C"/>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B6B7C"/>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B6B7C"/>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B4F"/>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r>
              <a:tr h="438912">
                <a:tc>
                  <a:txBody>
                    <a:bodyPr/>
                    <a:lstStyle/>
                    <a:p>
                      <a:pPr indent="0" marL="0">
                        <a:buNone/>
                      </a:pPr>
                      <a:r>
                        <a:rPr lang="en-US" sz="1000" b="1" dirty="0">
                          <a:solidFill>
                            <a:srgbClr val="0E2F56"/>
                          </a:solidFill>
                        </a:rPr>
                        <a:t>Direksi Pekerjaan (Asman)</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indent="0" marL="0">
                        <a:buNone/>
                      </a:pPr>
                      <a:r>
                        <a:rPr lang="en-US" sz="1000" dirty="0">
                          <a:solidFill>
                            <a:srgbClr val="1F2D3D"/>
                          </a:solidFill>
                        </a:rPr>
                        <a:t>Meninjau dan menyetujui / mengembalikan usulan bidangnya; persetujuan Asman pada Amandemen dan DO.</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1E7B4F"/>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5B6B7C"/>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5B6B7C"/>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5B6B7C"/>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5B6B7C"/>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1E7B4F"/>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r>
              <a:tr h="438912">
                <a:tc>
                  <a:txBody>
                    <a:bodyPr/>
                    <a:lstStyle/>
                    <a:p>
                      <a:pPr indent="0" marL="0">
                        <a:buNone/>
                      </a:pPr>
                      <a:r>
                        <a:rPr lang="en-US" sz="1000" b="1" dirty="0">
                          <a:solidFill>
                            <a:srgbClr val="0E2F56"/>
                          </a:solidFill>
                        </a:rPr>
                        <a:t>TL ICC</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indent="0" marL="0">
                        <a:buNone/>
                      </a:pPr>
                      <a:r>
                        <a:rPr lang="en-US" sz="1000" dirty="0">
                          <a:solidFill>
                            <a:srgbClr val="1F2D3D"/>
                          </a:solidFill>
                        </a:rPr>
                        <a:t>Menunjuk PIC Perencana; menyetujui / mengembalikan perencanaan; dapat mengisi Nota Dinas DO (Rendan).</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B6B7C"/>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B4F"/>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B6B7C"/>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B6B7C"/>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B6B7C"/>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B4F"/>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r>
              <a:tr h="438912">
                <a:tc>
                  <a:txBody>
                    <a:bodyPr/>
                    <a:lstStyle/>
                    <a:p>
                      <a:pPr indent="0" marL="0">
                        <a:buNone/>
                      </a:pPr>
                      <a:r>
                        <a:rPr lang="en-US" sz="1000" b="1" dirty="0">
                          <a:solidFill>
                            <a:srgbClr val="0E2F56"/>
                          </a:solidFill>
                        </a:rPr>
                        <a:t>PIC Perencana (Rendan)</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indent="0" marL="0">
                        <a:buNone/>
                      </a:pPr>
                      <a:r>
                        <a:rPr lang="en-US" sz="1000" dirty="0">
                          <a:solidFill>
                            <a:srgbClr val="1F2D3D"/>
                          </a:solidFill>
                        </a:rPr>
                        <a:t>Menyusun checklist dan dokumen perencanaan, memilih Kategori, mengajukan; mengisi Nota Dinas DO.</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5B6B7C"/>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1E7B4F"/>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5B6B7C"/>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5B6B7C"/>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5B6B7C"/>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1E7B4F"/>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r>
              <a:tr h="438912">
                <a:tc>
                  <a:txBody>
                    <a:bodyPr/>
                    <a:lstStyle/>
                    <a:p>
                      <a:pPr indent="0" marL="0">
                        <a:buNone/>
                      </a:pPr>
                      <a:r>
                        <a:rPr lang="en-US" sz="1000" b="1" dirty="0">
                          <a:solidFill>
                            <a:srgbClr val="0E2F56"/>
                          </a:solidFill>
                        </a:rPr>
                        <a:t>TL Pengadaan</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indent="0" marL="0">
                        <a:buNone/>
                      </a:pPr>
                      <a:r>
                        <a:rPr lang="en-US" sz="1000" dirty="0">
                          <a:solidFill>
                            <a:srgbClr val="1F2D3D"/>
                          </a:solidFill>
                        </a:rPr>
                        <a:t>Melengkapi data pengadaan, menunjuk PIC Pelaksana, menyetujui pelaksanaan dan meneruskan ke Keuangan; Laksdan.</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B6B7C"/>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B4F"/>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B4F"/>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B6B7C"/>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B6B7C"/>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B4F"/>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r>
              <a:tr h="438912">
                <a:tc>
                  <a:txBody>
                    <a:bodyPr/>
                    <a:lstStyle/>
                    <a:p>
                      <a:pPr indent="0" marL="0">
                        <a:buNone/>
                      </a:pPr>
                      <a:r>
                        <a:rPr lang="en-US" sz="1000" b="1" dirty="0">
                          <a:solidFill>
                            <a:srgbClr val="0E2F56"/>
                          </a:solidFill>
                        </a:rPr>
                        <a:t>PIC Pelaksana (Laksdan)</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indent="0" marL="0">
                        <a:buNone/>
                      </a:pPr>
                      <a:r>
                        <a:rPr lang="en-US" sz="1000" dirty="0">
                          <a:solidFill>
                            <a:srgbClr val="1F2D3D"/>
                          </a:solidFill>
                        </a:rPr>
                        <a:t>Menyusun checklist pelaksanaan, mengisi Nomor Kontrak, mengajukan; menerbitkan Amandemen dan DO.</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5B6B7C"/>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5B6B7C"/>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1E7B4F"/>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5B6B7C"/>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5B6B7C"/>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1E7B4F"/>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r>
              <a:tr h="438912">
                <a:tc>
                  <a:txBody>
                    <a:bodyPr/>
                    <a:lstStyle/>
                    <a:p>
                      <a:pPr indent="0" marL="0">
                        <a:buNone/>
                      </a:pPr>
                      <a:r>
                        <a:rPr lang="en-US" sz="1000" b="1" dirty="0">
                          <a:solidFill>
                            <a:srgbClr val="0E2F56"/>
                          </a:solidFill>
                        </a:rPr>
                        <a:t>Keuangan</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indent="0" marL="0">
                        <a:buNone/>
                      </a:pPr>
                      <a:r>
                        <a:rPr lang="en-US" sz="1000" dirty="0">
                          <a:solidFill>
                            <a:srgbClr val="1F2D3D"/>
                          </a:solidFill>
                        </a:rPr>
                        <a:t>Mengunggah berkas Penyerahan dan Pembayaran, lalu Pembayaran Lunas dan Tutup Pengadaan.</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B6B7C"/>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B6B7C"/>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B6B7C"/>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B4F"/>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B4F"/>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5B6B7C"/>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r>
              <a:tr h="438912">
                <a:tc>
                  <a:txBody>
                    <a:bodyPr/>
                    <a:lstStyle/>
                    <a:p>
                      <a:pPr indent="0" marL="0">
                        <a:buNone/>
                      </a:pPr>
                      <a:r>
                        <a:rPr lang="en-US" sz="1000" b="1" dirty="0">
                          <a:solidFill>
                            <a:srgbClr val="0E2F56"/>
                          </a:solidFill>
                        </a:rPr>
                        <a:t>Administrator</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indent="0" marL="0">
                        <a:buNone/>
                      </a:pPr>
                      <a:r>
                        <a:rPr lang="en-US" sz="1000" dirty="0">
                          <a:solidFill>
                            <a:srgbClr val="1F2D3D"/>
                          </a:solidFill>
                        </a:rPr>
                        <a:t>Seluruh hak; mengelola Data Master, pengguna, dan matriks Hak Akses.</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1E7B4F"/>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1E7B4F"/>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1E7B4F"/>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1E7B4F"/>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1E7B4F"/>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algn="ctr" indent="0" marL="0">
                        <a:buNone/>
                      </a:pPr>
                      <a:r>
                        <a:rPr lang="en-US" sz="1000" dirty="0">
                          <a:solidFill>
                            <a:srgbClr val="1E7B4F"/>
                          </a:solidFill>
                        </a:rPr>
                        <a:t>●</a:t>
                      </a:r>
                      <a:endParaRPr lang="en-US" sz="10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r>
            </a:tbl>
          </a:graphicData>
        </a:graphic>
      </p:graphicFrame>
      <p:sp>
        <p:nvSpPr>
          <p:cNvPr id="25" name="Slide Number Placeholder 0"/>
          <p:cNvSpPr>
            <a:spLocks noGrp="1"/>
          </p:cNvSpPr>
          <p:nvPr>
            <p:ph type="sldNum" sz="quarter" idx="4294967295"/>
          </p:nvPr>
        </p:nvSpPr>
        <p:spPr>
          <a:xfrm>
            <a:off x="11094415" y="646480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548640" y="896112"/>
            <a:ext cx="7680960" cy="502920"/>
          </a:xfrm>
          <a:prstGeom prst="rect">
            <a:avLst/>
          </a:prstGeom>
          <a:noFill/>
          <a:ln/>
        </p:spPr>
        <p:txBody>
          <a:bodyPr wrap="square" lIns="0" tIns="0" rIns="0" bIns="0" rtlCol="0" anchor="ctr"/>
          <a:lstStyle/>
          <a:p>
            <a:pPr algn="l" indent="0" marL="0">
              <a:buNone/>
            </a:pPr>
            <a:r>
              <a:rPr lang="en-US" sz="2400" b="1" dirty="0">
                <a:solidFill>
                  <a:srgbClr val="0E2F56"/>
                </a:solidFill>
              </a:rPr>
              <a:t>Tahap 1  Usulan Pekerjaan</a:t>
            </a:r>
            <a:endParaRPr lang="en-US" sz="2400" dirty="0"/>
          </a:p>
        </p:txBody>
      </p:sp>
      <p:sp>
        <p:nvSpPr>
          <p:cNvPr id="3" name="Text 2"/>
          <p:cNvSpPr/>
          <p:nvPr>
            <p:ph idx="103" type="body" hasCustomPrompt="1"/>
          </p:nvPr>
        </p:nvSpPr>
        <p:spPr>
          <a:xfrm>
            <a:off x="548640" y="1371600"/>
            <a:ext cx="7680960" cy="292608"/>
          </a:xfrm>
          <a:prstGeom prst="rect">
            <a:avLst/>
          </a:prstGeom>
          <a:noFill/>
          <a:ln/>
        </p:spPr>
        <p:txBody>
          <a:bodyPr wrap="square" lIns="0" tIns="0" rIns="0" bIns="0" rtlCol="0" anchor="t"/>
          <a:lstStyle/>
          <a:p>
            <a:pPr algn="l" indent="0" marL="0">
              <a:buNone/>
            </a:pPr>
            <a:r>
              <a:rPr lang="en-US" sz="1200" dirty="0">
                <a:solidFill>
                  <a:srgbClr val="5B6B7C"/>
                </a:solidFill>
              </a:rPr>
              <a:t>Usulan baru masuk antrean persetujuan setelah data dan dokumen wajib lengkap.</a:t>
            </a:r>
            <a:endParaRPr lang="en-US" sz="1200" dirty="0"/>
          </a:p>
        </p:txBody>
      </p:sp>
      <p:sp>
        <p:nvSpPr>
          <p:cNvPr id="4" name="tracker-85"/>
          <p:cNvSpPr/>
          <p:nvPr/>
        </p:nvSpPr>
        <p:spPr>
          <a:xfrm>
            <a:off x="8458200" y="987552"/>
            <a:ext cx="603504" cy="365760"/>
          </a:xfrm>
          <a:prstGeom prst="rect">
            <a:avLst/>
          </a:prstGeom>
          <a:solidFill>
            <a:srgbClr val="1F6FB2"/>
          </a:solidFill>
          <a:ln w="9525">
            <a:solidFill>
              <a:srgbClr val="1F6FB2"/>
            </a:solidFill>
            <a:prstDash val="solid"/>
          </a:ln>
        </p:spPr>
      </p:sp>
      <p:sp>
        <p:nvSpPr>
          <p:cNvPr id="5" name="tracker-label-86"/>
          <p:cNvSpPr txBox="1"/>
          <p:nvPr/>
        </p:nvSpPr>
        <p:spPr>
          <a:xfrm>
            <a:off x="8458200" y="987552"/>
            <a:ext cx="603504" cy="365760"/>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a:p>
            <a:pPr algn="ctr" indent="0" marL="0">
              <a:buNone/>
            </a:pPr>
            <a:r>
              <a:rPr lang="en-US" sz="650" dirty="0">
                <a:solidFill>
                  <a:srgbClr val="FFFFFF"/>
                </a:solidFill>
              </a:rPr>
              <a:t>Usulan</a:t>
            </a:r>
            <a:endParaRPr lang="en-US" sz="900" dirty="0"/>
          </a:p>
        </p:txBody>
      </p:sp>
      <p:sp>
        <p:nvSpPr>
          <p:cNvPr id="6" name="tracker-87"/>
          <p:cNvSpPr/>
          <p:nvPr/>
        </p:nvSpPr>
        <p:spPr>
          <a:xfrm>
            <a:off x="9098280" y="987552"/>
            <a:ext cx="603504" cy="365760"/>
          </a:xfrm>
          <a:prstGeom prst="rect">
            <a:avLst/>
          </a:prstGeom>
          <a:solidFill>
            <a:srgbClr val="F2F4F7"/>
          </a:solidFill>
          <a:ln w="9525">
            <a:solidFill>
              <a:srgbClr val="CDD5DF"/>
            </a:solidFill>
            <a:prstDash val="solid"/>
          </a:ln>
        </p:spPr>
      </p:sp>
      <p:sp>
        <p:nvSpPr>
          <p:cNvPr id="7" name="tracker-label-88"/>
          <p:cNvSpPr txBox="1"/>
          <p:nvPr/>
        </p:nvSpPr>
        <p:spPr>
          <a:xfrm>
            <a:off x="9098280" y="987552"/>
            <a:ext cx="603504" cy="365760"/>
          </a:xfrm>
          <a:prstGeom prst="rect">
            <a:avLst/>
          </a:prstGeom>
          <a:noFill/>
          <a:ln/>
        </p:spPr>
        <p:txBody>
          <a:bodyPr wrap="square" lIns="0" tIns="0" rIns="0" bIns="0" rtlCol="0" anchor="ctr"/>
          <a:lstStyle/>
          <a:p>
            <a:pPr algn="ctr" indent="0" marL="0">
              <a:buNone/>
            </a:pPr>
            <a:r>
              <a:rPr lang="en-US" sz="900" b="1" dirty="0">
                <a:solidFill>
                  <a:srgbClr val="0E2F56"/>
                </a:solidFill>
              </a:rPr>
              <a:t>2</a:t>
            </a:r>
            <a:endParaRPr lang="en-US" sz="900" dirty="0"/>
          </a:p>
          <a:p>
            <a:pPr algn="ctr" indent="0" marL="0">
              <a:buNone/>
            </a:pPr>
            <a:r>
              <a:rPr lang="en-US" sz="650" dirty="0">
                <a:solidFill>
                  <a:srgbClr val="0E2F56"/>
                </a:solidFill>
              </a:rPr>
              <a:t>Perencanaan</a:t>
            </a:r>
            <a:endParaRPr lang="en-US" sz="900" dirty="0"/>
          </a:p>
        </p:txBody>
      </p:sp>
      <p:sp>
        <p:nvSpPr>
          <p:cNvPr id="8" name="tracker-89"/>
          <p:cNvSpPr/>
          <p:nvPr/>
        </p:nvSpPr>
        <p:spPr>
          <a:xfrm>
            <a:off x="9738360" y="987552"/>
            <a:ext cx="603504" cy="365760"/>
          </a:xfrm>
          <a:prstGeom prst="rect">
            <a:avLst/>
          </a:prstGeom>
          <a:solidFill>
            <a:srgbClr val="F2F4F7"/>
          </a:solidFill>
          <a:ln w="9525">
            <a:solidFill>
              <a:srgbClr val="CDD5DF"/>
            </a:solidFill>
            <a:prstDash val="solid"/>
          </a:ln>
        </p:spPr>
      </p:sp>
      <p:sp>
        <p:nvSpPr>
          <p:cNvPr id="9" name="tracker-label-90"/>
          <p:cNvSpPr txBox="1"/>
          <p:nvPr/>
        </p:nvSpPr>
        <p:spPr>
          <a:xfrm>
            <a:off x="9738360" y="987552"/>
            <a:ext cx="603504" cy="365760"/>
          </a:xfrm>
          <a:prstGeom prst="rect">
            <a:avLst/>
          </a:prstGeom>
          <a:noFill/>
          <a:ln/>
        </p:spPr>
        <p:txBody>
          <a:bodyPr wrap="square" lIns="0" tIns="0" rIns="0" bIns="0" rtlCol="0" anchor="ctr"/>
          <a:lstStyle/>
          <a:p>
            <a:pPr algn="ctr" indent="0" marL="0">
              <a:buNone/>
            </a:pPr>
            <a:r>
              <a:rPr lang="en-US" sz="900" b="1" dirty="0">
                <a:solidFill>
                  <a:srgbClr val="0E2F56"/>
                </a:solidFill>
              </a:rPr>
              <a:t>3</a:t>
            </a:r>
            <a:endParaRPr lang="en-US" sz="900" dirty="0"/>
          </a:p>
          <a:p>
            <a:pPr algn="ctr" indent="0" marL="0">
              <a:buNone/>
            </a:pPr>
            <a:r>
              <a:rPr lang="en-US" sz="650" dirty="0">
                <a:solidFill>
                  <a:srgbClr val="0E2F56"/>
                </a:solidFill>
              </a:rPr>
              <a:t>Pelaksanaan</a:t>
            </a:r>
            <a:endParaRPr lang="en-US" sz="900" dirty="0"/>
          </a:p>
        </p:txBody>
      </p:sp>
      <p:sp>
        <p:nvSpPr>
          <p:cNvPr id="10" name="tracker-91"/>
          <p:cNvSpPr/>
          <p:nvPr/>
        </p:nvSpPr>
        <p:spPr>
          <a:xfrm>
            <a:off x="10378440" y="987552"/>
            <a:ext cx="603504" cy="365760"/>
          </a:xfrm>
          <a:prstGeom prst="rect">
            <a:avLst/>
          </a:prstGeom>
          <a:solidFill>
            <a:srgbClr val="F2F4F7"/>
          </a:solidFill>
          <a:ln w="9525">
            <a:solidFill>
              <a:srgbClr val="CDD5DF"/>
            </a:solidFill>
            <a:prstDash val="solid"/>
          </a:ln>
        </p:spPr>
      </p:sp>
      <p:sp>
        <p:nvSpPr>
          <p:cNvPr id="11" name="tracker-label-92"/>
          <p:cNvSpPr txBox="1"/>
          <p:nvPr/>
        </p:nvSpPr>
        <p:spPr>
          <a:xfrm>
            <a:off x="10378440" y="987552"/>
            <a:ext cx="603504" cy="365760"/>
          </a:xfrm>
          <a:prstGeom prst="rect">
            <a:avLst/>
          </a:prstGeom>
          <a:noFill/>
          <a:ln/>
        </p:spPr>
        <p:txBody>
          <a:bodyPr wrap="square" lIns="0" tIns="0" rIns="0" bIns="0" rtlCol="0" anchor="ctr"/>
          <a:lstStyle/>
          <a:p>
            <a:pPr algn="ctr" indent="0" marL="0">
              <a:buNone/>
            </a:pPr>
            <a:r>
              <a:rPr lang="en-US" sz="900" b="1" dirty="0">
                <a:solidFill>
                  <a:srgbClr val="0E2F56"/>
                </a:solidFill>
              </a:rPr>
              <a:t>4</a:t>
            </a:r>
            <a:endParaRPr lang="en-US" sz="900" dirty="0"/>
          </a:p>
          <a:p>
            <a:pPr algn="ctr" indent="0" marL="0">
              <a:buNone/>
            </a:pPr>
            <a:r>
              <a:rPr lang="en-US" sz="650" dirty="0">
                <a:solidFill>
                  <a:srgbClr val="0E2F56"/>
                </a:solidFill>
              </a:rPr>
              <a:t>Penyerahan</a:t>
            </a:r>
            <a:endParaRPr lang="en-US" sz="900" dirty="0"/>
          </a:p>
        </p:txBody>
      </p:sp>
      <p:sp>
        <p:nvSpPr>
          <p:cNvPr id="12" name="tracker-93"/>
          <p:cNvSpPr/>
          <p:nvPr/>
        </p:nvSpPr>
        <p:spPr>
          <a:xfrm>
            <a:off x="11018520" y="987552"/>
            <a:ext cx="603504" cy="365760"/>
          </a:xfrm>
          <a:prstGeom prst="rect">
            <a:avLst/>
          </a:prstGeom>
          <a:solidFill>
            <a:srgbClr val="F2F4F7"/>
          </a:solidFill>
          <a:ln w="9525">
            <a:solidFill>
              <a:srgbClr val="CDD5DF"/>
            </a:solidFill>
            <a:prstDash val="solid"/>
          </a:ln>
        </p:spPr>
      </p:sp>
      <p:sp>
        <p:nvSpPr>
          <p:cNvPr id="13" name="tracker-label-94"/>
          <p:cNvSpPr txBox="1"/>
          <p:nvPr/>
        </p:nvSpPr>
        <p:spPr>
          <a:xfrm>
            <a:off x="11018520" y="987552"/>
            <a:ext cx="603504" cy="365760"/>
          </a:xfrm>
          <a:prstGeom prst="rect">
            <a:avLst/>
          </a:prstGeom>
          <a:noFill/>
          <a:ln/>
        </p:spPr>
        <p:txBody>
          <a:bodyPr wrap="square" lIns="0" tIns="0" rIns="0" bIns="0" rtlCol="0" anchor="ctr"/>
          <a:lstStyle/>
          <a:p>
            <a:pPr algn="ctr" indent="0" marL="0">
              <a:buNone/>
            </a:pPr>
            <a:r>
              <a:rPr lang="en-US" sz="900" b="1" dirty="0">
                <a:solidFill>
                  <a:srgbClr val="0E2F56"/>
                </a:solidFill>
              </a:rPr>
              <a:t>5</a:t>
            </a:r>
            <a:endParaRPr lang="en-US" sz="900" dirty="0"/>
          </a:p>
          <a:p>
            <a:pPr algn="ctr" indent="0" marL="0">
              <a:buNone/>
            </a:pPr>
            <a:r>
              <a:rPr lang="en-US" sz="650" dirty="0">
                <a:solidFill>
                  <a:srgbClr val="0E2F56"/>
                </a:solidFill>
              </a:rPr>
              <a:t>Pembayaran</a:t>
            </a:r>
            <a:endParaRPr lang="en-US" sz="900" dirty="0"/>
          </a:p>
        </p:txBody>
      </p:sp>
      <p:sp>
        <p:nvSpPr>
          <p:cNvPr id="14" name="lane-95"/>
          <p:cNvSpPr/>
          <p:nvPr/>
        </p:nvSpPr>
        <p:spPr>
          <a:xfrm>
            <a:off x="548640" y="1783080"/>
            <a:ext cx="7086600" cy="896112"/>
          </a:xfrm>
          <a:prstGeom prst="rect">
            <a:avLst/>
          </a:prstGeom>
          <a:solidFill>
            <a:srgbClr val="F2F4F7"/>
          </a:solidFill>
          <a:ln w="6350">
            <a:solidFill>
              <a:srgbClr val="CDD5DF"/>
            </a:solidFill>
            <a:prstDash val="solid"/>
          </a:ln>
        </p:spPr>
      </p:sp>
      <p:sp>
        <p:nvSpPr>
          <p:cNvPr id="15" name="lane-head-96"/>
          <p:cNvSpPr/>
          <p:nvPr/>
        </p:nvSpPr>
        <p:spPr>
          <a:xfrm>
            <a:off x="548640" y="1783080"/>
            <a:ext cx="1325880" cy="896112"/>
          </a:xfrm>
          <a:prstGeom prst="rect">
            <a:avLst/>
          </a:prstGeom>
          <a:solidFill>
            <a:srgbClr val="0E2F56"/>
          </a:solidFill>
          <a:ln w="6350">
            <a:solidFill>
              <a:srgbClr val="0E2F56"/>
            </a:solidFill>
            <a:prstDash val="solid"/>
          </a:ln>
        </p:spPr>
      </p:sp>
      <p:sp>
        <p:nvSpPr>
          <p:cNvPr id="16" name="lane-name-97"/>
          <p:cNvSpPr txBox="1"/>
          <p:nvPr/>
        </p:nvSpPr>
        <p:spPr>
          <a:xfrm>
            <a:off x="621792" y="1783080"/>
            <a:ext cx="1179576" cy="896112"/>
          </a:xfrm>
          <a:prstGeom prst="rect">
            <a:avLst/>
          </a:prstGeom>
          <a:noFill/>
          <a:ln/>
        </p:spPr>
        <p:txBody>
          <a:bodyPr wrap="square" lIns="0" tIns="0" rIns="0" bIns="0" rtlCol="0" anchor="ctr"/>
          <a:lstStyle/>
          <a:p>
            <a:pPr algn="l" indent="0" marL="0">
              <a:buNone/>
            </a:pPr>
            <a:r>
              <a:rPr lang="en-US" sz="1000" b="1" dirty="0">
                <a:solidFill>
                  <a:srgbClr val="FFFFFF"/>
                </a:solidFill>
              </a:rPr>
              <a:t>Pengusul</a:t>
            </a:r>
            <a:endParaRPr lang="en-US" sz="1000" dirty="0"/>
          </a:p>
        </p:txBody>
      </p:sp>
      <p:sp>
        <p:nvSpPr>
          <p:cNvPr id="17" name="lane-98"/>
          <p:cNvSpPr/>
          <p:nvPr/>
        </p:nvSpPr>
        <p:spPr>
          <a:xfrm>
            <a:off x="548640" y="2715768"/>
            <a:ext cx="7086600" cy="896112"/>
          </a:xfrm>
          <a:prstGeom prst="rect">
            <a:avLst/>
          </a:prstGeom>
          <a:solidFill>
            <a:srgbClr val="FFFFFF"/>
          </a:solidFill>
          <a:ln w="6350">
            <a:solidFill>
              <a:srgbClr val="CDD5DF"/>
            </a:solidFill>
            <a:prstDash val="solid"/>
          </a:ln>
        </p:spPr>
      </p:sp>
      <p:sp>
        <p:nvSpPr>
          <p:cNvPr id="18" name="lane-head-99"/>
          <p:cNvSpPr/>
          <p:nvPr/>
        </p:nvSpPr>
        <p:spPr>
          <a:xfrm>
            <a:off x="548640" y="2715768"/>
            <a:ext cx="1325880" cy="896112"/>
          </a:xfrm>
          <a:prstGeom prst="rect">
            <a:avLst/>
          </a:prstGeom>
          <a:solidFill>
            <a:srgbClr val="0E2F56"/>
          </a:solidFill>
          <a:ln w="6350">
            <a:solidFill>
              <a:srgbClr val="0E2F56"/>
            </a:solidFill>
            <a:prstDash val="solid"/>
          </a:ln>
        </p:spPr>
      </p:sp>
      <p:sp>
        <p:nvSpPr>
          <p:cNvPr id="19" name="lane-name-100"/>
          <p:cNvSpPr txBox="1"/>
          <p:nvPr/>
        </p:nvSpPr>
        <p:spPr>
          <a:xfrm>
            <a:off x="621792" y="2715768"/>
            <a:ext cx="1179576" cy="896112"/>
          </a:xfrm>
          <a:prstGeom prst="rect">
            <a:avLst/>
          </a:prstGeom>
          <a:noFill/>
          <a:ln/>
        </p:spPr>
        <p:txBody>
          <a:bodyPr wrap="square" lIns="0" tIns="0" rIns="0" bIns="0" rtlCol="0" anchor="ctr"/>
          <a:lstStyle/>
          <a:p>
            <a:pPr algn="l" indent="0" marL="0">
              <a:buNone/>
            </a:pPr>
            <a:r>
              <a:rPr lang="en-US" sz="1000" b="1" dirty="0">
                <a:solidFill>
                  <a:srgbClr val="FFFFFF"/>
                </a:solidFill>
              </a:rPr>
              <a:t>TL Atasan</a:t>
            </a:r>
            <a:endParaRPr lang="en-US" sz="1000" dirty="0"/>
          </a:p>
        </p:txBody>
      </p:sp>
      <p:sp>
        <p:nvSpPr>
          <p:cNvPr id="20" name="lane-101"/>
          <p:cNvSpPr/>
          <p:nvPr/>
        </p:nvSpPr>
        <p:spPr>
          <a:xfrm>
            <a:off x="548640" y="3648456"/>
            <a:ext cx="7086600" cy="896112"/>
          </a:xfrm>
          <a:prstGeom prst="rect">
            <a:avLst/>
          </a:prstGeom>
          <a:solidFill>
            <a:srgbClr val="F2F4F7"/>
          </a:solidFill>
          <a:ln w="6350">
            <a:solidFill>
              <a:srgbClr val="CDD5DF"/>
            </a:solidFill>
            <a:prstDash val="solid"/>
          </a:ln>
        </p:spPr>
      </p:sp>
      <p:sp>
        <p:nvSpPr>
          <p:cNvPr id="21" name="lane-head-102"/>
          <p:cNvSpPr/>
          <p:nvPr/>
        </p:nvSpPr>
        <p:spPr>
          <a:xfrm>
            <a:off x="548640" y="3648456"/>
            <a:ext cx="1325880" cy="896112"/>
          </a:xfrm>
          <a:prstGeom prst="rect">
            <a:avLst/>
          </a:prstGeom>
          <a:solidFill>
            <a:srgbClr val="0E2F56"/>
          </a:solidFill>
          <a:ln w="6350">
            <a:solidFill>
              <a:srgbClr val="0E2F56"/>
            </a:solidFill>
            <a:prstDash val="solid"/>
          </a:ln>
        </p:spPr>
      </p:sp>
      <p:sp>
        <p:nvSpPr>
          <p:cNvPr id="22" name="lane-name-103"/>
          <p:cNvSpPr txBox="1"/>
          <p:nvPr/>
        </p:nvSpPr>
        <p:spPr>
          <a:xfrm>
            <a:off x="621792" y="3648456"/>
            <a:ext cx="1179576" cy="896112"/>
          </a:xfrm>
          <a:prstGeom prst="rect">
            <a:avLst/>
          </a:prstGeom>
          <a:noFill/>
          <a:ln/>
        </p:spPr>
        <p:txBody>
          <a:bodyPr wrap="square" lIns="0" tIns="0" rIns="0" bIns="0" rtlCol="0" anchor="ctr"/>
          <a:lstStyle/>
          <a:p>
            <a:pPr algn="l" indent="0" marL="0">
              <a:buNone/>
            </a:pPr>
            <a:r>
              <a:rPr lang="en-US" sz="1000" b="1" dirty="0">
                <a:solidFill>
                  <a:srgbClr val="FFFFFF"/>
                </a:solidFill>
              </a:rPr>
              <a:t>Direksi Pekerjaan (Asman)</a:t>
            </a:r>
            <a:endParaRPr lang="en-US" sz="1000" dirty="0"/>
          </a:p>
        </p:txBody>
      </p:sp>
      <p:sp>
        <p:nvSpPr>
          <p:cNvPr id="23" name="lane-104"/>
          <p:cNvSpPr/>
          <p:nvPr/>
        </p:nvSpPr>
        <p:spPr>
          <a:xfrm>
            <a:off x="548640" y="4581144"/>
            <a:ext cx="7086600" cy="896112"/>
          </a:xfrm>
          <a:prstGeom prst="rect">
            <a:avLst/>
          </a:prstGeom>
          <a:solidFill>
            <a:srgbClr val="FFFFFF"/>
          </a:solidFill>
          <a:ln w="6350">
            <a:solidFill>
              <a:srgbClr val="CDD5DF"/>
            </a:solidFill>
            <a:prstDash val="solid"/>
          </a:ln>
        </p:spPr>
      </p:sp>
      <p:sp>
        <p:nvSpPr>
          <p:cNvPr id="24" name="lane-head-105"/>
          <p:cNvSpPr/>
          <p:nvPr/>
        </p:nvSpPr>
        <p:spPr>
          <a:xfrm>
            <a:off x="548640" y="4581144"/>
            <a:ext cx="1325880" cy="896112"/>
          </a:xfrm>
          <a:prstGeom prst="rect">
            <a:avLst/>
          </a:prstGeom>
          <a:solidFill>
            <a:srgbClr val="0E2F56"/>
          </a:solidFill>
          <a:ln w="6350">
            <a:solidFill>
              <a:srgbClr val="0E2F56"/>
            </a:solidFill>
            <a:prstDash val="solid"/>
          </a:ln>
        </p:spPr>
      </p:sp>
      <p:sp>
        <p:nvSpPr>
          <p:cNvPr id="25" name="lane-name-106"/>
          <p:cNvSpPr txBox="1"/>
          <p:nvPr/>
        </p:nvSpPr>
        <p:spPr>
          <a:xfrm>
            <a:off x="621792" y="4581144"/>
            <a:ext cx="1179576" cy="896112"/>
          </a:xfrm>
          <a:prstGeom prst="rect">
            <a:avLst/>
          </a:prstGeom>
          <a:noFill/>
          <a:ln/>
        </p:spPr>
        <p:txBody>
          <a:bodyPr wrap="square" lIns="0" tIns="0" rIns="0" bIns="0" rtlCol="0" anchor="ctr"/>
          <a:lstStyle/>
          <a:p>
            <a:pPr algn="l" indent="0" marL="0">
              <a:buNone/>
            </a:pPr>
            <a:r>
              <a:rPr lang="en-US" sz="1000" b="1" dirty="0">
                <a:solidFill>
                  <a:srgbClr val="FFFFFF"/>
                </a:solidFill>
              </a:rPr>
              <a:t>Pengadaan</a:t>
            </a:r>
            <a:endParaRPr lang="en-US" sz="1000" dirty="0"/>
          </a:p>
        </p:txBody>
      </p:sp>
      <p:sp>
        <p:nvSpPr>
          <p:cNvPr id="26" name="node-process-107"/>
          <p:cNvSpPr/>
          <p:nvPr/>
        </p:nvSpPr>
        <p:spPr>
          <a:xfrm>
            <a:off x="2057400" y="1901952"/>
            <a:ext cx="1783080" cy="658368"/>
          </a:xfrm>
          <a:prstGeom prst="rect">
            <a:avLst/>
          </a:prstGeom>
          <a:solidFill>
            <a:srgbClr val="E7F0FA"/>
          </a:solidFill>
          <a:ln w="15875">
            <a:solidFill>
              <a:srgbClr val="1F6FB2"/>
            </a:solidFill>
            <a:prstDash val="solid"/>
          </a:ln>
        </p:spPr>
      </p:sp>
      <p:sp>
        <p:nvSpPr>
          <p:cNvPr id="27" name="node-text-108"/>
          <p:cNvSpPr txBox="1"/>
          <p:nvPr/>
        </p:nvSpPr>
        <p:spPr>
          <a:xfrm>
            <a:off x="2112264" y="1901952"/>
            <a:ext cx="1673352" cy="658368"/>
          </a:xfrm>
          <a:prstGeom prst="rect">
            <a:avLst/>
          </a:prstGeom>
          <a:noFill/>
          <a:ln/>
        </p:spPr>
        <p:txBody>
          <a:bodyPr wrap="square" lIns="0" tIns="0" rIns="0" bIns="0" rtlCol="0" anchor="ctr"/>
          <a:lstStyle/>
          <a:p>
            <a:pPr algn="ctr" indent="0" marL="0">
              <a:buNone/>
            </a:pPr>
            <a:r>
              <a:rPr lang="en-US" sz="1000" dirty="0">
                <a:solidFill>
                  <a:srgbClr val="1F2D3D"/>
                </a:solidFill>
              </a:rPr>
              <a:t>Isi form usulan, generate TOR, unggah TOR dan Nota Dinas Usulan</a:t>
            </a:r>
            <a:endParaRPr lang="en-US" sz="1000" dirty="0"/>
          </a:p>
        </p:txBody>
      </p:sp>
      <p:sp>
        <p:nvSpPr>
          <p:cNvPr id="28" name="decision-109"/>
          <p:cNvSpPr/>
          <p:nvPr/>
        </p:nvSpPr>
        <p:spPr>
          <a:xfrm>
            <a:off x="4183380" y="1847088"/>
            <a:ext cx="1143000" cy="768096"/>
          </a:xfrm>
          <a:prstGeom prst="diamond">
            <a:avLst/>
          </a:prstGeom>
          <a:solidFill>
            <a:srgbClr val="FFFFFF"/>
          </a:solidFill>
          <a:ln w="19050">
            <a:solidFill>
              <a:srgbClr val="0E2F56"/>
            </a:solidFill>
            <a:prstDash val="solid"/>
          </a:ln>
        </p:spPr>
      </p:sp>
      <p:sp>
        <p:nvSpPr>
          <p:cNvPr id="29" name="decision-text-110"/>
          <p:cNvSpPr txBox="1"/>
          <p:nvPr/>
        </p:nvSpPr>
        <p:spPr>
          <a:xfrm>
            <a:off x="4320540" y="1847088"/>
            <a:ext cx="868680" cy="768096"/>
          </a:xfrm>
          <a:prstGeom prst="rect">
            <a:avLst/>
          </a:prstGeom>
          <a:noFill/>
          <a:ln/>
        </p:spPr>
        <p:txBody>
          <a:bodyPr wrap="square" lIns="0" tIns="0" rIns="0" bIns="0" rtlCol="0" anchor="ctr"/>
          <a:lstStyle/>
          <a:p>
            <a:pPr algn="ctr" indent="0" marL="0">
              <a:buNone/>
            </a:pPr>
            <a:r>
              <a:rPr lang="en-US" sz="950" b="1" dirty="0">
                <a:solidFill>
                  <a:srgbClr val="0E2F56"/>
                </a:solidFill>
              </a:rPr>
              <a:t>Lengkap?</a:t>
            </a:r>
            <a:endParaRPr lang="en-US" sz="950" dirty="0"/>
          </a:p>
        </p:txBody>
      </p:sp>
      <p:sp>
        <p:nvSpPr>
          <p:cNvPr id="30" name="connector-111"/>
          <p:cNvSpPr/>
          <p:nvPr/>
        </p:nvSpPr>
        <p:spPr>
          <a:xfrm>
            <a:off x="3840480" y="2231136"/>
            <a:ext cx="342900" cy="0"/>
          </a:xfrm>
          <a:prstGeom prst="line">
            <a:avLst/>
          </a:prstGeom>
          <a:noFill/>
          <a:ln w="19050">
            <a:solidFill>
              <a:srgbClr val="1F6FB2"/>
            </a:solidFill>
            <a:prstDash val="solid"/>
            <a:tailEnd type="triangle"/>
          </a:ln>
        </p:spPr>
      </p:sp>
      <p:sp>
        <p:nvSpPr>
          <p:cNvPr id="31" name="node-revise-112"/>
          <p:cNvSpPr/>
          <p:nvPr/>
        </p:nvSpPr>
        <p:spPr>
          <a:xfrm>
            <a:off x="5715000" y="1956816"/>
            <a:ext cx="1783080" cy="548640"/>
          </a:xfrm>
          <a:prstGeom prst="rect">
            <a:avLst/>
          </a:prstGeom>
          <a:solidFill>
            <a:srgbClr val="FCEFE1"/>
          </a:solidFill>
          <a:ln w="15875">
            <a:solidFill>
              <a:srgbClr val="D9822B"/>
            </a:solidFill>
            <a:prstDash val="solid"/>
          </a:ln>
        </p:spPr>
      </p:sp>
      <p:sp>
        <p:nvSpPr>
          <p:cNvPr id="32" name="node-text-113"/>
          <p:cNvSpPr txBox="1"/>
          <p:nvPr/>
        </p:nvSpPr>
        <p:spPr>
          <a:xfrm>
            <a:off x="5769864" y="1956816"/>
            <a:ext cx="1673352" cy="548640"/>
          </a:xfrm>
          <a:prstGeom prst="rect">
            <a:avLst/>
          </a:prstGeom>
          <a:noFill/>
          <a:ln/>
        </p:spPr>
        <p:txBody>
          <a:bodyPr wrap="square" lIns="0" tIns="0" rIns="0" bIns="0" rtlCol="0" anchor="ctr"/>
          <a:lstStyle/>
          <a:p>
            <a:pPr algn="ctr" indent="0" marL="0">
              <a:buNone/>
            </a:pPr>
            <a:r>
              <a:rPr lang="en-US" sz="900" dirty="0">
                <a:solidFill>
                  <a:srgbClr val="1F2D3D"/>
                </a:solidFill>
              </a:rPr>
              <a:t>Tertahan di Pengusul (status Belum Lengkap)</a:t>
            </a:r>
            <a:endParaRPr lang="en-US" sz="900" dirty="0"/>
          </a:p>
        </p:txBody>
      </p:sp>
      <p:sp>
        <p:nvSpPr>
          <p:cNvPr id="33" name="connector-114"/>
          <p:cNvSpPr/>
          <p:nvPr/>
        </p:nvSpPr>
        <p:spPr>
          <a:xfrm>
            <a:off x="5326380" y="2231136"/>
            <a:ext cx="388620" cy="0"/>
          </a:xfrm>
          <a:prstGeom prst="line">
            <a:avLst/>
          </a:prstGeom>
          <a:noFill/>
          <a:ln w="19050">
            <a:solidFill>
              <a:srgbClr val="D9822B"/>
            </a:solidFill>
            <a:prstDash val="dash"/>
            <a:tailEnd type="triangle"/>
          </a:ln>
        </p:spPr>
      </p:sp>
      <p:sp>
        <p:nvSpPr>
          <p:cNvPr id="34" name="flow-label-115"/>
          <p:cNvSpPr txBox="1"/>
          <p:nvPr/>
        </p:nvSpPr>
        <p:spPr>
          <a:xfrm>
            <a:off x="5358384" y="1993392"/>
            <a:ext cx="548640" cy="219456"/>
          </a:xfrm>
          <a:prstGeom prst="rect">
            <a:avLst/>
          </a:prstGeom>
          <a:noFill/>
          <a:ln/>
        </p:spPr>
        <p:txBody>
          <a:bodyPr wrap="square" lIns="0" tIns="0" rIns="0" bIns="0" rtlCol="0" anchor="ctr"/>
          <a:lstStyle/>
          <a:p>
            <a:pPr algn="l" indent="0" marL="0">
              <a:buNone/>
            </a:pPr>
            <a:r>
              <a:rPr lang="en-US" sz="850" b="1" dirty="0">
                <a:solidFill>
                  <a:srgbClr val="D9822B"/>
                </a:solidFill>
              </a:rPr>
              <a:t>Tidak</a:t>
            </a:r>
            <a:endParaRPr lang="en-US" sz="850" dirty="0"/>
          </a:p>
        </p:txBody>
      </p:sp>
      <p:sp>
        <p:nvSpPr>
          <p:cNvPr id="35" name="decision-116"/>
          <p:cNvSpPr/>
          <p:nvPr/>
        </p:nvSpPr>
        <p:spPr>
          <a:xfrm>
            <a:off x="4183380" y="2779776"/>
            <a:ext cx="1143000" cy="768096"/>
          </a:xfrm>
          <a:prstGeom prst="diamond">
            <a:avLst/>
          </a:prstGeom>
          <a:solidFill>
            <a:srgbClr val="FFFFFF"/>
          </a:solidFill>
          <a:ln w="19050">
            <a:solidFill>
              <a:srgbClr val="0E2F56"/>
            </a:solidFill>
            <a:prstDash val="solid"/>
          </a:ln>
        </p:spPr>
      </p:sp>
      <p:sp>
        <p:nvSpPr>
          <p:cNvPr id="36" name="decision-text-117"/>
          <p:cNvSpPr txBox="1"/>
          <p:nvPr/>
        </p:nvSpPr>
        <p:spPr>
          <a:xfrm>
            <a:off x="4320540" y="2779776"/>
            <a:ext cx="868680" cy="768096"/>
          </a:xfrm>
          <a:prstGeom prst="rect">
            <a:avLst/>
          </a:prstGeom>
          <a:noFill/>
          <a:ln/>
        </p:spPr>
        <p:txBody>
          <a:bodyPr wrap="square" lIns="0" tIns="0" rIns="0" bIns="0" rtlCol="0" anchor="ctr"/>
          <a:lstStyle/>
          <a:p>
            <a:pPr algn="ctr" indent="0" marL="0">
              <a:buNone/>
            </a:pPr>
            <a:r>
              <a:rPr lang="en-US" sz="950" b="1" dirty="0">
                <a:solidFill>
                  <a:srgbClr val="0E2F56"/>
                </a:solidFill>
              </a:rPr>
              <a:t>TL setujui?</a:t>
            </a:r>
            <a:endParaRPr lang="en-US" sz="950" dirty="0"/>
          </a:p>
        </p:txBody>
      </p:sp>
      <p:sp>
        <p:nvSpPr>
          <p:cNvPr id="37" name="decision-118"/>
          <p:cNvSpPr/>
          <p:nvPr/>
        </p:nvSpPr>
        <p:spPr>
          <a:xfrm>
            <a:off x="4183380" y="3712464"/>
            <a:ext cx="1143000" cy="768096"/>
          </a:xfrm>
          <a:prstGeom prst="diamond">
            <a:avLst/>
          </a:prstGeom>
          <a:solidFill>
            <a:srgbClr val="FFFFFF"/>
          </a:solidFill>
          <a:ln w="19050">
            <a:solidFill>
              <a:srgbClr val="0E2F56"/>
            </a:solidFill>
            <a:prstDash val="solid"/>
          </a:ln>
        </p:spPr>
      </p:sp>
      <p:sp>
        <p:nvSpPr>
          <p:cNvPr id="38" name="decision-text-119"/>
          <p:cNvSpPr txBox="1"/>
          <p:nvPr/>
        </p:nvSpPr>
        <p:spPr>
          <a:xfrm>
            <a:off x="4320540" y="3712464"/>
            <a:ext cx="868680" cy="768096"/>
          </a:xfrm>
          <a:prstGeom prst="rect">
            <a:avLst/>
          </a:prstGeom>
          <a:noFill/>
          <a:ln/>
        </p:spPr>
        <p:txBody>
          <a:bodyPr wrap="square" lIns="0" tIns="0" rIns="0" bIns="0" rtlCol="0" anchor="ctr"/>
          <a:lstStyle/>
          <a:p>
            <a:pPr algn="ctr" indent="0" marL="0">
              <a:buNone/>
            </a:pPr>
            <a:r>
              <a:rPr lang="en-US" sz="900" b="1" dirty="0">
                <a:solidFill>
                  <a:srgbClr val="0E2F56"/>
                </a:solidFill>
              </a:rPr>
              <a:t>Asman setujui?</a:t>
            </a:r>
            <a:endParaRPr lang="en-US" sz="900" dirty="0"/>
          </a:p>
        </p:txBody>
      </p:sp>
      <p:sp>
        <p:nvSpPr>
          <p:cNvPr id="39" name="connector-120"/>
          <p:cNvSpPr/>
          <p:nvPr/>
        </p:nvSpPr>
        <p:spPr>
          <a:xfrm>
            <a:off x="4754880" y="2615184"/>
            <a:ext cx="0" cy="164592"/>
          </a:xfrm>
          <a:prstGeom prst="line">
            <a:avLst/>
          </a:prstGeom>
          <a:noFill/>
          <a:ln w="19050">
            <a:solidFill>
              <a:srgbClr val="1F6FB2"/>
            </a:solidFill>
            <a:prstDash val="solid"/>
            <a:tailEnd type="triangle"/>
          </a:ln>
        </p:spPr>
      </p:sp>
      <p:sp>
        <p:nvSpPr>
          <p:cNvPr id="40" name="flow-label-121"/>
          <p:cNvSpPr txBox="1"/>
          <p:nvPr/>
        </p:nvSpPr>
        <p:spPr>
          <a:xfrm>
            <a:off x="4809744" y="2587752"/>
            <a:ext cx="365760" cy="219456"/>
          </a:xfrm>
          <a:prstGeom prst="rect">
            <a:avLst/>
          </a:prstGeom>
          <a:noFill/>
          <a:ln/>
        </p:spPr>
        <p:txBody>
          <a:bodyPr wrap="square" lIns="0" tIns="0" rIns="0" bIns="0" rtlCol="0" anchor="ctr"/>
          <a:lstStyle/>
          <a:p>
            <a:pPr algn="l" indent="0" marL="0">
              <a:buNone/>
            </a:pPr>
            <a:r>
              <a:rPr lang="en-US" sz="850" b="1" dirty="0">
                <a:solidFill>
                  <a:srgbClr val="1E7B4F"/>
                </a:solidFill>
              </a:rPr>
              <a:t>Ya</a:t>
            </a:r>
            <a:endParaRPr lang="en-US" sz="850" dirty="0"/>
          </a:p>
        </p:txBody>
      </p:sp>
      <p:sp>
        <p:nvSpPr>
          <p:cNvPr id="41" name="connector-122"/>
          <p:cNvSpPr/>
          <p:nvPr/>
        </p:nvSpPr>
        <p:spPr>
          <a:xfrm>
            <a:off x="4754880" y="3547872"/>
            <a:ext cx="0" cy="164592"/>
          </a:xfrm>
          <a:prstGeom prst="line">
            <a:avLst/>
          </a:prstGeom>
          <a:noFill/>
          <a:ln w="19050">
            <a:solidFill>
              <a:srgbClr val="1F6FB2"/>
            </a:solidFill>
            <a:prstDash val="solid"/>
            <a:tailEnd type="triangle"/>
          </a:ln>
        </p:spPr>
      </p:sp>
      <p:sp>
        <p:nvSpPr>
          <p:cNvPr id="42" name="flow-label-123"/>
          <p:cNvSpPr txBox="1"/>
          <p:nvPr/>
        </p:nvSpPr>
        <p:spPr>
          <a:xfrm>
            <a:off x="4809744" y="3520440"/>
            <a:ext cx="365760" cy="219456"/>
          </a:xfrm>
          <a:prstGeom prst="rect">
            <a:avLst/>
          </a:prstGeom>
          <a:noFill/>
          <a:ln/>
        </p:spPr>
        <p:txBody>
          <a:bodyPr wrap="square" lIns="0" tIns="0" rIns="0" bIns="0" rtlCol="0" anchor="ctr"/>
          <a:lstStyle/>
          <a:p>
            <a:pPr algn="l" indent="0" marL="0">
              <a:buNone/>
            </a:pPr>
            <a:r>
              <a:rPr lang="en-US" sz="850" b="1" dirty="0">
                <a:solidFill>
                  <a:srgbClr val="1E7B4F"/>
                </a:solidFill>
              </a:rPr>
              <a:t>Ya</a:t>
            </a:r>
            <a:endParaRPr lang="en-US" sz="850" dirty="0"/>
          </a:p>
        </p:txBody>
      </p:sp>
      <p:sp>
        <p:nvSpPr>
          <p:cNvPr id="43" name="node-approve-124"/>
          <p:cNvSpPr/>
          <p:nvPr/>
        </p:nvSpPr>
        <p:spPr>
          <a:xfrm>
            <a:off x="3794760" y="4718304"/>
            <a:ext cx="1920240" cy="621792"/>
          </a:xfrm>
          <a:prstGeom prst="rect">
            <a:avLst/>
          </a:prstGeom>
          <a:solidFill>
            <a:srgbClr val="E4F3EB"/>
          </a:solidFill>
          <a:ln w="15875">
            <a:solidFill>
              <a:srgbClr val="1E7B4F"/>
            </a:solidFill>
            <a:prstDash val="solid"/>
          </a:ln>
        </p:spPr>
      </p:sp>
      <p:sp>
        <p:nvSpPr>
          <p:cNvPr id="44" name="node-text-125"/>
          <p:cNvSpPr txBox="1"/>
          <p:nvPr/>
        </p:nvSpPr>
        <p:spPr>
          <a:xfrm>
            <a:off x="3849624" y="4718304"/>
            <a:ext cx="1810512" cy="621792"/>
          </a:xfrm>
          <a:prstGeom prst="rect">
            <a:avLst/>
          </a:prstGeom>
          <a:noFill/>
          <a:ln/>
        </p:spPr>
        <p:txBody>
          <a:bodyPr wrap="square" lIns="0" tIns="0" rIns="0" bIns="0" rtlCol="0" anchor="ctr"/>
          <a:lstStyle/>
          <a:p>
            <a:pPr algn="ctr" indent="0" marL="0">
              <a:buNone/>
            </a:pPr>
            <a:r>
              <a:rPr lang="en-US" sz="950" dirty="0">
                <a:solidFill>
                  <a:srgbClr val="1F2D3D"/>
                </a:solidFill>
              </a:rPr>
              <a:t>Masuk Perencanaan: menunggu penunjukan PIC Perencana</a:t>
            </a:r>
            <a:endParaRPr lang="en-US" sz="950" dirty="0"/>
          </a:p>
        </p:txBody>
      </p:sp>
      <p:sp>
        <p:nvSpPr>
          <p:cNvPr id="45" name="connector-126"/>
          <p:cNvSpPr/>
          <p:nvPr/>
        </p:nvSpPr>
        <p:spPr>
          <a:xfrm>
            <a:off x="4754880" y="4480560"/>
            <a:ext cx="0" cy="237744"/>
          </a:xfrm>
          <a:prstGeom prst="line">
            <a:avLst/>
          </a:prstGeom>
          <a:noFill/>
          <a:ln w="19050">
            <a:solidFill>
              <a:srgbClr val="1F6FB2"/>
            </a:solidFill>
            <a:prstDash val="solid"/>
            <a:tailEnd type="triangle"/>
          </a:ln>
        </p:spPr>
      </p:sp>
      <p:sp>
        <p:nvSpPr>
          <p:cNvPr id="46" name="flow-label-127"/>
          <p:cNvSpPr txBox="1"/>
          <p:nvPr/>
        </p:nvSpPr>
        <p:spPr>
          <a:xfrm>
            <a:off x="4809744" y="4453128"/>
            <a:ext cx="365760" cy="219456"/>
          </a:xfrm>
          <a:prstGeom prst="rect">
            <a:avLst/>
          </a:prstGeom>
          <a:noFill/>
          <a:ln/>
        </p:spPr>
        <p:txBody>
          <a:bodyPr wrap="square" lIns="0" tIns="0" rIns="0" bIns="0" rtlCol="0" anchor="ctr"/>
          <a:lstStyle/>
          <a:p>
            <a:pPr algn="l" indent="0" marL="0">
              <a:buNone/>
            </a:pPr>
            <a:r>
              <a:rPr lang="en-US" sz="850" b="1" dirty="0">
                <a:solidFill>
                  <a:srgbClr val="1E7B4F"/>
                </a:solidFill>
              </a:rPr>
              <a:t>Ya</a:t>
            </a:r>
            <a:endParaRPr lang="en-US" sz="850" dirty="0"/>
          </a:p>
        </p:txBody>
      </p:sp>
      <p:sp>
        <p:nvSpPr>
          <p:cNvPr id="47" name="node-revise-128"/>
          <p:cNvSpPr/>
          <p:nvPr/>
        </p:nvSpPr>
        <p:spPr>
          <a:xfrm>
            <a:off x="2057400" y="2862072"/>
            <a:ext cx="1783080" cy="603504"/>
          </a:xfrm>
          <a:prstGeom prst="rect">
            <a:avLst/>
          </a:prstGeom>
          <a:solidFill>
            <a:srgbClr val="FCEFE1"/>
          </a:solidFill>
          <a:ln w="15875">
            <a:solidFill>
              <a:srgbClr val="D9822B"/>
            </a:solidFill>
            <a:prstDash val="solid"/>
          </a:ln>
        </p:spPr>
      </p:sp>
      <p:sp>
        <p:nvSpPr>
          <p:cNvPr id="48" name="node-text-129"/>
          <p:cNvSpPr txBox="1"/>
          <p:nvPr/>
        </p:nvSpPr>
        <p:spPr>
          <a:xfrm>
            <a:off x="2112264" y="2862072"/>
            <a:ext cx="1673352" cy="603504"/>
          </a:xfrm>
          <a:prstGeom prst="rect">
            <a:avLst/>
          </a:prstGeom>
          <a:noFill/>
          <a:ln/>
        </p:spPr>
        <p:txBody>
          <a:bodyPr wrap="square" lIns="0" tIns="0" rIns="0" bIns="0" rtlCol="0" anchor="ctr"/>
          <a:lstStyle/>
          <a:p>
            <a:pPr algn="ctr" indent="0" marL="0">
              <a:buNone/>
            </a:pPr>
            <a:r>
              <a:rPr lang="en-US" sz="900" dirty="0">
                <a:solidFill>
                  <a:srgbClr val="1F2D3D"/>
                </a:solidFill>
              </a:rPr>
              <a:t>Dikembalikan (catatan wajib); perbaiki lalu Ajukan Ulang</a:t>
            </a:r>
            <a:endParaRPr lang="en-US" sz="900" dirty="0"/>
          </a:p>
        </p:txBody>
      </p:sp>
      <p:sp>
        <p:nvSpPr>
          <p:cNvPr id="49" name="connector-130"/>
          <p:cNvSpPr/>
          <p:nvPr/>
        </p:nvSpPr>
        <p:spPr>
          <a:xfrm flipH="1">
            <a:off x="3840480" y="3163824"/>
            <a:ext cx="342900" cy="0"/>
          </a:xfrm>
          <a:prstGeom prst="line">
            <a:avLst/>
          </a:prstGeom>
          <a:noFill/>
          <a:ln w="19050">
            <a:solidFill>
              <a:srgbClr val="D9822B"/>
            </a:solidFill>
            <a:prstDash val="dash"/>
            <a:tailEnd type="triangle"/>
          </a:ln>
        </p:spPr>
      </p:sp>
      <p:sp>
        <p:nvSpPr>
          <p:cNvPr id="50" name="flow-label-131"/>
          <p:cNvSpPr txBox="1"/>
          <p:nvPr/>
        </p:nvSpPr>
        <p:spPr>
          <a:xfrm>
            <a:off x="4023360" y="2926080"/>
            <a:ext cx="548640" cy="219456"/>
          </a:xfrm>
          <a:prstGeom prst="rect">
            <a:avLst/>
          </a:prstGeom>
          <a:noFill/>
          <a:ln/>
        </p:spPr>
        <p:txBody>
          <a:bodyPr wrap="square" lIns="0" tIns="0" rIns="0" bIns="0" rtlCol="0" anchor="ctr"/>
          <a:lstStyle/>
          <a:p>
            <a:pPr algn="l" indent="0" marL="0">
              <a:buNone/>
            </a:pPr>
            <a:r>
              <a:rPr lang="en-US" sz="850" b="1" dirty="0">
                <a:solidFill>
                  <a:srgbClr val="D9822B"/>
                </a:solidFill>
              </a:rPr>
              <a:t>Tidak</a:t>
            </a:r>
            <a:endParaRPr lang="en-US" sz="850" dirty="0"/>
          </a:p>
        </p:txBody>
      </p:sp>
      <p:sp>
        <p:nvSpPr>
          <p:cNvPr id="51" name="connector-132"/>
          <p:cNvSpPr/>
          <p:nvPr/>
        </p:nvSpPr>
        <p:spPr>
          <a:xfrm flipH="1">
            <a:off x="2948940" y="4096512"/>
            <a:ext cx="1234440" cy="0"/>
          </a:xfrm>
          <a:prstGeom prst="line">
            <a:avLst/>
          </a:prstGeom>
          <a:noFill/>
          <a:ln w="19050">
            <a:solidFill>
              <a:srgbClr val="D9822B"/>
            </a:solidFill>
            <a:prstDash val="dash"/>
          </a:ln>
        </p:spPr>
      </p:sp>
      <p:sp>
        <p:nvSpPr>
          <p:cNvPr id="52" name="connector-133"/>
          <p:cNvSpPr/>
          <p:nvPr/>
        </p:nvSpPr>
        <p:spPr>
          <a:xfrm flipV="1">
            <a:off x="2948940" y="3465576"/>
            <a:ext cx="0" cy="630936"/>
          </a:xfrm>
          <a:prstGeom prst="line">
            <a:avLst/>
          </a:prstGeom>
          <a:noFill/>
          <a:ln w="19050">
            <a:solidFill>
              <a:srgbClr val="D9822B"/>
            </a:solidFill>
            <a:prstDash val="dash"/>
            <a:tailEnd type="triangle"/>
          </a:ln>
        </p:spPr>
      </p:sp>
      <p:sp>
        <p:nvSpPr>
          <p:cNvPr id="53" name="flow-label-134"/>
          <p:cNvSpPr txBox="1"/>
          <p:nvPr/>
        </p:nvSpPr>
        <p:spPr>
          <a:xfrm>
            <a:off x="3017520" y="3858768"/>
            <a:ext cx="548640" cy="219456"/>
          </a:xfrm>
          <a:prstGeom prst="rect">
            <a:avLst/>
          </a:prstGeom>
          <a:noFill/>
          <a:ln/>
        </p:spPr>
        <p:txBody>
          <a:bodyPr wrap="square" lIns="0" tIns="0" rIns="0" bIns="0" rtlCol="0" anchor="ctr"/>
          <a:lstStyle/>
          <a:p>
            <a:pPr algn="l" indent="0" marL="0">
              <a:buNone/>
            </a:pPr>
            <a:r>
              <a:rPr lang="en-US" sz="850" b="1" dirty="0">
                <a:solidFill>
                  <a:srgbClr val="D9822B"/>
                </a:solidFill>
              </a:rPr>
              <a:t>Tidak</a:t>
            </a:r>
            <a:endParaRPr lang="en-US" sz="850" dirty="0"/>
          </a:p>
        </p:txBody>
      </p:sp>
      <p:sp>
        <p:nvSpPr>
          <p:cNvPr id="54" name="connector-135"/>
          <p:cNvSpPr/>
          <p:nvPr/>
        </p:nvSpPr>
        <p:spPr>
          <a:xfrm flipV="1">
            <a:off x="2948940" y="2560320"/>
            <a:ext cx="0" cy="301752"/>
          </a:xfrm>
          <a:prstGeom prst="line">
            <a:avLst/>
          </a:prstGeom>
          <a:noFill/>
          <a:ln w="19050">
            <a:solidFill>
              <a:srgbClr val="D9822B"/>
            </a:solidFill>
            <a:prstDash val="dash"/>
            <a:tailEnd type="triangle"/>
          </a:ln>
        </p:spPr>
      </p:sp>
      <p:sp>
        <p:nvSpPr>
          <p:cNvPr id="55" name="flow-label-136"/>
          <p:cNvSpPr txBox="1"/>
          <p:nvPr/>
        </p:nvSpPr>
        <p:spPr>
          <a:xfrm>
            <a:off x="3017520" y="2587752"/>
            <a:ext cx="1463040" cy="219456"/>
          </a:xfrm>
          <a:prstGeom prst="rect">
            <a:avLst/>
          </a:prstGeom>
          <a:noFill/>
          <a:ln/>
        </p:spPr>
        <p:txBody>
          <a:bodyPr wrap="square" lIns="0" tIns="0" rIns="0" bIns="0" rtlCol="0" anchor="ctr"/>
          <a:lstStyle/>
          <a:p>
            <a:pPr algn="l" indent="0" marL="0">
              <a:buNone/>
            </a:pPr>
            <a:r>
              <a:rPr lang="en-US" sz="850" b="1" dirty="0">
                <a:solidFill>
                  <a:srgbClr val="D9822B"/>
                </a:solidFill>
              </a:rPr>
              <a:t>Ajukan ulang: mulai dari TL</a:t>
            </a:r>
            <a:endParaRPr lang="en-US" sz="850" dirty="0"/>
          </a:p>
        </p:txBody>
      </p:sp>
      <p:sp>
        <p:nvSpPr>
          <p:cNvPr id="56" name="panel-137"/>
          <p:cNvSpPr/>
          <p:nvPr/>
        </p:nvSpPr>
        <p:spPr>
          <a:xfrm>
            <a:off x="7863840" y="1783080"/>
            <a:ext cx="3779215" cy="3712464"/>
          </a:xfrm>
          <a:prstGeom prst="rect">
            <a:avLst/>
          </a:prstGeom>
          <a:solidFill>
            <a:srgbClr val="F2F4F7"/>
          </a:solidFill>
          <a:ln w="6350">
            <a:solidFill>
              <a:srgbClr val="CDD5DF"/>
            </a:solidFill>
            <a:prstDash val="solid"/>
          </a:ln>
        </p:spPr>
      </p:sp>
      <p:sp>
        <p:nvSpPr>
          <p:cNvPr id="57" name="panel-title-138"/>
          <p:cNvSpPr txBox="1"/>
          <p:nvPr/>
        </p:nvSpPr>
        <p:spPr>
          <a:xfrm>
            <a:off x="8028432" y="1892808"/>
            <a:ext cx="3450031" cy="256032"/>
          </a:xfrm>
          <a:prstGeom prst="rect">
            <a:avLst/>
          </a:prstGeom>
          <a:noFill/>
          <a:ln/>
        </p:spPr>
        <p:txBody>
          <a:bodyPr wrap="square" lIns="0" tIns="0" rIns="0" bIns="0" rtlCol="0" anchor="ctr"/>
          <a:lstStyle/>
          <a:p>
            <a:pPr indent="0" marL="0">
              <a:buNone/>
            </a:pPr>
            <a:r>
              <a:rPr lang="en-US" sz="950" b="1" spc="100" kern="0" dirty="0">
                <a:solidFill>
                  <a:srgbClr val="0E2F56"/>
                </a:solidFill>
              </a:rPr>
              <a:t>ATURAN</a:t>
            </a:r>
            <a:endParaRPr lang="en-US" sz="950" dirty="0"/>
          </a:p>
        </p:txBody>
      </p:sp>
      <p:sp>
        <p:nvSpPr>
          <p:cNvPr id="58" name="panel-body-139"/>
          <p:cNvSpPr txBox="1"/>
          <p:nvPr/>
        </p:nvSpPr>
        <p:spPr>
          <a:xfrm>
            <a:off x="8028432" y="2194560"/>
            <a:ext cx="3450031" cy="3209544"/>
          </a:xfrm>
          <a:prstGeom prst="rect">
            <a:avLst/>
          </a:prstGeom>
          <a:noFill/>
          <a:ln/>
        </p:spPr>
        <p:txBody>
          <a:bodyPr wrap="square" lIns="0" tIns="0" rIns="0" bIns="0" rtlCol="0" anchor="t"/>
          <a:lstStyle/>
          <a:p>
            <a:pPr marL="152400" indent="-152400">
              <a:spcAft>
                <a:spcPts val="500"/>
              </a:spcAft>
              <a:buSzPct val="100000"/>
              <a:buChar char="•"/>
            </a:pPr>
            <a:r>
              <a:rPr lang="en-US" sz="1000" dirty="0">
                <a:solidFill>
                  <a:srgbClr val="1F2D3D"/>
                </a:solidFill>
              </a:rPr>
              <a:t>Wajib: nama, direksi pekerjaan, sumber anggaran, unit tujuan, PRK, PR, COA, nomor dan tanggal nota dinas, TOR tervalidasi, Nota Dinas Usulan. SR dan WO opsional.</a:t>
            </a:r>
            <a:endParaRPr lang="en-US" sz="1000" dirty="0"/>
          </a:p>
          <a:p>
            <a:pPr marL="152400" indent="-152400">
              <a:spcAft>
                <a:spcPts val="500"/>
              </a:spcAft>
              <a:buSzPct val="100000"/>
              <a:buChar char="•"/>
            </a:pPr>
            <a:r>
              <a:rPr lang="en-US" sz="1000" dirty="0">
                <a:solidFill>
                  <a:srgbClr val="1F2D3D"/>
                </a:solidFill>
              </a:rPr>
              <a:t>Usulan dari TL sendiri, atau staf tanpa TL, langsung ke Asman.</a:t>
            </a:r>
            <a:endParaRPr lang="en-US" sz="1000" dirty="0"/>
          </a:p>
          <a:p>
            <a:pPr marL="152400" indent="-152400">
              <a:spcAft>
                <a:spcPts val="500"/>
              </a:spcAft>
              <a:buSzPct val="100000"/>
              <a:buChar char="•"/>
            </a:pPr>
            <a:r>
              <a:rPr lang="en-US" sz="1000" dirty="0">
                <a:solidFill>
                  <a:srgbClr val="1F2D3D"/>
                </a:solidFill>
              </a:rPr>
              <a:t>TL atasan yang juga Direksi Pekerjaan bidangnya: cukup satu persetujuan.</a:t>
            </a:r>
            <a:endParaRPr lang="en-US" sz="1000" dirty="0"/>
          </a:p>
          <a:p>
            <a:pPr marL="152400" indent="-152400">
              <a:spcAft>
                <a:spcPts val="500"/>
              </a:spcAft>
              <a:buSzPct val="100000"/>
              <a:buChar char="•"/>
            </a:pPr>
            <a:r>
              <a:rPr lang="en-US" sz="1000" dirty="0">
                <a:solidFill>
                  <a:srgbClr val="1F2D3D"/>
                </a:solidFill>
              </a:rPr>
              <a:t>Direksi Pekerjaan yang mengusulkan untuk bidangnya langsung disetujui.</a:t>
            </a:r>
            <a:endParaRPr lang="en-US" sz="1000" dirty="0"/>
          </a:p>
          <a:p>
            <a:pPr marL="152400" indent="-152400">
              <a:spcAft>
                <a:spcPts val="500"/>
              </a:spcAft>
              <a:buSzPct val="100000"/>
              <a:buChar char="•"/>
            </a:pPr>
            <a:r>
              <a:rPr lang="en-US" sz="1000" dirty="0">
                <a:solidFill>
                  <a:srgbClr val="1F2D3D"/>
                </a:solidFill>
              </a:rPr>
              <a:t>Nomor sementara USL/... dipakai sampai nomor kontrak diberikan.</a:t>
            </a:r>
            <a:endParaRPr lang="en-US" sz="1000" dirty="0"/>
          </a:p>
        </p:txBody>
      </p:sp>
      <p:sp>
        <p:nvSpPr>
          <p:cNvPr id="59" name="status-strip-140"/>
          <p:cNvSpPr/>
          <p:nvPr/>
        </p:nvSpPr>
        <p:spPr>
          <a:xfrm>
            <a:off x="548640" y="5733288"/>
            <a:ext cx="11094415" cy="457200"/>
          </a:xfrm>
          <a:prstGeom prst="rect">
            <a:avLst/>
          </a:prstGeom>
          <a:solidFill>
            <a:srgbClr val="FFFFFF"/>
          </a:solidFill>
          <a:ln w="9525">
            <a:solidFill>
              <a:srgbClr val="CDD5DF"/>
            </a:solidFill>
            <a:prstDash val="solid"/>
          </a:ln>
        </p:spPr>
      </p:sp>
      <p:sp>
        <p:nvSpPr>
          <p:cNvPr id="60" name="status-mark-141"/>
          <p:cNvSpPr/>
          <p:nvPr/>
        </p:nvSpPr>
        <p:spPr>
          <a:xfrm>
            <a:off x="548640" y="5733288"/>
            <a:ext cx="73152" cy="457200"/>
          </a:xfrm>
          <a:prstGeom prst="rect">
            <a:avLst/>
          </a:prstGeom>
          <a:solidFill>
            <a:srgbClr val="1F6FB2"/>
          </a:solidFill>
          <a:ln w="12700">
            <a:solidFill>
              <a:srgbClr val="1F6FB2"/>
            </a:solidFill>
            <a:prstDash val="solid"/>
          </a:ln>
        </p:spPr>
      </p:sp>
      <p:sp>
        <p:nvSpPr>
          <p:cNvPr id="61" name="status-text-142"/>
          <p:cNvSpPr txBox="1"/>
          <p:nvPr/>
        </p:nvSpPr>
        <p:spPr>
          <a:xfrm>
            <a:off x="749808" y="5733288"/>
            <a:ext cx="10820095" cy="457200"/>
          </a:xfrm>
          <a:prstGeom prst="rect">
            <a:avLst/>
          </a:prstGeom>
          <a:noFill/>
          <a:ln/>
        </p:spPr>
        <p:txBody>
          <a:bodyPr wrap="square" lIns="0" tIns="0" rIns="0" bIns="0" rtlCol="0" anchor="ctr"/>
          <a:lstStyle/>
          <a:p>
            <a:pPr indent="0" marL="0">
              <a:buNone/>
            </a:pPr>
            <a:r>
              <a:rPr lang="en-US" sz="1000" dirty="0">
                <a:solidFill>
                  <a:srgbClr val="1F2D3D"/>
                </a:solidFill>
              </a:rPr>
              <a:t>Status otomatis:  Penyusunan TOR  &gt;  Draft Nodis Usulan  &gt;  Approval Usulan     |     dikembalikan: Revisi Usulan</a:t>
            </a:r>
            <a:endParaRPr lang="en-US" sz="1000" dirty="0"/>
          </a:p>
        </p:txBody>
      </p:sp>
      <p:sp>
        <p:nvSpPr>
          <p:cNvPr id="25" name="Slide Number Placeholder 0"/>
          <p:cNvSpPr>
            <a:spLocks noGrp="1"/>
          </p:cNvSpPr>
          <p:nvPr>
            <p:ph type="sldNum" sz="quarter" idx="4294967295"/>
          </p:nvPr>
        </p:nvSpPr>
        <p:spPr>
          <a:xfrm>
            <a:off x="11094415" y="646480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548640" y="896112"/>
            <a:ext cx="7680960" cy="502920"/>
          </a:xfrm>
          <a:prstGeom prst="rect">
            <a:avLst/>
          </a:prstGeom>
          <a:noFill/>
          <a:ln/>
        </p:spPr>
        <p:txBody>
          <a:bodyPr wrap="square" lIns="0" tIns="0" rIns="0" bIns="0" rtlCol="0" anchor="ctr"/>
          <a:lstStyle/>
          <a:p>
            <a:pPr algn="l" indent="0" marL="0">
              <a:buNone/>
            </a:pPr>
            <a:r>
              <a:rPr lang="en-US" sz="2400" b="1" dirty="0">
                <a:solidFill>
                  <a:srgbClr val="0E2F56"/>
                </a:solidFill>
              </a:rPr>
              <a:t>Tahap 2  Perencanaan</a:t>
            </a:r>
            <a:endParaRPr lang="en-US" sz="2400" dirty="0"/>
          </a:p>
        </p:txBody>
      </p:sp>
      <p:sp>
        <p:nvSpPr>
          <p:cNvPr id="3" name="Text 2"/>
          <p:cNvSpPr/>
          <p:nvPr>
            <p:ph idx="103" type="body" hasCustomPrompt="1"/>
          </p:nvPr>
        </p:nvSpPr>
        <p:spPr>
          <a:xfrm>
            <a:off x="548640" y="1371600"/>
            <a:ext cx="7680960" cy="292608"/>
          </a:xfrm>
          <a:prstGeom prst="rect">
            <a:avLst/>
          </a:prstGeom>
          <a:noFill/>
          <a:ln/>
        </p:spPr>
        <p:txBody>
          <a:bodyPr wrap="square" lIns="0" tIns="0" rIns="0" bIns="0" rtlCol="0" anchor="t"/>
          <a:lstStyle/>
          <a:p>
            <a:pPr algn="l" indent="0" marL="0">
              <a:buNone/>
            </a:pPr>
            <a:r>
              <a:rPr lang="en-US" sz="1200" dirty="0">
                <a:solidFill>
                  <a:srgbClr val="5B6B7C"/>
                </a:solidFill>
              </a:rPr>
              <a:t>Masuk dari usulan yang disetujui Asman, atau pengadaan yang dibuat langsung oleh TL Pengadaan.</a:t>
            </a:r>
            <a:endParaRPr lang="en-US" sz="1200" dirty="0"/>
          </a:p>
        </p:txBody>
      </p:sp>
      <p:sp>
        <p:nvSpPr>
          <p:cNvPr id="4" name="tracker-143"/>
          <p:cNvSpPr/>
          <p:nvPr/>
        </p:nvSpPr>
        <p:spPr>
          <a:xfrm>
            <a:off x="8458200" y="987552"/>
            <a:ext cx="603504" cy="365760"/>
          </a:xfrm>
          <a:prstGeom prst="rect">
            <a:avLst/>
          </a:prstGeom>
          <a:solidFill>
            <a:srgbClr val="E7F0FA"/>
          </a:solidFill>
          <a:ln w="9525">
            <a:solidFill>
              <a:srgbClr val="CDD5DF"/>
            </a:solidFill>
            <a:prstDash val="solid"/>
          </a:ln>
        </p:spPr>
      </p:sp>
      <p:sp>
        <p:nvSpPr>
          <p:cNvPr id="5" name="tracker-label-144"/>
          <p:cNvSpPr txBox="1"/>
          <p:nvPr/>
        </p:nvSpPr>
        <p:spPr>
          <a:xfrm>
            <a:off x="8458200" y="987552"/>
            <a:ext cx="603504" cy="365760"/>
          </a:xfrm>
          <a:prstGeom prst="rect">
            <a:avLst/>
          </a:prstGeom>
          <a:noFill/>
          <a:ln/>
        </p:spPr>
        <p:txBody>
          <a:bodyPr wrap="square" lIns="0" tIns="0" rIns="0" bIns="0" rtlCol="0" anchor="ctr"/>
          <a:lstStyle/>
          <a:p>
            <a:pPr algn="ctr" indent="0" marL="0">
              <a:buNone/>
            </a:pPr>
            <a:r>
              <a:rPr lang="en-US" sz="900" b="1" dirty="0">
                <a:solidFill>
                  <a:srgbClr val="0E2F56"/>
                </a:solidFill>
              </a:rPr>
              <a:t>1</a:t>
            </a:r>
            <a:endParaRPr lang="en-US" sz="900" dirty="0"/>
          </a:p>
          <a:p>
            <a:pPr algn="ctr" indent="0" marL="0">
              <a:buNone/>
            </a:pPr>
            <a:r>
              <a:rPr lang="en-US" sz="650" dirty="0">
                <a:solidFill>
                  <a:srgbClr val="0E2F56"/>
                </a:solidFill>
              </a:rPr>
              <a:t>Usulan</a:t>
            </a:r>
            <a:endParaRPr lang="en-US" sz="900" dirty="0"/>
          </a:p>
        </p:txBody>
      </p:sp>
      <p:sp>
        <p:nvSpPr>
          <p:cNvPr id="6" name="tracker-145"/>
          <p:cNvSpPr/>
          <p:nvPr/>
        </p:nvSpPr>
        <p:spPr>
          <a:xfrm>
            <a:off x="9098280" y="987552"/>
            <a:ext cx="603504" cy="365760"/>
          </a:xfrm>
          <a:prstGeom prst="rect">
            <a:avLst/>
          </a:prstGeom>
          <a:solidFill>
            <a:srgbClr val="1F6FB2"/>
          </a:solidFill>
          <a:ln w="9525">
            <a:solidFill>
              <a:srgbClr val="1F6FB2"/>
            </a:solidFill>
            <a:prstDash val="solid"/>
          </a:ln>
        </p:spPr>
      </p:sp>
      <p:sp>
        <p:nvSpPr>
          <p:cNvPr id="7" name="tracker-label-146"/>
          <p:cNvSpPr txBox="1"/>
          <p:nvPr/>
        </p:nvSpPr>
        <p:spPr>
          <a:xfrm>
            <a:off x="9098280" y="987552"/>
            <a:ext cx="603504" cy="365760"/>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a:p>
            <a:pPr algn="ctr" indent="0" marL="0">
              <a:buNone/>
            </a:pPr>
            <a:r>
              <a:rPr lang="en-US" sz="650" dirty="0">
                <a:solidFill>
                  <a:srgbClr val="FFFFFF"/>
                </a:solidFill>
              </a:rPr>
              <a:t>Perencanaan</a:t>
            </a:r>
            <a:endParaRPr lang="en-US" sz="900" dirty="0"/>
          </a:p>
        </p:txBody>
      </p:sp>
      <p:sp>
        <p:nvSpPr>
          <p:cNvPr id="8" name="tracker-147"/>
          <p:cNvSpPr/>
          <p:nvPr/>
        </p:nvSpPr>
        <p:spPr>
          <a:xfrm>
            <a:off x="9738360" y="987552"/>
            <a:ext cx="603504" cy="365760"/>
          </a:xfrm>
          <a:prstGeom prst="rect">
            <a:avLst/>
          </a:prstGeom>
          <a:solidFill>
            <a:srgbClr val="F2F4F7"/>
          </a:solidFill>
          <a:ln w="9525">
            <a:solidFill>
              <a:srgbClr val="CDD5DF"/>
            </a:solidFill>
            <a:prstDash val="solid"/>
          </a:ln>
        </p:spPr>
      </p:sp>
      <p:sp>
        <p:nvSpPr>
          <p:cNvPr id="9" name="tracker-label-148"/>
          <p:cNvSpPr txBox="1"/>
          <p:nvPr/>
        </p:nvSpPr>
        <p:spPr>
          <a:xfrm>
            <a:off x="9738360" y="987552"/>
            <a:ext cx="603504" cy="365760"/>
          </a:xfrm>
          <a:prstGeom prst="rect">
            <a:avLst/>
          </a:prstGeom>
          <a:noFill/>
          <a:ln/>
        </p:spPr>
        <p:txBody>
          <a:bodyPr wrap="square" lIns="0" tIns="0" rIns="0" bIns="0" rtlCol="0" anchor="ctr"/>
          <a:lstStyle/>
          <a:p>
            <a:pPr algn="ctr" indent="0" marL="0">
              <a:buNone/>
            </a:pPr>
            <a:r>
              <a:rPr lang="en-US" sz="900" b="1" dirty="0">
                <a:solidFill>
                  <a:srgbClr val="0E2F56"/>
                </a:solidFill>
              </a:rPr>
              <a:t>3</a:t>
            </a:r>
            <a:endParaRPr lang="en-US" sz="900" dirty="0"/>
          </a:p>
          <a:p>
            <a:pPr algn="ctr" indent="0" marL="0">
              <a:buNone/>
            </a:pPr>
            <a:r>
              <a:rPr lang="en-US" sz="650" dirty="0">
                <a:solidFill>
                  <a:srgbClr val="0E2F56"/>
                </a:solidFill>
              </a:rPr>
              <a:t>Pelaksanaan</a:t>
            </a:r>
            <a:endParaRPr lang="en-US" sz="900" dirty="0"/>
          </a:p>
        </p:txBody>
      </p:sp>
      <p:sp>
        <p:nvSpPr>
          <p:cNvPr id="10" name="tracker-149"/>
          <p:cNvSpPr/>
          <p:nvPr/>
        </p:nvSpPr>
        <p:spPr>
          <a:xfrm>
            <a:off x="10378440" y="987552"/>
            <a:ext cx="603504" cy="365760"/>
          </a:xfrm>
          <a:prstGeom prst="rect">
            <a:avLst/>
          </a:prstGeom>
          <a:solidFill>
            <a:srgbClr val="F2F4F7"/>
          </a:solidFill>
          <a:ln w="9525">
            <a:solidFill>
              <a:srgbClr val="CDD5DF"/>
            </a:solidFill>
            <a:prstDash val="solid"/>
          </a:ln>
        </p:spPr>
      </p:sp>
      <p:sp>
        <p:nvSpPr>
          <p:cNvPr id="11" name="tracker-label-150"/>
          <p:cNvSpPr txBox="1"/>
          <p:nvPr/>
        </p:nvSpPr>
        <p:spPr>
          <a:xfrm>
            <a:off x="10378440" y="987552"/>
            <a:ext cx="603504" cy="365760"/>
          </a:xfrm>
          <a:prstGeom prst="rect">
            <a:avLst/>
          </a:prstGeom>
          <a:noFill/>
          <a:ln/>
        </p:spPr>
        <p:txBody>
          <a:bodyPr wrap="square" lIns="0" tIns="0" rIns="0" bIns="0" rtlCol="0" anchor="ctr"/>
          <a:lstStyle/>
          <a:p>
            <a:pPr algn="ctr" indent="0" marL="0">
              <a:buNone/>
            </a:pPr>
            <a:r>
              <a:rPr lang="en-US" sz="900" b="1" dirty="0">
                <a:solidFill>
                  <a:srgbClr val="0E2F56"/>
                </a:solidFill>
              </a:rPr>
              <a:t>4</a:t>
            </a:r>
            <a:endParaRPr lang="en-US" sz="900" dirty="0"/>
          </a:p>
          <a:p>
            <a:pPr algn="ctr" indent="0" marL="0">
              <a:buNone/>
            </a:pPr>
            <a:r>
              <a:rPr lang="en-US" sz="650" dirty="0">
                <a:solidFill>
                  <a:srgbClr val="0E2F56"/>
                </a:solidFill>
              </a:rPr>
              <a:t>Penyerahan</a:t>
            </a:r>
            <a:endParaRPr lang="en-US" sz="900" dirty="0"/>
          </a:p>
        </p:txBody>
      </p:sp>
      <p:sp>
        <p:nvSpPr>
          <p:cNvPr id="12" name="tracker-151"/>
          <p:cNvSpPr/>
          <p:nvPr/>
        </p:nvSpPr>
        <p:spPr>
          <a:xfrm>
            <a:off x="11018520" y="987552"/>
            <a:ext cx="603504" cy="365760"/>
          </a:xfrm>
          <a:prstGeom prst="rect">
            <a:avLst/>
          </a:prstGeom>
          <a:solidFill>
            <a:srgbClr val="F2F4F7"/>
          </a:solidFill>
          <a:ln w="9525">
            <a:solidFill>
              <a:srgbClr val="CDD5DF"/>
            </a:solidFill>
            <a:prstDash val="solid"/>
          </a:ln>
        </p:spPr>
      </p:sp>
      <p:sp>
        <p:nvSpPr>
          <p:cNvPr id="13" name="tracker-label-152"/>
          <p:cNvSpPr txBox="1"/>
          <p:nvPr/>
        </p:nvSpPr>
        <p:spPr>
          <a:xfrm>
            <a:off x="11018520" y="987552"/>
            <a:ext cx="603504" cy="365760"/>
          </a:xfrm>
          <a:prstGeom prst="rect">
            <a:avLst/>
          </a:prstGeom>
          <a:noFill/>
          <a:ln/>
        </p:spPr>
        <p:txBody>
          <a:bodyPr wrap="square" lIns="0" tIns="0" rIns="0" bIns="0" rtlCol="0" anchor="ctr"/>
          <a:lstStyle/>
          <a:p>
            <a:pPr algn="ctr" indent="0" marL="0">
              <a:buNone/>
            </a:pPr>
            <a:r>
              <a:rPr lang="en-US" sz="900" b="1" dirty="0">
                <a:solidFill>
                  <a:srgbClr val="0E2F56"/>
                </a:solidFill>
              </a:rPr>
              <a:t>5</a:t>
            </a:r>
            <a:endParaRPr lang="en-US" sz="900" dirty="0"/>
          </a:p>
          <a:p>
            <a:pPr algn="ctr" indent="0" marL="0">
              <a:buNone/>
            </a:pPr>
            <a:r>
              <a:rPr lang="en-US" sz="650" dirty="0">
                <a:solidFill>
                  <a:srgbClr val="0E2F56"/>
                </a:solidFill>
              </a:rPr>
              <a:t>Pembayaran</a:t>
            </a:r>
            <a:endParaRPr lang="en-US" sz="900" dirty="0"/>
          </a:p>
        </p:txBody>
      </p:sp>
      <p:sp>
        <p:nvSpPr>
          <p:cNvPr id="14" name="lane-153"/>
          <p:cNvSpPr/>
          <p:nvPr/>
        </p:nvSpPr>
        <p:spPr>
          <a:xfrm>
            <a:off x="548640" y="1783080"/>
            <a:ext cx="7269480" cy="1207008"/>
          </a:xfrm>
          <a:prstGeom prst="rect">
            <a:avLst/>
          </a:prstGeom>
          <a:solidFill>
            <a:srgbClr val="F2F4F7"/>
          </a:solidFill>
          <a:ln w="6350">
            <a:solidFill>
              <a:srgbClr val="CDD5DF"/>
            </a:solidFill>
            <a:prstDash val="solid"/>
          </a:ln>
        </p:spPr>
      </p:sp>
      <p:sp>
        <p:nvSpPr>
          <p:cNvPr id="15" name="lane-head-154"/>
          <p:cNvSpPr/>
          <p:nvPr/>
        </p:nvSpPr>
        <p:spPr>
          <a:xfrm>
            <a:off x="548640" y="1783080"/>
            <a:ext cx="1325880" cy="1207008"/>
          </a:xfrm>
          <a:prstGeom prst="rect">
            <a:avLst/>
          </a:prstGeom>
          <a:solidFill>
            <a:srgbClr val="0E2F56"/>
          </a:solidFill>
          <a:ln w="6350">
            <a:solidFill>
              <a:srgbClr val="0E2F56"/>
            </a:solidFill>
            <a:prstDash val="solid"/>
          </a:ln>
        </p:spPr>
      </p:sp>
      <p:sp>
        <p:nvSpPr>
          <p:cNvPr id="16" name="lane-name-155"/>
          <p:cNvSpPr txBox="1"/>
          <p:nvPr/>
        </p:nvSpPr>
        <p:spPr>
          <a:xfrm>
            <a:off x="621792" y="1783080"/>
            <a:ext cx="1179576" cy="1207008"/>
          </a:xfrm>
          <a:prstGeom prst="rect">
            <a:avLst/>
          </a:prstGeom>
          <a:noFill/>
          <a:ln/>
        </p:spPr>
        <p:txBody>
          <a:bodyPr wrap="square" lIns="0" tIns="0" rIns="0" bIns="0" rtlCol="0" anchor="ctr"/>
          <a:lstStyle/>
          <a:p>
            <a:pPr algn="l" indent="0" marL="0">
              <a:buNone/>
            </a:pPr>
            <a:r>
              <a:rPr lang="en-US" sz="1000" b="1" dirty="0">
                <a:solidFill>
                  <a:srgbClr val="FFFFFF"/>
                </a:solidFill>
              </a:rPr>
              <a:t>TL Pengadaan</a:t>
            </a:r>
            <a:endParaRPr lang="en-US" sz="1000" dirty="0"/>
          </a:p>
        </p:txBody>
      </p:sp>
      <p:sp>
        <p:nvSpPr>
          <p:cNvPr id="17" name="lane-156"/>
          <p:cNvSpPr/>
          <p:nvPr/>
        </p:nvSpPr>
        <p:spPr>
          <a:xfrm>
            <a:off x="548640" y="3026664"/>
            <a:ext cx="7269480" cy="1207008"/>
          </a:xfrm>
          <a:prstGeom prst="rect">
            <a:avLst/>
          </a:prstGeom>
          <a:solidFill>
            <a:srgbClr val="FFFFFF"/>
          </a:solidFill>
          <a:ln w="6350">
            <a:solidFill>
              <a:srgbClr val="CDD5DF"/>
            </a:solidFill>
            <a:prstDash val="solid"/>
          </a:ln>
        </p:spPr>
      </p:sp>
      <p:sp>
        <p:nvSpPr>
          <p:cNvPr id="18" name="lane-head-157"/>
          <p:cNvSpPr/>
          <p:nvPr/>
        </p:nvSpPr>
        <p:spPr>
          <a:xfrm>
            <a:off x="548640" y="3026664"/>
            <a:ext cx="1325880" cy="1207008"/>
          </a:xfrm>
          <a:prstGeom prst="rect">
            <a:avLst/>
          </a:prstGeom>
          <a:solidFill>
            <a:srgbClr val="0E2F56"/>
          </a:solidFill>
          <a:ln w="6350">
            <a:solidFill>
              <a:srgbClr val="0E2F56"/>
            </a:solidFill>
            <a:prstDash val="solid"/>
          </a:ln>
        </p:spPr>
      </p:sp>
      <p:sp>
        <p:nvSpPr>
          <p:cNvPr id="19" name="lane-name-158"/>
          <p:cNvSpPr txBox="1"/>
          <p:nvPr/>
        </p:nvSpPr>
        <p:spPr>
          <a:xfrm>
            <a:off x="621792" y="3026664"/>
            <a:ext cx="1179576" cy="1207008"/>
          </a:xfrm>
          <a:prstGeom prst="rect">
            <a:avLst/>
          </a:prstGeom>
          <a:noFill/>
          <a:ln/>
        </p:spPr>
        <p:txBody>
          <a:bodyPr wrap="square" lIns="0" tIns="0" rIns="0" bIns="0" rtlCol="0" anchor="ctr"/>
          <a:lstStyle/>
          <a:p>
            <a:pPr algn="l" indent="0" marL="0">
              <a:buNone/>
            </a:pPr>
            <a:r>
              <a:rPr lang="en-US" sz="1000" b="1" dirty="0">
                <a:solidFill>
                  <a:srgbClr val="FFFFFF"/>
                </a:solidFill>
              </a:rPr>
              <a:t>TL ICC</a:t>
            </a:r>
            <a:endParaRPr lang="en-US" sz="1000" dirty="0"/>
          </a:p>
        </p:txBody>
      </p:sp>
      <p:sp>
        <p:nvSpPr>
          <p:cNvPr id="20" name="lane-159"/>
          <p:cNvSpPr/>
          <p:nvPr/>
        </p:nvSpPr>
        <p:spPr>
          <a:xfrm>
            <a:off x="548640" y="4270248"/>
            <a:ext cx="7269480" cy="1207008"/>
          </a:xfrm>
          <a:prstGeom prst="rect">
            <a:avLst/>
          </a:prstGeom>
          <a:solidFill>
            <a:srgbClr val="F2F4F7"/>
          </a:solidFill>
          <a:ln w="6350">
            <a:solidFill>
              <a:srgbClr val="CDD5DF"/>
            </a:solidFill>
            <a:prstDash val="solid"/>
          </a:ln>
        </p:spPr>
      </p:sp>
      <p:sp>
        <p:nvSpPr>
          <p:cNvPr id="21" name="lane-head-160"/>
          <p:cNvSpPr/>
          <p:nvPr/>
        </p:nvSpPr>
        <p:spPr>
          <a:xfrm>
            <a:off x="548640" y="4270248"/>
            <a:ext cx="1325880" cy="1207008"/>
          </a:xfrm>
          <a:prstGeom prst="rect">
            <a:avLst/>
          </a:prstGeom>
          <a:solidFill>
            <a:srgbClr val="0E2F56"/>
          </a:solidFill>
          <a:ln w="6350">
            <a:solidFill>
              <a:srgbClr val="0E2F56"/>
            </a:solidFill>
            <a:prstDash val="solid"/>
          </a:ln>
        </p:spPr>
      </p:sp>
      <p:sp>
        <p:nvSpPr>
          <p:cNvPr id="22" name="lane-name-161"/>
          <p:cNvSpPr txBox="1"/>
          <p:nvPr/>
        </p:nvSpPr>
        <p:spPr>
          <a:xfrm>
            <a:off x="621792" y="4270248"/>
            <a:ext cx="1179576" cy="1207008"/>
          </a:xfrm>
          <a:prstGeom prst="rect">
            <a:avLst/>
          </a:prstGeom>
          <a:noFill/>
          <a:ln/>
        </p:spPr>
        <p:txBody>
          <a:bodyPr wrap="square" lIns="0" tIns="0" rIns="0" bIns="0" rtlCol="0" anchor="ctr"/>
          <a:lstStyle/>
          <a:p>
            <a:pPr algn="l" indent="0" marL="0">
              <a:buNone/>
            </a:pPr>
            <a:r>
              <a:rPr lang="en-US" sz="1000" b="1" dirty="0">
                <a:solidFill>
                  <a:srgbClr val="FFFFFF"/>
                </a:solidFill>
              </a:rPr>
              <a:t>PIC Perencana</a:t>
            </a:r>
            <a:endParaRPr lang="en-US" sz="1000" dirty="0"/>
          </a:p>
        </p:txBody>
      </p:sp>
      <p:sp>
        <p:nvSpPr>
          <p:cNvPr id="23" name="node-pre-162"/>
          <p:cNvSpPr/>
          <p:nvPr/>
        </p:nvSpPr>
        <p:spPr>
          <a:xfrm>
            <a:off x="2057400" y="2039112"/>
            <a:ext cx="1691640" cy="694944"/>
          </a:xfrm>
          <a:prstGeom prst="rect">
            <a:avLst/>
          </a:prstGeom>
          <a:solidFill>
            <a:srgbClr val="FFFFFF"/>
          </a:solidFill>
          <a:ln w="15875">
            <a:solidFill>
              <a:srgbClr val="5B6B7C"/>
            </a:solidFill>
            <a:prstDash val="dash"/>
          </a:ln>
        </p:spPr>
      </p:sp>
      <p:sp>
        <p:nvSpPr>
          <p:cNvPr id="24" name="node-text-163"/>
          <p:cNvSpPr txBox="1"/>
          <p:nvPr/>
        </p:nvSpPr>
        <p:spPr>
          <a:xfrm>
            <a:off x="2112264" y="2039112"/>
            <a:ext cx="1581912" cy="694944"/>
          </a:xfrm>
          <a:prstGeom prst="rect">
            <a:avLst/>
          </a:prstGeom>
          <a:noFill/>
          <a:ln/>
        </p:spPr>
        <p:txBody>
          <a:bodyPr wrap="square" lIns="0" tIns="0" rIns="0" bIns="0" rtlCol="0" anchor="ctr"/>
          <a:lstStyle/>
          <a:p>
            <a:pPr algn="ctr" indent="0" marL="0">
              <a:buNone/>
            </a:pPr>
            <a:r>
              <a:rPr lang="en-US" sz="900" dirty="0">
                <a:solidFill>
                  <a:srgbClr val="1F2D3D"/>
                </a:solidFill>
              </a:rPr>
              <a:t>Lengkapi data: jenis kontrak, nilai, calon mitra (prasyarat)</a:t>
            </a:r>
            <a:endParaRPr lang="en-US" sz="900" dirty="0"/>
          </a:p>
        </p:txBody>
      </p:sp>
      <p:sp>
        <p:nvSpPr>
          <p:cNvPr id="25" name="node-process-164"/>
          <p:cNvSpPr/>
          <p:nvPr/>
        </p:nvSpPr>
        <p:spPr>
          <a:xfrm>
            <a:off x="2057400" y="3355848"/>
            <a:ext cx="1463040" cy="548640"/>
          </a:xfrm>
          <a:prstGeom prst="rect">
            <a:avLst/>
          </a:prstGeom>
          <a:solidFill>
            <a:srgbClr val="E7F0FA"/>
          </a:solidFill>
          <a:ln w="15875">
            <a:solidFill>
              <a:srgbClr val="1F6FB2"/>
            </a:solidFill>
            <a:prstDash val="solid"/>
          </a:ln>
        </p:spPr>
      </p:sp>
      <p:sp>
        <p:nvSpPr>
          <p:cNvPr id="26" name="node-text-165"/>
          <p:cNvSpPr txBox="1"/>
          <p:nvPr/>
        </p:nvSpPr>
        <p:spPr>
          <a:xfrm>
            <a:off x="2112264" y="3355848"/>
            <a:ext cx="1353312" cy="548640"/>
          </a:xfrm>
          <a:prstGeom prst="rect">
            <a:avLst/>
          </a:prstGeom>
          <a:noFill/>
          <a:ln/>
        </p:spPr>
        <p:txBody>
          <a:bodyPr wrap="square" lIns="0" tIns="0" rIns="0" bIns="0" rtlCol="0" anchor="ctr"/>
          <a:lstStyle/>
          <a:p>
            <a:pPr algn="ctr" indent="0" marL="0">
              <a:buNone/>
            </a:pPr>
            <a:r>
              <a:rPr lang="en-US" sz="1000" dirty="0">
                <a:solidFill>
                  <a:srgbClr val="1F2D3D"/>
                </a:solidFill>
              </a:rPr>
              <a:t>Tunjuk PIC Perencana</a:t>
            </a:r>
            <a:endParaRPr lang="en-US" sz="1000" dirty="0"/>
          </a:p>
        </p:txBody>
      </p:sp>
      <p:sp>
        <p:nvSpPr>
          <p:cNvPr id="27" name="node-process-166"/>
          <p:cNvSpPr/>
          <p:nvPr/>
        </p:nvSpPr>
        <p:spPr>
          <a:xfrm>
            <a:off x="3840480" y="4507992"/>
            <a:ext cx="1828800" cy="731520"/>
          </a:xfrm>
          <a:prstGeom prst="rect">
            <a:avLst/>
          </a:prstGeom>
          <a:solidFill>
            <a:srgbClr val="E7F0FA"/>
          </a:solidFill>
          <a:ln w="15875">
            <a:solidFill>
              <a:srgbClr val="1F6FB2"/>
            </a:solidFill>
            <a:prstDash val="solid"/>
          </a:ln>
        </p:spPr>
      </p:sp>
      <p:sp>
        <p:nvSpPr>
          <p:cNvPr id="28" name="node-text-167"/>
          <p:cNvSpPr txBox="1"/>
          <p:nvPr/>
        </p:nvSpPr>
        <p:spPr>
          <a:xfrm>
            <a:off x="3895344" y="4507992"/>
            <a:ext cx="1719072" cy="731520"/>
          </a:xfrm>
          <a:prstGeom prst="rect">
            <a:avLst/>
          </a:prstGeom>
          <a:noFill/>
          <a:ln/>
        </p:spPr>
        <p:txBody>
          <a:bodyPr wrap="square" lIns="0" tIns="0" rIns="0" bIns="0" rtlCol="0" anchor="ctr"/>
          <a:lstStyle/>
          <a:p>
            <a:pPr algn="ctr" indent="0" marL="0">
              <a:buNone/>
            </a:pPr>
            <a:r>
              <a:rPr lang="en-US" sz="1000" dirty="0">
                <a:solidFill>
                  <a:srgbClr val="1F2D3D"/>
                </a:solidFill>
              </a:rPr>
              <a:t>Susun checklist: generate, edit, unggah dokumen tervalidasi; lalu Ajukan</a:t>
            </a:r>
            <a:endParaRPr lang="en-US" sz="1000" dirty="0"/>
          </a:p>
        </p:txBody>
      </p:sp>
      <p:sp>
        <p:nvSpPr>
          <p:cNvPr id="29" name="connector-168"/>
          <p:cNvSpPr/>
          <p:nvPr/>
        </p:nvSpPr>
        <p:spPr>
          <a:xfrm>
            <a:off x="2788920" y="3904488"/>
            <a:ext cx="0" cy="969264"/>
          </a:xfrm>
          <a:prstGeom prst="line">
            <a:avLst/>
          </a:prstGeom>
          <a:noFill/>
          <a:ln w="19050">
            <a:solidFill>
              <a:srgbClr val="1F6FB2"/>
            </a:solidFill>
            <a:prstDash val="solid"/>
          </a:ln>
        </p:spPr>
      </p:sp>
      <p:sp>
        <p:nvSpPr>
          <p:cNvPr id="30" name="connector-169"/>
          <p:cNvSpPr/>
          <p:nvPr/>
        </p:nvSpPr>
        <p:spPr>
          <a:xfrm>
            <a:off x="2788920" y="4873752"/>
            <a:ext cx="1051560" cy="0"/>
          </a:xfrm>
          <a:prstGeom prst="line">
            <a:avLst/>
          </a:prstGeom>
          <a:noFill/>
          <a:ln w="19050">
            <a:solidFill>
              <a:srgbClr val="1F6FB2"/>
            </a:solidFill>
            <a:prstDash val="solid"/>
            <a:tailEnd type="triangle"/>
          </a:ln>
        </p:spPr>
      </p:sp>
      <p:sp>
        <p:nvSpPr>
          <p:cNvPr id="31" name="decision-170"/>
          <p:cNvSpPr/>
          <p:nvPr/>
        </p:nvSpPr>
        <p:spPr>
          <a:xfrm>
            <a:off x="4160520" y="3218688"/>
            <a:ext cx="1188720" cy="822960"/>
          </a:xfrm>
          <a:prstGeom prst="diamond">
            <a:avLst/>
          </a:prstGeom>
          <a:solidFill>
            <a:srgbClr val="FFFFFF"/>
          </a:solidFill>
          <a:ln w="19050">
            <a:solidFill>
              <a:srgbClr val="0E2F56"/>
            </a:solidFill>
            <a:prstDash val="solid"/>
          </a:ln>
        </p:spPr>
      </p:sp>
      <p:sp>
        <p:nvSpPr>
          <p:cNvPr id="32" name="decision-text-171"/>
          <p:cNvSpPr txBox="1"/>
          <p:nvPr/>
        </p:nvSpPr>
        <p:spPr>
          <a:xfrm>
            <a:off x="4297680" y="3218688"/>
            <a:ext cx="914400" cy="822960"/>
          </a:xfrm>
          <a:prstGeom prst="rect">
            <a:avLst/>
          </a:prstGeom>
          <a:noFill/>
          <a:ln/>
        </p:spPr>
        <p:txBody>
          <a:bodyPr wrap="square" lIns="0" tIns="0" rIns="0" bIns="0" rtlCol="0" anchor="ctr"/>
          <a:lstStyle/>
          <a:p>
            <a:pPr algn="ctr" indent="0" marL="0">
              <a:buNone/>
            </a:pPr>
            <a:r>
              <a:rPr lang="en-US" sz="900" b="1" dirty="0">
                <a:solidFill>
                  <a:srgbClr val="0E2F56"/>
                </a:solidFill>
              </a:rPr>
              <a:t>TL ICC setujui?</a:t>
            </a:r>
            <a:endParaRPr lang="en-US" sz="900" dirty="0"/>
          </a:p>
        </p:txBody>
      </p:sp>
      <p:sp>
        <p:nvSpPr>
          <p:cNvPr id="33" name="connector-172"/>
          <p:cNvSpPr/>
          <p:nvPr/>
        </p:nvSpPr>
        <p:spPr>
          <a:xfrm flipV="1">
            <a:off x="4754880" y="4041648"/>
            <a:ext cx="0" cy="466344"/>
          </a:xfrm>
          <a:prstGeom prst="line">
            <a:avLst/>
          </a:prstGeom>
          <a:noFill/>
          <a:ln w="19050">
            <a:solidFill>
              <a:srgbClr val="1F6FB2"/>
            </a:solidFill>
            <a:prstDash val="solid"/>
            <a:tailEnd type="triangle"/>
          </a:ln>
        </p:spPr>
      </p:sp>
      <p:sp>
        <p:nvSpPr>
          <p:cNvPr id="34" name="node-approve-173"/>
          <p:cNvSpPr/>
          <p:nvPr/>
        </p:nvSpPr>
        <p:spPr>
          <a:xfrm>
            <a:off x="4023360" y="2112264"/>
            <a:ext cx="1463040" cy="548640"/>
          </a:xfrm>
          <a:prstGeom prst="rect">
            <a:avLst/>
          </a:prstGeom>
          <a:solidFill>
            <a:srgbClr val="E4F3EB"/>
          </a:solidFill>
          <a:ln w="15875">
            <a:solidFill>
              <a:srgbClr val="1E7B4F"/>
            </a:solidFill>
            <a:prstDash val="solid"/>
          </a:ln>
        </p:spPr>
      </p:sp>
      <p:sp>
        <p:nvSpPr>
          <p:cNvPr id="35" name="node-text-174"/>
          <p:cNvSpPr txBox="1"/>
          <p:nvPr/>
        </p:nvSpPr>
        <p:spPr>
          <a:xfrm>
            <a:off x="4078224" y="2112264"/>
            <a:ext cx="1353312" cy="548640"/>
          </a:xfrm>
          <a:prstGeom prst="rect">
            <a:avLst/>
          </a:prstGeom>
          <a:noFill/>
          <a:ln/>
        </p:spPr>
        <p:txBody>
          <a:bodyPr wrap="square" lIns="0" tIns="0" rIns="0" bIns="0" rtlCol="0" anchor="ctr"/>
          <a:lstStyle/>
          <a:p>
            <a:pPr algn="ctr" indent="0" marL="0">
              <a:buNone/>
            </a:pPr>
            <a:r>
              <a:rPr lang="en-US" sz="1000" dirty="0">
                <a:solidFill>
                  <a:srgbClr val="1F2D3D"/>
                </a:solidFill>
              </a:rPr>
              <a:t>Tunjuk PIC Pelaksana</a:t>
            </a:r>
            <a:endParaRPr lang="en-US" sz="1000" dirty="0"/>
          </a:p>
        </p:txBody>
      </p:sp>
      <p:sp>
        <p:nvSpPr>
          <p:cNvPr id="36" name="connector-175"/>
          <p:cNvSpPr/>
          <p:nvPr/>
        </p:nvSpPr>
        <p:spPr>
          <a:xfrm flipV="1">
            <a:off x="4754880" y="2660904"/>
            <a:ext cx="0" cy="557784"/>
          </a:xfrm>
          <a:prstGeom prst="line">
            <a:avLst/>
          </a:prstGeom>
          <a:noFill/>
          <a:ln w="19050">
            <a:solidFill>
              <a:srgbClr val="1F6FB2"/>
            </a:solidFill>
            <a:prstDash val="solid"/>
            <a:tailEnd type="triangle"/>
          </a:ln>
        </p:spPr>
      </p:sp>
      <p:sp>
        <p:nvSpPr>
          <p:cNvPr id="37" name="flow-label-176"/>
          <p:cNvSpPr txBox="1"/>
          <p:nvPr/>
        </p:nvSpPr>
        <p:spPr>
          <a:xfrm>
            <a:off x="4809744" y="2898648"/>
            <a:ext cx="365760" cy="219456"/>
          </a:xfrm>
          <a:prstGeom prst="rect">
            <a:avLst/>
          </a:prstGeom>
          <a:noFill/>
          <a:ln/>
        </p:spPr>
        <p:txBody>
          <a:bodyPr wrap="square" lIns="0" tIns="0" rIns="0" bIns="0" rtlCol="0" anchor="ctr"/>
          <a:lstStyle/>
          <a:p>
            <a:pPr algn="l" indent="0" marL="0">
              <a:buNone/>
            </a:pPr>
            <a:r>
              <a:rPr lang="en-US" sz="850" b="1" dirty="0">
                <a:solidFill>
                  <a:srgbClr val="1E7B4F"/>
                </a:solidFill>
              </a:rPr>
              <a:t>Ya</a:t>
            </a:r>
            <a:endParaRPr lang="en-US" sz="850" dirty="0"/>
          </a:p>
        </p:txBody>
      </p:sp>
      <p:sp>
        <p:nvSpPr>
          <p:cNvPr id="38" name="node-revise-177"/>
          <p:cNvSpPr/>
          <p:nvPr/>
        </p:nvSpPr>
        <p:spPr>
          <a:xfrm>
            <a:off x="5897880" y="3328416"/>
            <a:ext cx="1691640" cy="603504"/>
          </a:xfrm>
          <a:prstGeom prst="rect">
            <a:avLst/>
          </a:prstGeom>
          <a:solidFill>
            <a:srgbClr val="FCEFE1"/>
          </a:solidFill>
          <a:ln w="15875">
            <a:solidFill>
              <a:srgbClr val="D9822B"/>
            </a:solidFill>
            <a:prstDash val="solid"/>
          </a:ln>
        </p:spPr>
      </p:sp>
      <p:sp>
        <p:nvSpPr>
          <p:cNvPr id="39" name="node-text-178"/>
          <p:cNvSpPr txBox="1"/>
          <p:nvPr/>
        </p:nvSpPr>
        <p:spPr>
          <a:xfrm>
            <a:off x="5952744" y="3328416"/>
            <a:ext cx="1581912" cy="603504"/>
          </a:xfrm>
          <a:prstGeom prst="rect">
            <a:avLst/>
          </a:prstGeom>
          <a:noFill/>
          <a:ln/>
        </p:spPr>
        <p:txBody>
          <a:bodyPr wrap="square" lIns="0" tIns="0" rIns="0" bIns="0" rtlCol="0" anchor="ctr"/>
          <a:lstStyle/>
          <a:p>
            <a:pPr algn="ctr" indent="0" marL="0">
              <a:buNone/>
            </a:pPr>
            <a:r>
              <a:rPr lang="en-US" sz="950" dirty="0">
                <a:solidFill>
                  <a:srgbClr val="1F2D3D"/>
                </a:solidFill>
              </a:rPr>
              <a:t>Revisi Perencanaan (dikembalikan)</a:t>
            </a:r>
            <a:endParaRPr lang="en-US" sz="950" dirty="0"/>
          </a:p>
        </p:txBody>
      </p:sp>
      <p:sp>
        <p:nvSpPr>
          <p:cNvPr id="40" name="connector-179"/>
          <p:cNvSpPr/>
          <p:nvPr/>
        </p:nvSpPr>
        <p:spPr>
          <a:xfrm>
            <a:off x="5349240" y="3630168"/>
            <a:ext cx="548640" cy="0"/>
          </a:xfrm>
          <a:prstGeom prst="line">
            <a:avLst/>
          </a:prstGeom>
          <a:noFill/>
          <a:ln w="19050">
            <a:solidFill>
              <a:srgbClr val="D9822B"/>
            </a:solidFill>
            <a:prstDash val="dash"/>
            <a:tailEnd type="triangle"/>
          </a:ln>
        </p:spPr>
      </p:sp>
      <p:sp>
        <p:nvSpPr>
          <p:cNvPr id="41" name="flow-label-180"/>
          <p:cNvSpPr txBox="1"/>
          <p:nvPr/>
        </p:nvSpPr>
        <p:spPr>
          <a:xfrm>
            <a:off x="5376672" y="3392424"/>
            <a:ext cx="548640" cy="219456"/>
          </a:xfrm>
          <a:prstGeom prst="rect">
            <a:avLst/>
          </a:prstGeom>
          <a:noFill/>
          <a:ln/>
        </p:spPr>
        <p:txBody>
          <a:bodyPr wrap="square" lIns="0" tIns="0" rIns="0" bIns="0" rtlCol="0" anchor="ctr"/>
          <a:lstStyle/>
          <a:p>
            <a:pPr algn="l" indent="0" marL="0">
              <a:buNone/>
            </a:pPr>
            <a:r>
              <a:rPr lang="en-US" sz="850" b="1" dirty="0">
                <a:solidFill>
                  <a:srgbClr val="D9822B"/>
                </a:solidFill>
              </a:rPr>
              <a:t>Tidak</a:t>
            </a:r>
            <a:endParaRPr lang="en-US" sz="850" dirty="0"/>
          </a:p>
        </p:txBody>
      </p:sp>
      <p:sp>
        <p:nvSpPr>
          <p:cNvPr id="42" name="connector-181"/>
          <p:cNvSpPr/>
          <p:nvPr/>
        </p:nvSpPr>
        <p:spPr>
          <a:xfrm>
            <a:off x="6743700" y="3931920"/>
            <a:ext cx="0" cy="941832"/>
          </a:xfrm>
          <a:prstGeom prst="line">
            <a:avLst/>
          </a:prstGeom>
          <a:noFill/>
          <a:ln w="19050">
            <a:solidFill>
              <a:srgbClr val="D9822B"/>
            </a:solidFill>
            <a:prstDash val="dash"/>
          </a:ln>
        </p:spPr>
      </p:sp>
      <p:sp>
        <p:nvSpPr>
          <p:cNvPr id="43" name="connector-182"/>
          <p:cNvSpPr/>
          <p:nvPr/>
        </p:nvSpPr>
        <p:spPr>
          <a:xfrm flipH="1">
            <a:off x="5669280" y="4873752"/>
            <a:ext cx="1074420" cy="0"/>
          </a:xfrm>
          <a:prstGeom prst="line">
            <a:avLst/>
          </a:prstGeom>
          <a:noFill/>
          <a:ln w="19050">
            <a:solidFill>
              <a:srgbClr val="D9822B"/>
            </a:solidFill>
            <a:prstDash val="dash"/>
            <a:tailEnd type="triangle"/>
          </a:ln>
        </p:spPr>
      </p:sp>
      <p:sp>
        <p:nvSpPr>
          <p:cNvPr id="44" name="node-done-183"/>
          <p:cNvSpPr/>
          <p:nvPr/>
        </p:nvSpPr>
        <p:spPr>
          <a:xfrm>
            <a:off x="5897880" y="2112264"/>
            <a:ext cx="1691640" cy="548640"/>
          </a:xfrm>
          <a:prstGeom prst="rect">
            <a:avLst/>
          </a:prstGeom>
          <a:solidFill>
            <a:srgbClr val="1E7B4F"/>
          </a:solidFill>
          <a:ln w="15875">
            <a:solidFill>
              <a:srgbClr val="1E7B4F"/>
            </a:solidFill>
            <a:prstDash val="solid"/>
          </a:ln>
        </p:spPr>
      </p:sp>
      <p:sp>
        <p:nvSpPr>
          <p:cNvPr id="45" name="node-text-184"/>
          <p:cNvSpPr txBox="1"/>
          <p:nvPr/>
        </p:nvSpPr>
        <p:spPr>
          <a:xfrm>
            <a:off x="5952744" y="2112264"/>
            <a:ext cx="1581912" cy="548640"/>
          </a:xfrm>
          <a:prstGeom prst="rect">
            <a:avLst/>
          </a:prstGeom>
          <a:noFill/>
          <a:ln/>
        </p:spPr>
        <p:txBody>
          <a:bodyPr wrap="square" lIns="0" tIns="0" rIns="0" bIns="0" rtlCol="0" anchor="ctr"/>
          <a:lstStyle/>
          <a:p>
            <a:pPr algn="ctr" indent="0" marL="0">
              <a:buNone/>
            </a:pPr>
            <a:r>
              <a:rPr lang="en-US" sz="1000" b="1" dirty="0">
                <a:solidFill>
                  <a:srgbClr val="FFFFFF"/>
                </a:solidFill>
              </a:rPr>
              <a:t>Ke Pelaksanaan</a:t>
            </a:r>
            <a:endParaRPr lang="en-US" sz="1000" dirty="0"/>
          </a:p>
        </p:txBody>
      </p:sp>
      <p:sp>
        <p:nvSpPr>
          <p:cNvPr id="46" name="connector-185"/>
          <p:cNvSpPr/>
          <p:nvPr/>
        </p:nvSpPr>
        <p:spPr>
          <a:xfrm>
            <a:off x="5486400" y="2386584"/>
            <a:ext cx="411480" cy="0"/>
          </a:xfrm>
          <a:prstGeom prst="line">
            <a:avLst/>
          </a:prstGeom>
          <a:noFill/>
          <a:ln w="19050">
            <a:solidFill>
              <a:srgbClr val="1E7B4F"/>
            </a:solidFill>
            <a:prstDash val="solid"/>
            <a:tailEnd type="triangle"/>
          </a:ln>
        </p:spPr>
      </p:sp>
      <p:sp>
        <p:nvSpPr>
          <p:cNvPr id="47" name="Text 45"/>
          <p:cNvSpPr txBox="1"/>
          <p:nvPr/>
        </p:nvSpPr>
        <p:spPr>
          <a:xfrm>
            <a:off x="8046720" y="1783080"/>
            <a:ext cx="3596335" cy="256032"/>
          </a:xfrm>
          <a:prstGeom prst="rect">
            <a:avLst/>
          </a:prstGeom>
          <a:noFill/>
          <a:ln/>
        </p:spPr>
        <p:txBody>
          <a:bodyPr wrap="square" lIns="0" tIns="0" rIns="0" bIns="0" rtlCol="0" anchor="ctr"/>
          <a:lstStyle/>
          <a:p>
            <a:pPr indent="0" marL="0">
              <a:buNone/>
            </a:pPr>
            <a:r>
              <a:rPr lang="en-US" sz="950" b="1" spc="100" kern="0" dirty="0">
                <a:solidFill>
                  <a:srgbClr val="0E2F56"/>
                </a:solidFill>
              </a:rPr>
              <a:t>CHECKLIST PERENCANAAN</a:t>
            </a:r>
            <a:endParaRPr lang="en-US" sz="950" dirty="0"/>
          </a:p>
        </p:txBody>
      </p:sp>
      <p:graphicFrame>
        <p:nvGraphicFramePr>
          <p:cNvPr id="7" name="table-186"/>
          <p:cNvGraphicFramePr>
            <a:graphicFrameLocks noGrp="1"/>
          </p:cNvGraphicFramePr>
          <p:nvPr>
            <p:extLst>
              <p:ext uri="{D42A27DB-BD31-4B8C-83A1-F6EECF244321}">
                <p14:modId xmlns:p14="http://schemas.microsoft.com/office/powerpoint/2010/main" val="1579011935"/>
              </p:ext>
            </p:extLst>
          </p:nvPr>
        </p:nvGraphicFramePr>
        <p:xfrm>
          <a:off x="8046720" y="2075688"/>
          <a:ext cx="3596335" cy="914400"/>
        </p:xfrm>
        <a:graphic>
          <a:graphicData uri="http://schemas.openxmlformats.org/drawingml/2006/table">
            <a:tbl>
              <a:tblPr/>
              <a:tblGrid>
                <a:gridCol w="1947672"/>
                <a:gridCol w="822960"/>
                <a:gridCol w="822960"/>
              </a:tblGrid>
              <a:tr h="256032">
                <a:tc>
                  <a:txBody>
                    <a:bodyPr/>
                    <a:lstStyle/>
                    <a:p>
                      <a:pPr algn="l" indent="0" marL="0">
                        <a:buNone/>
                      </a:pPr>
                      <a:r>
                        <a:rPr lang="en-US" sz="950" b="1" dirty="0">
                          <a:solidFill>
                            <a:srgbClr val="FFFFFF"/>
                          </a:solidFill>
                        </a:rPr>
                        <a:t>Tahapan</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0E2F56"/>
                    </a:solidFill>
                  </a:tcPr>
                </a:tc>
                <a:tc>
                  <a:txBody>
                    <a:bodyPr/>
                    <a:lstStyle/>
                    <a:p>
                      <a:pPr algn="ctr" indent="0" marL="0">
                        <a:buNone/>
                      </a:pPr>
                      <a:r>
                        <a:rPr lang="en-US" sz="950" b="1" dirty="0">
                          <a:solidFill>
                            <a:srgbClr val="FFFFFF"/>
                          </a:solidFill>
                        </a:rPr>
                        <a:t>SPK/PJ</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0E2F56"/>
                    </a:solidFill>
                  </a:tcPr>
                </a:tc>
                <a:tc>
                  <a:txBody>
                    <a:bodyPr/>
                    <a:lstStyle/>
                    <a:p>
                      <a:pPr algn="ctr" indent="0" marL="0">
                        <a:buNone/>
                      </a:pPr>
                      <a:r>
                        <a:rPr lang="en-US" sz="950" b="1" dirty="0">
                          <a:solidFill>
                            <a:srgbClr val="FFFFFF"/>
                          </a:solidFill>
                        </a:rPr>
                        <a:t>SPPL</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0E2F56"/>
                    </a:solidFill>
                  </a:tcPr>
                </a:tc>
              </a:tr>
              <a:tr h="256032">
                <a:tc>
                  <a:txBody>
                    <a:bodyPr/>
                    <a:lstStyle/>
                    <a:p>
                      <a:pPr indent="0" marL="0">
                        <a:buNone/>
                      </a:pPr>
                      <a:r>
                        <a:rPr lang="en-US" sz="950" dirty="0">
                          <a:solidFill>
                            <a:srgbClr val="1F2D3D"/>
                          </a:solidFill>
                        </a:rPr>
                        <a:t>Evaluasi Harga</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7B4F"/>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B6B7C"/>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r>
              <a:tr h="256032">
                <a:tc>
                  <a:txBody>
                    <a:bodyPr/>
                    <a:lstStyle/>
                    <a:p>
                      <a:pPr indent="0" marL="0">
                        <a:buNone/>
                      </a:pPr>
                      <a:r>
                        <a:rPr lang="en-US" sz="950" dirty="0">
                          <a:solidFill>
                            <a:srgbClr val="1F2D3D"/>
                          </a:solidFill>
                        </a:rPr>
                        <a:t>Penawaran</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7B4F"/>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7B4F"/>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r>
              <a:tr h="256032">
                <a:tc>
                  <a:txBody>
                    <a:bodyPr/>
                    <a:lstStyle/>
                    <a:p>
                      <a:pPr indent="0" marL="0">
                        <a:buNone/>
                      </a:pPr>
                      <a:r>
                        <a:rPr lang="en-US" sz="950" dirty="0">
                          <a:solidFill>
                            <a:srgbClr val="1F2D3D"/>
                          </a:solidFill>
                        </a:rPr>
                        <a:t>CSMS (opsional)</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7B4F"/>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7B4F"/>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r>
              <a:tr h="256032">
                <a:tc>
                  <a:txBody>
                    <a:bodyPr/>
                    <a:lstStyle/>
                    <a:p>
                      <a:pPr indent="0" marL="0">
                        <a:buNone/>
                      </a:pPr>
                      <a:r>
                        <a:rPr lang="en-US" sz="950" dirty="0">
                          <a:solidFill>
                            <a:srgbClr val="1F2D3D"/>
                          </a:solidFill>
                        </a:rPr>
                        <a:t>Nota Dinas ke Pengadaan</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7B4F"/>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7B4F"/>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r>
              <a:tr h="256032">
                <a:tc>
                  <a:txBody>
                    <a:bodyPr/>
                    <a:lstStyle/>
                    <a:p>
                      <a:pPr indent="0" marL="0">
                        <a:buNone/>
                      </a:pPr>
                      <a:r>
                        <a:rPr lang="en-US" sz="950" dirty="0">
                          <a:solidFill>
                            <a:srgbClr val="1F2D3D"/>
                          </a:solidFill>
                        </a:rPr>
                        <a:t>HPE</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7B4F"/>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B6B7C"/>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r>
              <a:tr h="256032">
                <a:tc>
                  <a:txBody>
                    <a:bodyPr/>
                    <a:lstStyle/>
                    <a:p>
                      <a:pPr indent="0" marL="0">
                        <a:buNone/>
                      </a:pPr>
                      <a:r>
                        <a:rPr lang="en-US" sz="950" dirty="0">
                          <a:solidFill>
                            <a:srgbClr val="1F2D3D"/>
                          </a:solidFill>
                        </a:rPr>
                        <a:t>UPB</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7B4F"/>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B6B7C"/>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r>
              <a:tr h="256032">
                <a:tc>
                  <a:txBody>
                    <a:bodyPr/>
                    <a:lstStyle/>
                    <a:p>
                      <a:pPr indent="0" marL="0">
                        <a:buNone/>
                      </a:pPr>
                      <a:r>
                        <a:rPr lang="en-US" sz="950" dirty="0">
                          <a:solidFill>
                            <a:srgbClr val="1F2D3D"/>
                          </a:solidFill>
                        </a:rPr>
                        <a:t>RKS</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7B4F"/>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B6B7C"/>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r>
              <a:tr h="256032">
                <a:tc>
                  <a:txBody>
                    <a:bodyPr/>
                    <a:lstStyle/>
                    <a:p>
                      <a:pPr indent="0" marL="0">
                        <a:buNone/>
                      </a:pPr>
                      <a:r>
                        <a:rPr lang="en-US" sz="950" dirty="0">
                          <a:solidFill>
                            <a:srgbClr val="1F2D3D"/>
                          </a:solidFill>
                        </a:rPr>
                        <a:t>Inisiasi SMART SCM</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7B4F"/>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B6B7C"/>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r>
              <a:tr h="256032">
                <a:tc>
                  <a:txBody>
                    <a:bodyPr/>
                    <a:lstStyle/>
                    <a:p>
                      <a:pPr indent="0" marL="0">
                        <a:buNone/>
                      </a:pPr>
                      <a:r>
                        <a:rPr lang="en-US" sz="950" dirty="0">
                          <a:solidFill>
                            <a:srgbClr val="1F2D3D"/>
                          </a:solidFill>
                        </a:rPr>
                        <a:t>PR / RO (opsional)</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7B4F"/>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B6B7C"/>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r>
            </a:tbl>
          </a:graphicData>
        </a:graphic>
      </p:graphicFrame>
      <p:sp>
        <p:nvSpPr>
          <p:cNvPr id="49" name="Text 46"/>
          <p:cNvSpPr txBox="1"/>
          <p:nvPr/>
        </p:nvSpPr>
        <p:spPr>
          <a:xfrm>
            <a:off x="8046720" y="4709160"/>
            <a:ext cx="3596335" cy="777240"/>
          </a:xfrm>
          <a:prstGeom prst="rect">
            <a:avLst/>
          </a:prstGeom>
          <a:noFill/>
          <a:ln/>
        </p:spPr>
        <p:txBody>
          <a:bodyPr wrap="square" lIns="0" tIns="0" rIns="0" bIns="0" rtlCol="0" anchor="t"/>
          <a:lstStyle/>
          <a:p>
            <a:pPr indent="0" marL="0">
              <a:buNone/>
            </a:pPr>
            <a:r>
              <a:rPr lang="en-US" sz="950" dirty="0">
                <a:solidFill>
                  <a:srgbClr val="1F2D3D"/>
                </a:solidFill>
              </a:rPr>
              <a:t>Ajukan terkunci sampai TOR dan Nota Dinas Usulan terunggah, identitas lengkap, serta Jenis Kontrak dan Kategori (SPK/PJ) terisi.</a:t>
            </a:r>
            <a:endParaRPr lang="en-US" sz="950" dirty="0"/>
          </a:p>
        </p:txBody>
      </p:sp>
      <p:sp>
        <p:nvSpPr>
          <p:cNvPr id="50" name="status-strip-187"/>
          <p:cNvSpPr/>
          <p:nvPr/>
        </p:nvSpPr>
        <p:spPr>
          <a:xfrm>
            <a:off x="548640" y="5733288"/>
            <a:ext cx="11094415" cy="457200"/>
          </a:xfrm>
          <a:prstGeom prst="rect">
            <a:avLst/>
          </a:prstGeom>
          <a:solidFill>
            <a:srgbClr val="FFFFFF"/>
          </a:solidFill>
          <a:ln w="9525">
            <a:solidFill>
              <a:srgbClr val="CDD5DF"/>
            </a:solidFill>
            <a:prstDash val="solid"/>
          </a:ln>
        </p:spPr>
      </p:sp>
      <p:sp>
        <p:nvSpPr>
          <p:cNvPr id="51" name="status-mark-188"/>
          <p:cNvSpPr/>
          <p:nvPr/>
        </p:nvSpPr>
        <p:spPr>
          <a:xfrm>
            <a:off x="548640" y="5733288"/>
            <a:ext cx="73152" cy="457200"/>
          </a:xfrm>
          <a:prstGeom prst="rect">
            <a:avLst/>
          </a:prstGeom>
          <a:solidFill>
            <a:srgbClr val="1F6FB2"/>
          </a:solidFill>
          <a:ln w="12700">
            <a:solidFill>
              <a:srgbClr val="1F6FB2"/>
            </a:solidFill>
            <a:prstDash val="solid"/>
          </a:ln>
        </p:spPr>
      </p:sp>
      <p:sp>
        <p:nvSpPr>
          <p:cNvPr id="52" name="status-text-189"/>
          <p:cNvSpPr txBox="1"/>
          <p:nvPr/>
        </p:nvSpPr>
        <p:spPr>
          <a:xfrm>
            <a:off x="749808" y="5733288"/>
            <a:ext cx="10820095" cy="457200"/>
          </a:xfrm>
          <a:prstGeom prst="rect">
            <a:avLst/>
          </a:prstGeom>
          <a:noFill/>
          <a:ln/>
        </p:spPr>
        <p:txBody>
          <a:bodyPr wrap="square" lIns="0" tIns="0" rIns="0" bIns="0" rtlCol="0" anchor="ctr"/>
          <a:lstStyle/>
          <a:p>
            <a:pPr indent="0" marL="0">
              <a:buNone/>
            </a:pPr>
            <a:r>
              <a:rPr lang="en-US" sz="1000" dirty="0">
                <a:solidFill>
                  <a:srgbClr val="1F2D3D"/>
                </a:solidFill>
              </a:rPr>
              <a:t>Status otomatis:  Inisiasi Rendan  &gt;  Penyusunan RKS  &gt;  Menunggu Penawaran  &gt;  Draft Nodis ke Pengadaan  &gt;  Menunggu Approval ICC     |     dikembalikan: Revisi Perencanaan</a:t>
            </a:r>
            <a:endParaRPr lang="en-US" sz="1000" dirty="0"/>
          </a:p>
        </p:txBody>
      </p:sp>
      <p:sp>
        <p:nvSpPr>
          <p:cNvPr id="25" name="Slide Number Placeholder 0"/>
          <p:cNvSpPr>
            <a:spLocks noGrp="1"/>
          </p:cNvSpPr>
          <p:nvPr>
            <p:ph type="sldNum" sz="quarter" idx="4294967295"/>
          </p:nvPr>
        </p:nvSpPr>
        <p:spPr>
          <a:xfrm>
            <a:off x="11094415" y="646480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548640" y="896112"/>
            <a:ext cx="7680960" cy="502920"/>
          </a:xfrm>
          <a:prstGeom prst="rect">
            <a:avLst/>
          </a:prstGeom>
          <a:noFill/>
          <a:ln/>
        </p:spPr>
        <p:txBody>
          <a:bodyPr wrap="square" lIns="0" tIns="0" rIns="0" bIns="0" rtlCol="0" anchor="ctr"/>
          <a:lstStyle/>
          <a:p>
            <a:pPr algn="l" indent="0" marL="0">
              <a:buNone/>
            </a:pPr>
            <a:r>
              <a:rPr lang="en-US" sz="2400" b="1" dirty="0">
                <a:solidFill>
                  <a:srgbClr val="0E2F56"/>
                </a:solidFill>
              </a:rPr>
              <a:t>Tahap 3  Pelaksanaan</a:t>
            </a:r>
            <a:endParaRPr lang="en-US" sz="2400" dirty="0"/>
          </a:p>
        </p:txBody>
      </p:sp>
      <p:sp>
        <p:nvSpPr>
          <p:cNvPr id="3" name="Text 2"/>
          <p:cNvSpPr/>
          <p:nvPr>
            <p:ph idx="103" type="body" hasCustomPrompt="1"/>
          </p:nvPr>
        </p:nvSpPr>
        <p:spPr>
          <a:xfrm>
            <a:off x="548640" y="1371600"/>
            <a:ext cx="7680960" cy="292608"/>
          </a:xfrm>
          <a:prstGeom prst="rect">
            <a:avLst/>
          </a:prstGeom>
          <a:noFill/>
          <a:ln/>
        </p:spPr>
        <p:txBody>
          <a:bodyPr wrap="square" lIns="0" tIns="0" rIns="0" bIns="0" rtlCol="0" anchor="t"/>
          <a:lstStyle/>
          <a:p>
            <a:pPr algn="l" indent="0" marL="0">
              <a:buNone/>
            </a:pPr>
            <a:r>
              <a:rPr lang="en-US" sz="1200" dirty="0">
                <a:solidFill>
                  <a:srgbClr val="5B6B7C"/>
                </a:solidFill>
              </a:rPr>
              <a:t>Checklist mengikuti format kontrak. Checklist terkunci selama ditinjau dan setelah diserahkan.</a:t>
            </a:r>
            <a:endParaRPr lang="en-US" sz="1200" dirty="0"/>
          </a:p>
        </p:txBody>
      </p:sp>
      <p:sp>
        <p:nvSpPr>
          <p:cNvPr id="4" name="tracker-190"/>
          <p:cNvSpPr/>
          <p:nvPr/>
        </p:nvSpPr>
        <p:spPr>
          <a:xfrm>
            <a:off x="8458200" y="987552"/>
            <a:ext cx="603504" cy="365760"/>
          </a:xfrm>
          <a:prstGeom prst="rect">
            <a:avLst/>
          </a:prstGeom>
          <a:solidFill>
            <a:srgbClr val="E7F0FA"/>
          </a:solidFill>
          <a:ln w="9525">
            <a:solidFill>
              <a:srgbClr val="CDD5DF"/>
            </a:solidFill>
            <a:prstDash val="solid"/>
          </a:ln>
        </p:spPr>
      </p:sp>
      <p:sp>
        <p:nvSpPr>
          <p:cNvPr id="5" name="tracker-label-191"/>
          <p:cNvSpPr txBox="1"/>
          <p:nvPr/>
        </p:nvSpPr>
        <p:spPr>
          <a:xfrm>
            <a:off x="8458200" y="987552"/>
            <a:ext cx="603504" cy="365760"/>
          </a:xfrm>
          <a:prstGeom prst="rect">
            <a:avLst/>
          </a:prstGeom>
          <a:noFill/>
          <a:ln/>
        </p:spPr>
        <p:txBody>
          <a:bodyPr wrap="square" lIns="0" tIns="0" rIns="0" bIns="0" rtlCol="0" anchor="ctr"/>
          <a:lstStyle/>
          <a:p>
            <a:pPr algn="ctr" indent="0" marL="0">
              <a:buNone/>
            </a:pPr>
            <a:r>
              <a:rPr lang="en-US" sz="900" b="1" dirty="0">
                <a:solidFill>
                  <a:srgbClr val="0E2F56"/>
                </a:solidFill>
              </a:rPr>
              <a:t>1</a:t>
            </a:r>
            <a:endParaRPr lang="en-US" sz="900" dirty="0"/>
          </a:p>
          <a:p>
            <a:pPr algn="ctr" indent="0" marL="0">
              <a:buNone/>
            </a:pPr>
            <a:r>
              <a:rPr lang="en-US" sz="650" dirty="0">
                <a:solidFill>
                  <a:srgbClr val="0E2F56"/>
                </a:solidFill>
              </a:rPr>
              <a:t>Usulan</a:t>
            </a:r>
            <a:endParaRPr lang="en-US" sz="900" dirty="0"/>
          </a:p>
        </p:txBody>
      </p:sp>
      <p:sp>
        <p:nvSpPr>
          <p:cNvPr id="6" name="tracker-192"/>
          <p:cNvSpPr/>
          <p:nvPr/>
        </p:nvSpPr>
        <p:spPr>
          <a:xfrm>
            <a:off x="9098280" y="987552"/>
            <a:ext cx="603504" cy="365760"/>
          </a:xfrm>
          <a:prstGeom prst="rect">
            <a:avLst/>
          </a:prstGeom>
          <a:solidFill>
            <a:srgbClr val="E7F0FA"/>
          </a:solidFill>
          <a:ln w="9525">
            <a:solidFill>
              <a:srgbClr val="CDD5DF"/>
            </a:solidFill>
            <a:prstDash val="solid"/>
          </a:ln>
        </p:spPr>
      </p:sp>
      <p:sp>
        <p:nvSpPr>
          <p:cNvPr id="7" name="tracker-label-193"/>
          <p:cNvSpPr txBox="1"/>
          <p:nvPr/>
        </p:nvSpPr>
        <p:spPr>
          <a:xfrm>
            <a:off x="9098280" y="987552"/>
            <a:ext cx="603504" cy="365760"/>
          </a:xfrm>
          <a:prstGeom prst="rect">
            <a:avLst/>
          </a:prstGeom>
          <a:noFill/>
          <a:ln/>
        </p:spPr>
        <p:txBody>
          <a:bodyPr wrap="square" lIns="0" tIns="0" rIns="0" bIns="0" rtlCol="0" anchor="ctr"/>
          <a:lstStyle/>
          <a:p>
            <a:pPr algn="ctr" indent="0" marL="0">
              <a:buNone/>
            </a:pPr>
            <a:r>
              <a:rPr lang="en-US" sz="900" b="1" dirty="0">
                <a:solidFill>
                  <a:srgbClr val="0E2F56"/>
                </a:solidFill>
              </a:rPr>
              <a:t>2</a:t>
            </a:r>
            <a:endParaRPr lang="en-US" sz="900" dirty="0"/>
          </a:p>
          <a:p>
            <a:pPr algn="ctr" indent="0" marL="0">
              <a:buNone/>
            </a:pPr>
            <a:r>
              <a:rPr lang="en-US" sz="650" dirty="0">
                <a:solidFill>
                  <a:srgbClr val="0E2F56"/>
                </a:solidFill>
              </a:rPr>
              <a:t>Perencanaan</a:t>
            </a:r>
            <a:endParaRPr lang="en-US" sz="900" dirty="0"/>
          </a:p>
        </p:txBody>
      </p:sp>
      <p:sp>
        <p:nvSpPr>
          <p:cNvPr id="8" name="tracker-194"/>
          <p:cNvSpPr/>
          <p:nvPr/>
        </p:nvSpPr>
        <p:spPr>
          <a:xfrm>
            <a:off x="9738360" y="987552"/>
            <a:ext cx="603504" cy="365760"/>
          </a:xfrm>
          <a:prstGeom prst="rect">
            <a:avLst/>
          </a:prstGeom>
          <a:solidFill>
            <a:srgbClr val="1F6FB2"/>
          </a:solidFill>
          <a:ln w="9525">
            <a:solidFill>
              <a:srgbClr val="1F6FB2"/>
            </a:solidFill>
            <a:prstDash val="solid"/>
          </a:ln>
        </p:spPr>
      </p:sp>
      <p:sp>
        <p:nvSpPr>
          <p:cNvPr id="9" name="tracker-label-195"/>
          <p:cNvSpPr txBox="1"/>
          <p:nvPr/>
        </p:nvSpPr>
        <p:spPr>
          <a:xfrm>
            <a:off x="9738360" y="987552"/>
            <a:ext cx="603504" cy="365760"/>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a:p>
            <a:pPr algn="ctr" indent="0" marL="0">
              <a:buNone/>
            </a:pPr>
            <a:r>
              <a:rPr lang="en-US" sz="650" dirty="0">
                <a:solidFill>
                  <a:srgbClr val="FFFFFF"/>
                </a:solidFill>
              </a:rPr>
              <a:t>Pelaksanaan</a:t>
            </a:r>
            <a:endParaRPr lang="en-US" sz="900" dirty="0"/>
          </a:p>
        </p:txBody>
      </p:sp>
      <p:sp>
        <p:nvSpPr>
          <p:cNvPr id="10" name="tracker-196"/>
          <p:cNvSpPr/>
          <p:nvPr/>
        </p:nvSpPr>
        <p:spPr>
          <a:xfrm>
            <a:off x="10378440" y="987552"/>
            <a:ext cx="603504" cy="365760"/>
          </a:xfrm>
          <a:prstGeom prst="rect">
            <a:avLst/>
          </a:prstGeom>
          <a:solidFill>
            <a:srgbClr val="F2F4F7"/>
          </a:solidFill>
          <a:ln w="9525">
            <a:solidFill>
              <a:srgbClr val="CDD5DF"/>
            </a:solidFill>
            <a:prstDash val="solid"/>
          </a:ln>
        </p:spPr>
      </p:sp>
      <p:sp>
        <p:nvSpPr>
          <p:cNvPr id="11" name="tracker-label-197"/>
          <p:cNvSpPr txBox="1"/>
          <p:nvPr/>
        </p:nvSpPr>
        <p:spPr>
          <a:xfrm>
            <a:off x="10378440" y="987552"/>
            <a:ext cx="603504" cy="365760"/>
          </a:xfrm>
          <a:prstGeom prst="rect">
            <a:avLst/>
          </a:prstGeom>
          <a:noFill/>
          <a:ln/>
        </p:spPr>
        <p:txBody>
          <a:bodyPr wrap="square" lIns="0" tIns="0" rIns="0" bIns="0" rtlCol="0" anchor="ctr"/>
          <a:lstStyle/>
          <a:p>
            <a:pPr algn="ctr" indent="0" marL="0">
              <a:buNone/>
            </a:pPr>
            <a:r>
              <a:rPr lang="en-US" sz="900" b="1" dirty="0">
                <a:solidFill>
                  <a:srgbClr val="0E2F56"/>
                </a:solidFill>
              </a:rPr>
              <a:t>4</a:t>
            </a:r>
            <a:endParaRPr lang="en-US" sz="900" dirty="0"/>
          </a:p>
          <a:p>
            <a:pPr algn="ctr" indent="0" marL="0">
              <a:buNone/>
            </a:pPr>
            <a:r>
              <a:rPr lang="en-US" sz="650" dirty="0">
                <a:solidFill>
                  <a:srgbClr val="0E2F56"/>
                </a:solidFill>
              </a:rPr>
              <a:t>Penyerahan</a:t>
            </a:r>
            <a:endParaRPr lang="en-US" sz="900" dirty="0"/>
          </a:p>
        </p:txBody>
      </p:sp>
      <p:sp>
        <p:nvSpPr>
          <p:cNvPr id="12" name="tracker-198"/>
          <p:cNvSpPr/>
          <p:nvPr/>
        </p:nvSpPr>
        <p:spPr>
          <a:xfrm>
            <a:off x="11018520" y="987552"/>
            <a:ext cx="603504" cy="365760"/>
          </a:xfrm>
          <a:prstGeom prst="rect">
            <a:avLst/>
          </a:prstGeom>
          <a:solidFill>
            <a:srgbClr val="F2F4F7"/>
          </a:solidFill>
          <a:ln w="9525">
            <a:solidFill>
              <a:srgbClr val="CDD5DF"/>
            </a:solidFill>
            <a:prstDash val="solid"/>
          </a:ln>
        </p:spPr>
      </p:sp>
      <p:sp>
        <p:nvSpPr>
          <p:cNvPr id="13" name="tracker-label-199"/>
          <p:cNvSpPr txBox="1"/>
          <p:nvPr/>
        </p:nvSpPr>
        <p:spPr>
          <a:xfrm>
            <a:off x="11018520" y="987552"/>
            <a:ext cx="603504" cy="365760"/>
          </a:xfrm>
          <a:prstGeom prst="rect">
            <a:avLst/>
          </a:prstGeom>
          <a:noFill/>
          <a:ln/>
        </p:spPr>
        <p:txBody>
          <a:bodyPr wrap="square" lIns="0" tIns="0" rIns="0" bIns="0" rtlCol="0" anchor="ctr"/>
          <a:lstStyle/>
          <a:p>
            <a:pPr algn="ctr" indent="0" marL="0">
              <a:buNone/>
            </a:pPr>
            <a:r>
              <a:rPr lang="en-US" sz="900" b="1" dirty="0">
                <a:solidFill>
                  <a:srgbClr val="0E2F56"/>
                </a:solidFill>
              </a:rPr>
              <a:t>5</a:t>
            </a:r>
            <a:endParaRPr lang="en-US" sz="900" dirty="0"/>
          </a:p>
          <a:p>
            <a:pPr algn="ctr" indent="0" marL="0">
              <a:buNone/>
            </a:pPr>
            <a:r>
              <a:rPr lang="en-US" sz="650" dirty="0">
                <a:solidFill>
                  <a:srgbClr val="0E2F56"/>
                </a:solidFill>
              </a:rPr>
              <a:t>Pembayaran</a:t>
            </a:r>
            <a:endParaRPr lang="en-US" sz="900" dirty="0"/>
          </a:p>
        </p:txBody>
      </p:sp>
      <p:sp>
        <p:nvSpPr>
          <p:cNvPr id="14" name="lane-200"/>
          <p:cNvSpPr/>
          <p:nvPr/>
        </p:nvSpPr>
        <p:spPr>
          <a:xfrm>
            <a:off x="548640" y="1783080"/>
            <a:ext cx="7269480" cy="1207008"/>
          </a:xfrm>
          <a:prstGeom prst="rect">
            <a:avLst/>
          </a:prstGeom>
          <a:solidFill>
            <a:srgbClr val="F2F4F7"/>
          </a:solidFill>
          <a:ln w="6350">
            <a:solidFill>
              <a:srgbClr val="CDD5DF"/>
            </a:solidFill>
            <a:prstDash val="solid"/>
          </a:ln>
        </p:spPr>
      </p:sp>
      <p:sp>
        <p:nvSpPr>
          <p:cNvPr id="15" name="lane-head-201"/>
          <p:cNvSpPr/>
          <p:nvPr/>
        </p:nvSpPr>
        <p:spPr>
          <a:xfrm>
            <a:off x="548640" y="1783080"/>
            <a:ext cx="1325880" cy="1207008"/>
          </a:xfrm>
          <a:prstGeom prst="rect">
            <a:avLst/>
          </a:prstGeom>
          <a:solidFill>
            <a:srgbClr val="0E2F56"/>
          </a:solidFill>
          <a:ln w="6350">
            <a:solidFill>
              <a:srgbClr val="0E2F56"/>
            </a:solidFill>
            <a:prstDash val="solid"/>
          </a:ln>
        </p:spPr>
      </p:sp>
      <p:sp>
        <p:nvSpPr>
          <p:cNvPr id="16" name="lane-name-202"/>
          <p:cNvSpPr txBox="1"/>
          <p:nvPr/>
        </p:nvSpPr>
        <p:spPr>
          <a:xfrm>
            <a:off x="621792" y="1783080"/>
            <a:ext cx="1179576" cy="1207008"/>
          </a:xfrm>
          <a:prstGeom prst="rect">
            <a:avLst/>
          </a:prstGeom>
          <a:noFill/>
          <a:ln/>
        </p:spPr>
        <p:txBody>
          <a:bodyPr wrap="square" lIns="0" tIns="0" rIns="0" bIns="0" rtlCol="0" anchor="ctr"/>
          <a:lstStyle/>
          <a:p>
            <a:pPr algn="l" indent="0" marL="0">
              <a:buNone/>
            </a:pPr>
            <a:r>
              <a:rPr lang="en-US" sz="1000" b="1" dirty="0">
                <a:solidFill>
                  <a:srgbClr val="FFFFFF"/>
                </a:solidFill>
              </a:rPr>
              <a:t>PIC Pelaksana</a:t>
            </a:r>
            <a:endParaRPr lang="en-US" sz="1000" dirty="0"/>
          </a:p>
        </p:txBody>
      </p:sp>
      <p:sp>
        <p:nvSpPr>
          <p:cNvPr id="17" name="lane-203"/>
          <p:cNvSpPr/>
          <p:nvPr/>
        </p:nvSpPr>
        <p:spPr>
          <a:xfrm>
            <a:off x="548640" y="3026664"/>
            <a:ext cx="7269480" cy="1207008"/>
          </a:xfrm>
          <a:prstGeom prst="rect">
            <a:avLst/>
          </a:prstGeom>
          <a:solidFill>
            <a:srgbClr val="FFFFFF"/>
          </a:solidFill>
          <a:ln w="6350">
            <a:solidFill>
              <a:srgbClr val="CDD5DF"/>
            </a:solidFill>
            <a:prstDash val="solid"/>
          </a:ln>
        </p:spPr>
      </p:sp>
      <p:sp>
        <p:nvSpPr>
          <p:cNvPr id="18" name="lane-head-204"/>
          <p:cNvSpPr/>
          <p:nvPr/>
        </p:nvSpPr>
        <p:spPr>
          <a:xfrm>
            <a:off x="548640" y="3026664"/>
            <a:ext cx="1325880" cy="1207008"/>
          </a:xfrm>
          <a:prstGeom prst="rect">
            <a:avLst/>
          </a:prstGeom>
          <a:solidFill>
            <a:srgbClr val="0E2F56"/>
          </a:solidFill>
          <a:ln w="6350">
            <a:solidFill>
              <a:srgbClr val="0E2F56"/>
            </a:solidFill>
            <a:prstDash val="solid"/>
          </a:ln>
        </p:spPr>
      </p:sp>
      <p:sp>
        <p:nvSpPr>
          <p:cNvPr id="19" name="lane-name-205"/>
          <p:cNvSpPr txBox="1"/>
          <p:nvPr/>
        </p:nvSpPr>
        <p:spPr>
          <a:xfrm>
            <a:off x="621792" y="3026664"/>
            <a:ext cx="1179576" cy="1207008"/>
          </a:xfrm>
          <a:prstGeom prst="rect">
            <a:avLst/>
          </a:prstGeom>
          <a:noFill/>
          <a:ln/>
        </p:spPr>
        <p:txBody>
          <a:bodyPr wrap="square" lIns="0" tIns="0" rIns="0" bIns="0" rtlCol="0" anchor="ctr"/>
          <a:lstStyle/>
          <a:p>
            <a:pPr algn="l" indent="0" marL="0">
              <a:buNone/>
            </a:pPr>
            <a:r>
              <a:rPr lang="en-US" sz="1000" b="1" dirty="0">
                <a:solidFill>
                  <a:srgbClr val="FFFFFF"/>
                </a:solidFill>
              </a:rPr>
              <a:t>TL Pengadaan</a:t>
            </a:r>
            <a:endParaRPr lang="en-US" sz="1000" dirty="0"/>
          </a:p>
        </p:txBody>
      </p:sp>
      <p:sp>
        <p:nvSpPr>
          <p:cNvPr id="20" name="lane-206"/>
          <p:cNvSpPr/>
          <p:nvPr/>
        </p:nvSpPr>
        <p:spPr>
          <a:xfrm>
            <a:off x="548640" y="4270248"/>
            <a:ext cx="7269480" cy="1207008"/>
          </a:xfrm>
          <a:prstGeom prst="rect">
            <a:avLst/>
          </a:prstGeom>
          <a:solidFill>
            <a:srgbClr val="F2F4F7"/>
          </a:solidFill>
          <a:ln w="6350">
            <a:solidFill>
              <a:srgbClr val="CDD5DF"/>
            </a:solidFill>
            <a:prstDash val="solid"/>
          </a:ln>
        </p:spPr>
      </p:sp>
      <p:sp>
        <p:nvSpPr>
          <p:cNvPr id="21" name="lane-head-207"/>
          <p:cNvSpPr/>
          <p:nvPr/>
        </p:nvSpPr>
        <p:spPr>
          <a:xfrm>
            <a:off x="548640" y="4270248"/>
            <a:ext cx="1325880" cy="1207008"/>
          </a:xfrm>
          <a:prstGeom prst="rect">
            <a:avLst/>
          </a:prstGeom>
          <a:solidFill>
            <a:srgbClr val="0E2F56"/>
          </a:solidFill>
          <a:ln w="6350">
            <a:solidFill>
              <a:srgbClr val="0E2F56"/>
            </a:solidFill>
            <a:prstDash val="solid"/>
          </a:ln>
        </p:spPr>
      </p:sp>
      <p:sp>
        <p:nvSpPr>
          <p:cNvPr id="22" name="lane-name-208"/>
          <p:cNvSpPr txBox="1"/>
          <p:nvPr/>
        </p:nvSpPr>
        <p:spPr>
          <a:xfrm>
            <a:off x="621792" y="4270248"/>
            <a:ext cx="1179576" cy="1207008"/>
          </a:xfrm>
          <a:prstGeom prst="rect">
            <a:avLst/>
          </a:prstGeom>
          <a:noFill/>
          <a:ln/>
        </p:spPr>
        <p:txBody>
          <a:bodyPr wrap="square" lIns="0" tIns="0" rIns="0" bIns="0" rtlCol="0" anchor="ctr"/>
          <a:lstStyle/>
          <a:p>
            <a:pPr algn="l" indent="0" marL="0">
              <a:buNone/>
            </a:pPr>
            <a:r>
              <a:rPr lang="en-US" sz="1000" b="1" dirty="0">
                <a:solidFill>
                  <a:srgbClr val="FFFFFF"/>
                </a:solidFill>
              </a:rPr>
              <a:t>Keuangan</a:t>
            </a:r>
            <a:endParaRPr lang="en-US" sz="1000" dirty="0"/>
          </a:p>
        </p:txBody>
      </p:sp>
      <p:sp>
        <p:nvSpPr>
          <p:cNvPr id="23" name="node-process-209"/>
          <p:cNvSpPr/>
          <p:nvPr/>
        </p:nvSpPr>
        <p:spPr>
          <a:xfrm>
            <a:off x="2057400" y="3355848"/>
            <a:ext cx="1463040" cy="548640"/>
          </a:xfrm>
          <a:prstGeom prst="rect">
            <a:avLst/>
          </a:prstGeom>
          <a:solidFill>
            <a:srgbClr val="E7F0FA"/>
          </a:solidFill>
          <a:ln w="15875">
            <a:solidFill>
              <a:srgbClr val="1F6FB2"/>
            </a:solidFill>
            <a:prstDash val="solid"/>
          </a:ln>
        </p:spPr>
      </p:sp>
      <p:sp>
        <p:nvSpPr>
          <p:cNvPr id="24" name="node-text-210"/>
          <p:cNvSpPr txBox="1"/>
          <p:nvPr/>
        </p:nvSpPr>
        <p:spPr>
          <a:xfrm>
            <a:off x="2112264" y="3355848"/>
            <a:ext cx="1353312" cy="548640"/>
          </a:xfrm>
          <a:prstGeom prst="rect">
            <a:avLst/>
          </a:prstGeom>
          <a:noFill/>
          <a:ln/>
        </p:spPr>
        <p:txBody>
          <a:bodyPr wrap="square" lIns="0" tIns="0" rIns="0" bIns="0" rtlCol="0" anchor="ctr"/>
          <a:lstStyle/>
          <a:p>
            <a:pPr algn="ctr" indent="0" marL="0">
              <a:buNone/>
            </a:pPr>
            <a:r>
              <a:rPr lang="en-US" sz="1000" dirty="0">
                <a:solidFill>
                  <a:srgbClr val="1F2D3D"/>
                </a:solidFill>
              </a:rPr>
              <a:t>Tunjuk PIC Pelaksana</a:t>
            </a:r>
            <a:endParaRPr lang="en-US" sz="1000" dirty="0"/>
          </a:p>
        </p:txBody>
      </p:sp>
      <p:sp>
        <p:nvSpPr>
          <p:cNvPr id="25" name="node-process-211"/>
          <p:cNvSpPr/>
          <p:nvPr/>
        </p:nvSpPr>
        <p:spPr>
          <a:xfrm>
            <a:off x="3840480" y="2002536"/>
            <a:ext cx="1828800" cy="768096"/>
          </a:xfrm>
          <a:prstGeom prst="rect">
            <a:avLst/>
          </a:prstGeom>
          <a:solidFill>
            <a:srgbClr val="E7F0FA"/>
          </a:solidFill>
          <a:ln w="15875">
            <a:solidFill>
              <a:srgbClr val="1F6FB2"/>
            </a:solidFill>
            <a:prstDash val="solid"/>
          </a:ln>
        </p:spPr>
      </p:sp>
      <p:sp>
        <p:nvSpPr>
          <p:cNvPr id="26" name="node-text-212"/>
          <p:cNvSpPr txBox="1"/>
          <p:nvPr/>
        </p:nvSpPr>
        <p:spPr>
          <a:xfrm>
            <a:off x="3895344" y="2002536"/>
            <a:ext cx="1719072" cy="768096"/>
          </a:xfrm>
          <a:prstGeom prst="rect">
            <a:avLst/>
          </a:prstGeom>
          <a:noFill/>
          <a:ln/>
        </p:spPr>
        <p:txBody>
          <a:bodyPr wrap="square" lIns="0" tIns="0" rIns="0" bIns="0" rtlCol="0" anchor="ctr"/>
          <a:lstStyle/>
          <a:p>
            <a:pPr algn="ctr" indent="0" marL="0">
              <a:buNone/>
            </a:pPr>
            <a:r>
              <a:rPr lang="en-US" sz="950" dirty="0">
                <a:solidFill>
                  <a:srgbClr val="1F2D3D"/>
                </a:solidFill>
              </a:rPr>
              <a:t>Lengkapi checklist, isi Nomor Kontrak; lalu Ajukan ke TL Pengadaan</a:t>
            </a:r>
            <a:endParaRPr lang="en-US" sz="950" dirty="0"/>
          </a:p>
        </p:txBody>
      </p:sp>
      <p:sp>
        <p:nvSpPr>
          <p:cNvPr id="27" name="connector-213"/>
          <p:cNvSpPr/>
          <p:nvPr/>
        </p:nvSpPr>
        <p:spPr>
          <a:xfrm flipV="1">
            <a:off x="2788920" y="2386584"/>
            <a:ext cx="0" cy="969264"/>
          </a:xfrm>
          <a:prstGeom prst="line">
            <a:avLst/>
          </a:prstGeom>
          <a:noFill/>
          <a:ln w="19050">
            <a:solidFill>
              <a:srgbClr val="1F6FB2"/>
            </a:solidFill>
            <a:prstDash val="solid"/>
          </a:ln>
        </p:spPr>
      </p:sp>
      <p:sp>
        <p:nvSpPr>
          <p:cNvPr id="28" name="connector-214"/>
          <p:cNvSpPr/>
          <p:nvPr/>
        </p:nvSpPr>
        <p:spPr>
          <a:xfrm>
            <a:off x="2788920" y="2386584"/>
            <a:ext cx="1051560" cy="0"/>
          </a:xfrm>
          <a:prstGeom prst="line">
            <a:avLst/>
          </a:prstGeom>
          <a:noFill/>
          <a:ln w="19050">
            <a:solidFill>
              <a:srgbClr val="1F6FB2"/>
            </a:solidFill>
            <a:prstDash val="solid"/>
            <a:tailEnd type="triangle"/>
          </a:ln>
        </p:spPr>
      </p:sp>
      <p:sp>
        <p:nvSpPr>
          <p:cNvPr id="29" name="decision-215"/>
          <p:cNvSpPr/>
          <p:nvPr/>
        </p:nvSpPr>
        <p:spPr>
          <a:xfrm>
            <a:off x="4160520" y="3218688"/>
            <a:ext cx="1188720" cy="822960"/>
          </a:xfrm>
          <a:prstGeom prst="diamond">
            <a:avLst/>
          </a:prstGeom>
          <a:solidFill>
            <a:srgbClr val="FFFFFF"/>
          </a:solidFill>
          <a:ln w="19050">
            <a:solidFill>
              <a:srgbClr val="0E2F56"/>
            </a:solidFill>
            <a:prstDash val="solid"/>
          </a:ln>
        </p:spPr>
      </p:sp>
      <p:sp>
        <p:nvSpPr>
          <p:cNvPr id="30" name="decision-text-216"/>
          <p:cNvSpPr txBox="1"/>
          <p:nvPr/>
        </p:nvSpPr>
        <p:spPr>
          <a:xfrm>
            <a:off x="4297680" y="3218688"/>
            <a:ext cx="914400" cy="822960"/>
          </a:xfrm>
          <a:prstGeom prst="rect">
            <a:avLst/>
          </a:prstGeom>
          <a:noFill/>
          <a:ln/>
        </p:spPr>
        <p:txBody>
          <a:bodyPr wrap="square" lIns="0" tIns="0" rIns="0" bIns="0" rtlCol="0" anchor="ctr"/>
          <a:lstStyle/>
          <a:p>
            <a:pPr algn="ctr" indent="0" marL="0">
              <a:buNone/>
            </a:pPr>
            <a:r>
              <a:rPr lang="en-US" sz="850" b="1" dirty="0">
                <a:solidFill>
                  <a:srgbClr val="0E2F56"/>
                </a:solidFill>
              </a:rPr>
              <a:t>TL Pengadaan setujui?</a:t>
            </a:r>
            <a:endParaRPr lang="en-US" sz="850" dirty="0"/>
          </a:p>
        </p:txBody>
      </p:sp>
      <p:sp>
        <p:nvSpPr>
          <p:cNvPr id="31" name="connector-217"/>
          <p:cNvSpPr/>
          <p:nvPr/>
        </p:nvSpPr>
        <p:spPr>
          <a:xfrm>
            <a:off x="4754880" y="2770632"/>
            <a:ext cx="0" cy="448056"/>
          </a:xfrm>
          <a:prstGeom prst="line">
            <a:avLst/>
          </a:prstGeom>
          <a:noFill/>
          <a:ln w="19050">
            <a:solidFill>
              <a:srgbClr val="1F6FB2"/>
            </a:solidFill>
            <a:prstDash val="solid"/>
            <a:tailEnd type="triangle"/>
          </a:ln>
        </p:spPr>
      </p:sp>
      <p:sp>
        <p:nvSpPr>
          <p:cNvPr id="32" name="node-approve-218"/>
          <p:cNvSpPr/>
          <p:nvPr/>
        </p:nvSpPr>
        <p:spPr>
          <a:xfrm>
            <a:off x="3840480" y="4544568"/>
            <a:ext cx="1828800" cy="658368"/>
          </a:xfrm>
          <a:prstGeom prst="rect">
            <a:avLst/>
          </a:prstGeom>
          <a:solidFill>
            <a:srgbClr val="E4F3EB"/>
          </a:solidFill>
          <a:ln w="15875">
            <a:solidFill>
              <a:srgbClr val="1E7B4F"/>
            </a:solidFill>
            <a:prstDash val="solid"/>
          </a:ln>
        </p:spPr>
      </p:sp>
      <p:sp>
        <p:nvSpPr>
          <p:cNvPr id="33" name="node-text-219"/>
          <p:cNvSpPr txBox="1"/>
          <p:nvPr/>
        </p:nvSpPr>
        <p:spPr>
          <a:xfrm>
            <a:off x="3895344" y="4544568"/>
            <a:ext cx="1719072" cy="658368"/>
          </a:xfrm>
          <a:prstGeom prst="rect">
            <a:avLst/>
          </a:prstGeom>
          <a:noFill/>
          <a:ln/>
        </p:spPr>
        <p:txBody>
          <a:bodyPr wrap="square" lIns="0" tIns="0" rIns="0" bIns="0" rtlCol="0" anchor="ctr"/>
          <a:lstStyle/>
          <a:p>
            <a:pPr algn="ctr" indent="0" marL="0">
              <a:buNone/>
            </a:pPr>
            <a:r>
              <a:rPr lang="en-US" sz="950" dirty="0">
                <a:solidFill>
                  <a:srgbClr val="1F2D3D"/>
                </a:solidFill>
              </a:rPr>
              <a:t>Setujui dan Teruskan ke Keuangan (Terkontrak)</a:t>
            </a:r>
            <a:endParaRPr lang="en-US" sz="950" dirty="0"/>
          </a:p>
        </p:txBody>
      </p:sp>
      <p:sp>
        <p:nvSpPr>
          <p:cNvPr id="34" name="connector-220"/>
          <p:cNvSpPr/>
          <p:nvPr/>
        </p:nvSpPr>
        <p:spPr>
          <a:xfrm>
            <a:off x="4754880" y="4041648"/>
            <a:ext cx="0" cy="502920"/>
          </a:xfrm>
          <a:prstGeom prst="line">
            <a:avLst/>
          </a:prstGeom>
          <a:noFill/>
          <a:ln w="19050">
            <a:solidFill>
              <a:srgbClr val="1F6FB2"/>
            </a:solidFill>
            <a:prstDash val="solid"/>
            <a:tailEnd type="triangle"/>
          </a:ln>
        </p:spPr>
      </p:sp>
      <p:sp>
        <p:nvSpPr>
          <p:cNvPr id="35" name="flow-label-221"/>
          <p:cNvSpPr txBox="1"/>
          <p:nvPr/>
        </p:nvSpPr>
        <p:spPr>
          <a:xfrm>
            <a:off x="4809744" y="4142232"/>
            <a:ext cx="365760" cy="219456"/>
          </a:xfrm>
          <a:prstGeom prst="rect">
            <a:avLst/>
          </a:prstGeom>
          <a:noFill/>
          <a:ln/>
        </p:spPr>
        <p:txBody>
          <a:bodyPr wrap="square" lIns="0" tIns="0" rIns="0" bIns="0" rtlCol="0" anchor="ctr"/>
          <a:lstStyle/>
          <a:p>
            <a:pPr algn="l" indent="0" marL="0">
              <a:buNone/>
            </a:pPr>
            <a:r>
              <a:rPr lang="en-US" sz="850" b="1" dirty="0">
                <a:solidFill>
                  <a:srgbClr val="1E7B4F"/>
                </a:solidFill>
              </a:rPr>
              <a:t>Ya</a:t>
            </a:r>
            <a:endParaRPr lang="en-US" sz="850" dirty="0"/>
          </a:p>
        </p:txBody>
      </p:sp>
      <p:sp>
        <p:nvSpPr>
          <p:cNvPr id="36" name="node-revise-222"/>
          <p:cNvSpPr/>
          <p:nvPr/>
        </p:nvSpPr>
        <p:spPr>
          <a:xfrm>
            <a:off x="5897880" y="3328416"/>
            <a:ext cx="1691640" cy="603504"/>
          </a:xfrm>
          <a:prstGeom prst="rect">
            <a:avLst/>
          </a:prstGeom>
          <a:solidFill>
            <a:srgbClr val="FCEFE1"/>
          </a:solidFill>
          <a:ln w="15875">
            <a:solidFill>
              <a:srgbClr val="D9822B"/>
            </a:solidFill>
            <a:prstDash val="solid"/>
          </a:ln>
        </p:spPr>
      </p:sp>
      <p:sp>
        <p:nvSpPr>
          <p:cNvPr id="37" name="node-text-223"/>
          <p:cNvSpPr txBox="1"/>
          <p:nvPr/>
        </p:nvSpPr>
        <p:spPr>
          <a:xfrm>
            <a:off x="5952744" y="3328416"/>
            <a:ext cx="1581912" cy="603504"/>
          </a:xfrm>
          <a:prstGeom prst="rect">
            <a:avLst/>
          </a:prstGeom>
          <a:noFill/>
          <a:ln/>
        </p:spPr>
        <p:txBody>
          <a:bodyPr wrap="square" lIns="0" tIns="0" rIns="0" bIns="0" rtlCol="0" anchor="ctr"/>
          <a:lstStyle/>
          <a:p>
            <a:pPr algn="ctr" indent="0" marL="0">
              <a:buNone/>
            </a:pPr>
            <a:r>
              <a:rPr lang="en-US" sz="950" dirty="0">
                <a:solidFill>
                  <a:srgbClr val="1F2D3D"/>
                </a:solidFill>
              </a:rPr>
              <a:t>Revisi Pelaksanaan (catatan)</a:t>
            </a:r>
            <a:endParaRPr lang="en-US" sz="950" dirty="0"/>
          </a:p>
        </p:txBody>
      </p:sp>
      <p:sp>
        <p:nvSpPr>
          <p:cNvPr id="38" name="connector-224"/>
          <p:cNvSpPr/>
          <p:nvPr/>
        </p:nvSpPr>
        <p:spPr>
          <a:xfrm>
            <a:off x="5349240" y="3630168"/>
            <a:ext cx="548640" cy="0"/>
          </a:xfrm>
          <a:prstGeom prst="line">
            <a:avLst/>
          </a:prstGeom>
          <a:noFill/>
          <a:ln w="19050">
            <a:solidFill>
              <a:srgbClr val="D9822B"/>
            </a:solidFill>
            <a:prstDash val="dash"/>
            <a:tailEnd type="triangle"/>
          </a:ln>
        </p:spPr>
      </p:sp>
      <p:sp>
        <p:nvSpPr>
          <p:cNvPr id="39" name="flow-label-225"/>
          <p:cNvSpPr txBox="1"/>
          <p:nvPr/>
        </p:nvSpPr>
        <p:spPr>
          <a:xfrm>
            <a:off x="5376672" y="3392424"/>
            <a:ext cx="548640" cy="219456"/>
          </a:xfrm>
          <a:prstGeom prst="rect">
            <a:avLst/>
          </a:prstGeom>
          <a:noFill/>
          <a:ln/>
        </p:spPr>
        <p:txBody>
          <a:bodyPr wrap="square" lIns="0" tIns="0" rIns="0" bIns="0" rtlCol="0" anchor="ctr"/>
          <a:lstStyle/>
          <a:p>
            <a:pPr algn="l" indent="0" marL="0">
              <a:buNone/>
            </a:pPr>
            <a:r>
              <a:rPr lang="en-US" sz="850" b="1" dirty="0">
                <a:solidFill>
                  <a:srgbClr val="D9822B"/>
                </a:solidFill>
              </a:rPr>
              <a:t>Tidak</a:t>
            </a:r>
            <a:endParaRPr lang="en-US" sz="850" dirty="0"/>
          </a:p>
        </p:txBody>
      </p:sp>
      <p:sp>
        <p:nvSpPr>
          <p:cNvPr id="40" name="connector-226"/>
          <p:cNvSpPr/>
          <p:nvPr/>
        </p:nvSpPr>
        <p:spPr>
          <a:xfrm flipV="1">
            <a:off x="6743700" y="2386584"/>
            <a:ext cx="0" cy="941832"/>
          </a:xfrm>
          <a:prstGeom prst="line">
            <a:avLst/>
          </a:prstGeom>
          <a:noFill/>
          <a:ln w="19050">
            <a:solidFill>
              <a:srgbClr val="D9822B"/>
            </a:solidFill>
            <a:prstDash val="dash"/>
          </a:ln>
        </p:spPr>
      </p:sp>
      <p:sp>
        <p:nvSpPr>
          <p:cNvPr id="41" name="connector-227"/>
          <p:cNvSpPr/>
          <p:nvPr/>
        </p:nvSpPr>
        <p:spPr>
          <a:xfrm flipH="1">
            <a:off x="5669280" y="2386584"/>
            <a:ext cx="1074420" cy="0"/>
          </a:xfrm>
          <a:prstGeom prst="line">
            <a:avLst/>
          </a:prstGeom>
          <a:noFill/>
          <a:ln w="19050">
            <a:solidFill>
              <a:srgbClr val="D9822B"/>
            </a:solidFill>
            <a:prstDash val="dash"/>
            <a:tailEnd type="triangle"/>
          </a:ln>
        </p:spPr>
      </p:sp>
      <p:sp>
        <p:nvSpPr>
          <p:cNvPr id="42" name="node-done-228"/>
          <p:cNvSpPr/>
          <p:nvPr/>
        </p:nvSpPr>
        <p:spPr>
          <a:xfrm>
            <a:off x="5897880" y="4599432"/>
            <a:ext cx="1691640" cy="548640"/>
          </a:xfrm>
          <a:prstGeom prst="rect">
            <a:avLst/>
          </a:prstGeom>
          <a:solidFill>
            <a:srgbClr val="1E7B4F"/>
          </a:solidFill>
          <a:ln w="15875">
            <a:solidFill>
              <a:srgbClr val="1E7B4F"/>
            </a:solidFill>
            <a:prstDash val="solid"/>
          </a:ln>
        </p:spPr>
      </p:sp>
      <p:sp>
        <p:nvSpPr>
          <p:cNvPr id="43" name="node-text-229"/>
          <p:cNvSpPr txBox="1"/>
          <p:nvPr/>
        </p:nvSpPr>
        <p:spPr>
          <a:xfrm>
            <a:off x="5952744" y="4599432"/>
            <a:ext cx="1581912" cy="548640"/>
          </a:xfrm>
          <a:prstGeom prst="rect">
            <a:avLst/>
          </a:prstGeom>
          <a:noFill/>
          <a:ln/>
        </p:spPr>
        <p:txBody>
          <a:bodyPr wrap="square" lIns="0" tIns="0" rIns="0" bIns="0" rtlCol="0" anchor="ctr"/>
          <a:lstStyle/>
          <a:p>
            <a:pPr algn="ctr" indent="0" marL="0">
              <a:buNone/>
            </a:pPr>
            <a:r>
              <a:rPr lang="en-US" sz="1000" b="1" dirty="0">
                <a:solidFill>
                  <a:srgbClr val="FFFFFF"/>
                </a:solidFill>
              </a:rPr>
              <a:t>Penyerahan dan Pembayaran</a:t>
            </a:r>
            <a:endParaRPr lang="en-US" sz="1000" dirty="0"/>
          </a:p>
        </p:txBody>
      </p:sp>
      <p:sp>
        <p:nvSpPr>
          <p:cNvPr id="44" name="connector-230"/>
          <p:cNvSpPr/>
          <p:nvPr/>
        </p:nvSpPr>
        <p:spPr>
          <a:xfrm>
            <a:off x="5669280" y="4873752"/>
            <a:ext cx="228600" cy="0"/>
          </a:xfrm>
          <a:prstGeom prst="line">
            <a:avLst/>
          </a:prstGeom>
          <a:noFill/>
          <a:ln w="19050">
            <a:solidFill>
              <a:srgbClr val="1E7B4F"/>
            </a:solidFill>
            <a:prstDash val="solid"/>
            <a:tailEnd type="triangle"/>
          </a:ln>
        </p:spPr>
      </p:sp>
      <p:sp>
        <p:nvSpPr>
          <p:cNvPr id="45" name="Text 43"/>
          <p:cNvSpPr txBox="1"/>
          <p:nvPr/>
        </p:nvSpPr>
        <p:spPr>
          <a:xfrm>
            <a:off x="8046720" y="1783080"/>
            <a:ext cx="3596335" cy="256032"/>
          </a:xfrm>
          <a:prstGeom prst="rect">
            <a:avLst/>
          </a:prstGeom>
          <a:noFill/>
          <a:ln/>
        </p:spPr>
        <p:txBody>
          <a:bodyPr wrap="square" lIns="0" tIns="0" rIns="0" bIns="0" rtlCol="0" anchor="ctr"/>
          <a:lstStyle/>
          <a:p>
            <a:pPr indent="0" marL="0">
              <a:buNone/>
            </a:pPr>
            <a:r>
              <a:rPr lang="en-US" sz="950" b="1" spc="100" kern="0" dirty="0">
                <a:solidFill>
                  <a:srgbClr val="0E2F56"/>
                </a:solidFill>
              </a:rPr>
              <a:t>CHECKLIST PELAKSANAAN</a:t>
            </a:r>
            <a:endParaRPr lang="en-US" sz="950" dirty="0"/>
          </a:p>
        </p:txBody>
      </p:sp>
      <p:graphicFrame>
        <p:nvGraphicFramePr>
          <p:cNvPr id="8" name="table-231"/>
          <p:cNvGraphicFramePr>
            <a:graphicFrameLocks noGrp="1"/>
          </p:cNvGraphicFramePr>
          <p:nvPr>
            <p:extLst>
              <p:ext uri="{D42A27DB-BD31-4B8C-83A1-F6EECF244321}">
                <p14:modId xmlns:p14="http://schemas.microsoft.com/office/powerpoint/2010/main" val="1579011935"/>
              </p:ext>
            </p:extLst>
          </p:nvPr>
        </p:nvGraphicFramePr>
        <p:xfrm>
          <a:off x="8046720" y="2075688"/>
          <a:ext cx="3596335" cy="914400"/>
        </p:xfrm>
        <a:graphic>
          <a:graphicData uri="http://schemas.openxmlformats.org/drawingml/2006/table">
            <a:tbl>
              <a:tblPr/>
              <a:tblGrid>
                <a:gridCol w="2130552"/>
                <a:gridCol w="731520"/>
                <a:gridCol w="731520"/>
              </a:tblGrid>
              <a:tr h="233172">
                <a:tc>
                  <a:txBody>
                    <a:bodyPr/>
                    <a:lstStyle/>
                    <a:p>
                      <a:pPr algn="l" indent="0" marL="0">
                        <a:buNone/>
                      </a:pPr>
                      <a:r>
                        <a:rPr lang="en-US" sz="900" b="1" dirty="0">
                          <a:solidFill>
                            <a:srgbClr val="FFFFFF"/>
                          </a:solidFill>
                        </a:rPr>
                        <a:t>Tahapan</a:t>
                      </a:r>
                      <a:endParaRPr lang="en-US" sz="9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0E2F56"/>
                    </a:solidFill>
                  </a:tcPr>
                </a:tc>
                <a:tc>
                  <a:txBody>
                    <a:bodyPr/>
                    <a:lstStyle/>
                    <a:p>
                      <a:pPr algn="ctr" indent="0" marL="0">
                        <a:buNone/>
                      </a:pPr>
                      <a:r>
                        <a:rPr lang="en-US" sz="900" b="1" dirty="0">
                          <a:solidFill>
                            <a:srgbClr val="FFFFFF"/>
                          </a:solidFill>
                        </a:rPr>
                        <a:t>SPK/PJ</a:t>
                      </a:r>
                      <a:endParaRPr lang="en-US" sz="9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0E2F56"/>
                    </a:solidFill>
                  </a:tcPr>
                </a:tc>
                <a:tc>
                  <a:txBody>
                    <a:bodyPr/>
                    <a:lstStyle/>
                    <a:p>
                      <a:pPr algn="ctr" indent="0" marL="0">
                        <a:buNone/>
                      </a:pPr>
                      <a:r>
                        <a:rPr lang="en-US" sz="900" b="1" dirty="0">
                          <a:solidFill>
                            <a:srgbClr val="FFFFFF"/>
                          </a:solidFill>
                        </a:rPr>
                        <a:t>SPPL</a:t>
                      </a:r>
                      <a:endParaRPr lang="en-US" sz="9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0E2F56"/>
                    </a:solidFill>
                  </a:tcPr>
                </a:tc>
              </a:tr>
              <a:tr h="233172">
                <a:tc>
                  <a:txBody>
                    <a:bodyPr/>
                    <a:lstStyle/>
                    <a:p>
                      <a:pPr indent="0" marL="0">
                        <a:buNone/>
                      </a:pPr>
                      <a:r>
                        <a:rPr lang="en-US" sz="900" dirty="0">
                          <a:solidFill>
                            <a:srgbClr val="1F2D3D"/>
                          </a:solidFill>
                        </a:rPr>
                        <a:t>Penyusunan HPS</a:t>
                      </a:r>
                      <a:endParaRPr lang="en-US" sz="9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7B4F"/>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B6B7C"/>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r>
              <a:tr h="233172">
                <a:tc>
                  <a:txBody>
                    <a:bodyPr/>
                    <a:lstStyle/>
                    <a:p>
                      <a:pPr indent="0" marL="0">
                        <a:buNone/>
                      </a:pPr>
                      <a:r>
                        <a:rPr lang="en-US" sz="900" dirty="0">
                          <a:solidFill>
                            <a:srgbClr val="1F2D3D"/>
                          </a:solidFill>
                        </a:rPr>
                        <a:t>Proses SMART SCM dan Berita Acara</a:t>
                      </a:r>
                      <a:endParaRPr lang="en-US" sz="9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7B4F"/>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B6B7C"/>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r>
              <a:tr h="233172">
                <a:tc>
                  <a:txBody>
                    <a:bodyPr/>
                    <a:lstStyle/>
                    <a:p>
                      <a:pPr indent="0" marL="0">
                        <a:buNone/>
                      </a:pPr>
                      <a:r>
                        <a:rPr lang="en-US" sz="900" dirty="0">
                          <a:solidFill>
                            <a:srgbClr val="1F2D3D"/>
                          </a:solidFill>
                        </a:rPr>
                        <a:t>Jaminan Bank</a:t>
                      </a:r>
                      <a:endParaRPr lang="en-US" sz="9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7B4F"/>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B6B7C"/>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r>
              <a:tr h="233172">
                <a:tc>
                  <a:txBody>
                    <a:bodyPr/>
                    <a:lstStyle/>
                    <a:p>
                      <a:pPr indent="0" marL="0">
                        <a:buNone/>
                      </a:pPr>
                      <a:r>
                        <a:rPr lang="en-US" sz="900" dirty="0">
                          <a:solidFill>
                            <a:srgbClr val="1F2D3D"/>
                          </a:solidFill>
                        </a:rPr>
                        <a:t>Kontrak</a:t>
                      </a:r>
                      <a:endParaRPr lang="en-US" sz="9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7B4F"/>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B6B7C"/>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r>
              <a:tr h="233172">
                <a:tc>
                  <a:txBody>
                    <a:bodyPr/>
                    <a:lstStyle/>
                    <a:p>
                      <a:pPr indent="0" marL="0">
                        <a:buNone/>
                      </a:pPr>
                      <a:r>
                        <a:rPr lang="en-US" sz="900" dirty="0">
                          <a:solidFill>
                            <a:srgbClr val="1F2D3D"/>
                          </a:solidFill>
                        </a:rPr>
                        <a:t>Rentang Waktu</a:t>
                      </a:r>
                      <a:endParaRPr lang="en-US" sz="9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7B4F"/>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B6B7C"/>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r>
              <a:tr h="233172">
                <a:tc>
                  <a:txBody>
                    <a:bodyPr/>
                    <a:lstStyle/>
                    <a:p>
                      <a:pPr indent="0" marL="0">
                        <a:buNone/>
                      </a:pPr>
                      <a:r>
                        <a:rPr lang="en-US" sz="900" dirty="0">
                          <a:solidFill>
                            <a:srgbClr val="1F2D3D"/>
                          </a:solidFill>
                        </a:rPr>
                        <a:t>Masa Pemeliharaan</a:t>
                      </a:r>
                      <a:endParaRPr lang="en-US" sz="9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7B4F"/>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B6B7C"/>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r>
              <a:tr h="233172">
                <a:tc>
                  <a:txBody>
                    <a:bodyPr/>
                    <a:lstStyle/>
                    <a:p>
                      <a:pPr indent="0" marL="0">
                        <a:buNone/>
                      </a:pPr>
                      <a:r>
                        <a:rPr lang="en-US" sz="900" dirty="0">
                          <a:solidFill>
                            <a:srgbClr val="1F2D3D"/>
                          </a:solidFill>
                        </a:rPr>
                        <a:t>BA Negosiasi</a:t>
                      </a:r>
                      <a:endParaRPr lang="en-US" sz="9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B6B7C"/>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7B4F"/>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r>
              <a:tr h="233172">
                <a:tc>
                  <a:txBody>
                    <a:bodyPr/>
                    <a:lstStyle/>
                    <a:p>
                      <a:pPr indent="0" marL="0">
                        <a:buNone/>
                      </a:pPr>
                      <a:r>
                        <a:rPr lang="en-US" sz="900" dirty="0">
                          <a:solidFill>
                            <a:srgbClr val="1F2D3D"/>
                          </a:solidFill>
                        </a:rPr>
                        <a:t>Surat Pesanan *</a:t>
                      </a:r>
                      <a:endParaRPr lang="en-US" sz="9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B6B7C"/>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7B4F"/>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r>
              <a:tr h="233172">
                <a:tc>
                  <a:txBody>
                    <a:bodyPr/>
                    <a:lstStyle/>
                    <a:p>
                      <a:pPr indent="0" marL="0">
                        <a:buNone/>
                      </a:pPr>
                      <a:r>
                        <a:rPr lang="en-US" sz="900" dirty="0">
                          <a:solidFill>
                            <a:srgbClr val="1F2D3D"/>
                          </a:solidFill>
                        </a:rPr>
                        <a:t>Lampiran Surat Pesanan</a:t>
                      </a:r>
                      <a:endParaRPr lang="en-US" sz="9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B6B7C"/>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7B4F"/>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r>
              <a:tr h="233172">
                <a:tc>
                  <a:txBody>
                    <a:bodyPr/>
                    <a:lstStyle/>
                    <a:p>
                      <a:pPr indent="0" marL="0">
                        <a:buNone/>
                      </a:pPr>
                      <a:r>
                        <a:rPr lang="en-US" sz="900" dirty="0">
                          <a:solidFill>
                            <a:srgbClr val="1F2D3D"/>
                          </a:solidFill>
                        </a:rPr>
                        <a:t>Rentang Waktu Pelaksanaan</a:t>
                      </a:r>
                      <a:endParaRPr lang="en-US" sz="9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B6B7C"/>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7B4F"/>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r>
              <a:tr h="233172">
                <a:tc>
                  <a:txBody>
                    <a:bodyPr/>
                    <a:lstStyle/>
                    <a:p>
                      <a:pPr indent="0" marL="0">
                        <a:buNone/>
                      </a:pPr>
                      <a:r>
                        <a:rPr lang="en-US" sz="900" dirty="0">
                          <a:solidFill>
                            <a:srgbClr val="1F2D3D"/>
                          </a:solidFill>
                        </a:rPr>
                        <a:t>Pelaksana (rekening)</a:t>
                      </a:r>
                      <a:endParaRPr lang="en-US" sz="9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7B4F"/>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7B4F"/>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r>
              <a:tr h="233172">
                <a:tc>
                  <a:txBody>
                    <a:bodyPr/>
                    <a:lstStyle/>
                    <a:p>
                      <a:pPr indent="0" marL="0">
                        <a:buNone/>
                      </a:pPr>
                      <a:r>
                        <a:rPr lang="en-US" sz="900" dirty="0">
                          <a:solidFill>
                            <a:srgbClr val="1F2D3D"/>
                          </a:solidFill>
                        </a:rPr>
                        <a:t>Masa Garansi</a:t>
                      </a:r>
                      <a:endParaRPr lang="en-US" sz="9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7B4F"/>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E7B4F"/>
                          </a:solidFill>
                        </a:rPr>
                        <a:t>●</a:t>
                      </a:r>
                      <a:endParaRPr lang="en-US" sz="9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r>
            </a:tbl>
          </a:graphicData>
        </a:graphic>
      </p:graphicFrame>
      <p:sp>
        <p:nvSpPr>
          <p:cNvPr id="47" name="Text 44"/>
          <p:cNvSpPr txBox="1"/>
          <p:nvPr/>
        </p:nvSpPr>
        <p:spPr>
          <a:xfrm>
            <a:off x="8046720" y="5166360"/>
            <a:ext cx="3596335" cy="411480"/>
          </a:xfrm>
          <a:prstGeom prst="rect">
            <a:avLst/>
          </a:prstGeom>
          <a:noFill/>
          <a:ln/>
        </p:spPr>
        <p:txBody>
          <a:bodyPr wrap="square" lIns="0" tIns="0" rIns="0" bIns="0" rtlCol="0" anchor="t"/>
          <a:lstStyle/>
          <a:p>
            <a:pPr indent="0" marL="0">
              <a:buNone/>
            </a:pPr>
            <a:r>
              <a:rPr lang="en-US" sz="850" b="1" dirty="0">
                <a:solidFill>
                  <a:srgbClr val="D9822B"/>
                </a:solidFill>
              </a:rPr>
              <a:t>* perlu dikonfirmasi: </a:t>
            </a:r>
            <a:pPr indent="0" marL="0">
              <a:buNone/>
            </a:pPr>
            <a:r>
              <a:rPr lang="en-US" sz="850" dirty="0">
                <a:solidFill>
                  <a:srgbClr val="1F2D3D"/>
                </a:solidFill>
              </a:rPr>
              <a:t>tercantum di dokumentasi, belum ada sebagai item checklist aktif.</a:t>
            </a:r>
            <a:endParaRPr lang="en-US" sz="850" dirty="0"/>
          </a:p>
        </p:txBody>
      </p:sp>
      <p:sp>
        <p:nvSpPr>
          <p:cNvPr id="48" name="status-strip-232"/>
          <p:cNvSpPr/>
          <p:nvPr/>
        </p:nvSpPr>
        <p:spPr>
          <a:xfrm>
            <a:off x="548640" y="5733288"/>
            <a:ext cx="11094415" cy="457200"/>
          </a:xfrm>
          <a:prstGeom prst="rect">
            <a:avLst/>
          </a:prstGeom>
          <a:solidFill>
            <a:srgbClr val="FFFFFF"/>
          </a:solidFill>
          <a:ln w="9525">
            <a:solidFill>
              <a:srgbClr val="CDD5DF"/>
            </a:solidFill>
            <a:prstDash val="solid"/>
          </a:ln>
        </p:spPr>
      </p:sp>
      <p:sp>
        <p:nvSpPr>
          <p:cNvPr id="49" name="status-mark-233"/>
          <p:cNvSpPr/>
          <p:nvPr/>
        </p:nvSpPr>
        <p:spPr>
          <a:xfrm>
            <a:off x="548640" y="5733288"/>
            <a:ext cx="73152" cy="457200"/>
          </a:xfrm>
          <a:prstGeom prst="rect">
            <a:avLst/>
          </a:prstGeom>
          <a:solidFill>
            <a:srgbClr val="1F6FB2"/>
          </a:solidFill>
          <a:ln w="12700">
            <a:solidFill>
              <a:srgbClr val="1F6FB2"/>
            </a:solidFill>
            <a:prstDash val="solid"/>
          </a:ln>
        </p:spPr>
      </p:sp>
      <p:sp>
        <p:nvSpPr>
          <p:cNvPr id="50" name="status-text-234"/>
          <p:cNvSpPr txBox="1"/>
          <p:nvPr/>
        </p:nvSpPr>
        <p:spPr>
          <a:xfrm>
            <a:off x="749808" y="5733288"/>
            <a:ext cx="10820095" cy="457200"/>
          </a:xfrm>
          <a:prstGeom prst="rect">
            <a:avLst/>
          </a:prstGeom>
          <a:noFill/>
          <a:ln/>
        </p:spPr>
        <p:txBody>
          <a:bodyPr wrap="square" lIns="0" tIns="0" rIns="0" bIns="0" rtlCol="0" anchor="ctr"/>
          <a:lstStyle/>
          <a:p>
            <a:pPr indent="0" marL="0">
              <a:buNone/>
            </a:pPr>
            <a:r>
              <a:rPr lang="en-US" sz="1000" dirty="0">
                <a:solidFill>
                  <a:srgbClr val="1F2D3D"/>
                </a:solidFill>
              </a:rPr>
              <a:t>Status otomatis:  Inisiasi Laksdan  &gt;  Penyusunan HPS  &gt;  Proses SMART SCM  &gt;  Penyusunan Kontrak  (SPPL: Penyusunan Surat Pesanan)  &gt;  Menunggu Approval TL Pengadaan  &gt;  Terkontrak</a:t>
            </a:r>
            <a:endParaRPr lang="en-US" sz="1000" dirty="0"/>
          </a:p>
        </p:txBody>
      </p:sp>
      <p:sp>
        <p:nvSpPr>
          <p:cNvPr id="25" name="Slide Number Placeholder 0"/>
          <p:cNvSpPr>
            <a:spLocks noGrp="1"/>
          </p:cNvSpPr>
          <p:nvPr>
            <p:ph type="sldNum" sz="quarter" idx="4294967295"/>
          </p:nvPr>
        </p:nvSpPr>
        <p:spPr>
          <a:xfrm>
            <a:off x="11094415" y="646480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548640" y="896112"/>
            <a:ext cx="7680960" cy="502920"/>
          </a:xfrm>
          <a:prstGeom prst="rect">
            <a:avLst/>
          </a:prstGeom>
          <a:noFill/>
          <a:ln/>
        </p:spPr>
        <p:txBody>
          <a:bodyPr wrap="square" lIns="0" tIns="0" rIns="0" bIns="0" rtlCol="0" anchor="ctr"/>
          <a:lstStyle/>
          <a:p>
            <a:pPr algn="l" indent="0" marL="0">
              <a:buNone/>
            </a:pPr>
            <a:r>
              <a:rPr lang="en-US" sz="2400" b="1" dirty="0">
                <a:solidFill>
                  <a:srgbClr val="0E2F56"/>
                </a:solidFill>
              </a:rPr>
              <a:t>Percabangan format kontrak: SPK / PJ dan SPPL</a:t>
            </a:r>
            <a:endParaRPr lang="en-US" sz="2400" dirty="0"/>
          </a:p>
        </p:txBody>
      </p:sp>
      <p:sp>
        <p:nvSpPr>
          <p:cNvPr id="3" name="Text 2"/>
          <p:cNvSpPr/>
          <p:nvPr>
            <p:ph idx="103" type="body" hasCustomPrompt="1"/>
          </p:nvPr>
        </p:nvSpPr>
        <p:spPr>
          <a:xfrm>
            <a:off x="548640" y="1371600"/>
            <a:ext cx="7680960" cy="292608"/>
          </a:xfrm>
          <a:prstGeom prst="rect">
            <a:avLst/>
          </a:prstGeom>
          <a:noFill/>
          <a:ln/>
        </p:spPr>
        <p:txBody>
          <a:bodyPr wrap="square" lIns="0" tIns="0" rIns="0" bIns="0" rtlCol="0" anchor="t"/>
          <a:lstStyle/>
          <a:p>
            <a:pPr algn="l" indent="0" marL="0">
              <a:buNone/>
            </a:pPr>
            <a:r>
              <a:rPr lang="en-US" sz="1200" dirty="0">
                <a:solidFill>
                  <a:srgbClr val="5B6B7C"/>
                </a:solidFill>
              </a:rPr>
              <a:t>Format kontrak menentukan tahapan yang dipakai; tahapan yang dilewati diatur di Data Master &gt; Item Checklist.</a:t>
            </a:r>
            <a:endParaRPr lang="en-US" sz="1200" dirty="0"/>
          </a:p>
        </p:txBody>
      </p:sp>
      <p:sp>
        <p:nvSpPr>
          <p:cNvPr id="4" name="decision-235"/>
          <p:cNvSpPr/>
          <p:nvPr/>
        </p:nvSpPr>
        <p:spPr>
          <a:xfrm>
            <a:off x="5044288" y="1714500"/>
            <a:ext cx="2103120" cy="685800"/>
          </a:xfrm>
          <a:prstGeom prst="diamond">
            <a:avLst/>
          </a:prstGeom>
          <a:solidFill>
            <a:srgbClr val="FFFFFF"/>
          </a:solidFill>
          <a:ln w="19050">
            <a:solidFill>
              <a:srgbClr val="0E2F56"/>
            </a:solidFill>
            <a:prstDash val="solid"/>
          </a:ln>
        </p:spPr>
      </p:sp>
      <p:sp>
        <p:nvSpPr>
          <p:cNvPr id="5" name="decision-text-236"/>
          <p:cNvSpPr txBox="1"/>
          <p:nvPr/>
        </p:nvSpPr>
        <p:spPr>
          <a:xfrm>
            <a:off x="5181448" y="1714500"/>
            <a:ext cx="1828800" cy="685800"/>
          </a:xfrm>
          <a:prstGeom prst="rect">
            <a:avLst/>
          </a:prstGeom>
          <a:noFill/>
          <a:ln/>
        </p:spPr>
        <p:txBody>
          <a:bodyPr wrap="square" lIns="0" tIns="0" rIns="0" bIns="0" rtlCol="0" anchor="ctr"/>
          <a:lstStyle/>
          <a:p>
            <a:pPr algn="ctr" indent="0" marL="0">
              <a:buNone/>
            </a:pPr>
            <a:r>
              <a:rPr lang="en-US" sz="1100" b="1" dirty="0">
                <a:solidFill>
                  <a:srgbClr val="0E2F56"/>
                </a:solidFill>
              </a:rPr>
              <a:t>Format kontrak?</a:t>
            </a:r>
            <a:endParaRPr lang="en-US" sz="1100" dirty="0"/>
          </a:p>
        </p:txBody>
      </p:sp>
      <p:sp>
        <p:nvSpPr>
          <p:cNvPr id="6" name="connector-237"/>
          <p:cNvSpPr/>
          <p:nvPr/>
        </p:nvSpPr>
        <p:spPr>
          <a:xfrm flipH="1">
            <a:off x="4659554" y="2057400"/>
            <a:ext cx="384734" cy="0"/>
          </a:xfrm>
          <a:prstGeom prst="line">
            <a:avLst/>
          </a:prstGeom>
          <a:noFill/>
          <a:ln w="19050">
            <a:solidFill>
              <a:srgbClr val="0E2F56"/>
            </a:solidFill>
            <a:prstDash val="solid"/>
          </a:ln>
        </p:spPr>
      </p:sp>
      <p:sp>
        <p:nvSpPr>
          <p:cNvPr id="7" name="connector-238"/>
          <p:cNvSpPr/>
          <p:nvPr/>
        </p:nvSpPr>
        <p:spPr>
          <a:xfrm>
            <a:off x="4659554" y="2057400"/>
            <a:ext cx="0" cy="429768"/>
          </a:xfrm>
          <a:prstGeom prst="line">
            <a:avLst/>
          </a:prstGeom>
          <a:noFill/>
          <a:ln w="19050">
            <a:solidFill>
              <a:srgbClr val="0E2F56"/>
            </a:solidFill>
            <a:prstDash val="solid"/>
            <a:tailEnd type="triangle"/>
          </a:ln>
        </p:spPr>
      </p:sp>
      <p:sp>
        <p:nvSpPr>
          <p:cNvPr id="8" name="connector-239"/>
          <p:cNvSpPr/>
          <p:nvPr/>
        </p:nvSpPr>
        <p:spPr>
          <a:xfrm>
            <a:off x="7147408" y="2057400"/>
            <a:ext cx="2213534" cy="0"/>
          </a:xfrm>
          <a:prstGeom prst="line">
            <a:avLst/>
          </a:prstGeom>
          <a:noFill/>
          <a:ln w="19050">
            <a:solidFill>
              <a:srgbClr val="0E2F56"/>
            </a:solidFill>
            <a:prstDash val="solid"/>
          </a:ln>
        </p:spPr>
      </p:sp>
      <p:sp>
        <p:nvSpPr>
          <p:cNvPr id="9" name="connector-240"/>
          <p:cNvSpPr/>
          <p:nvPr/>
        </p:nvSpPr>
        <p:spPr>
          <a:xfrm>
            <a:off x="9360941" y="2057400"/>
            <a:ext cx="0" cy="429768"/>
          </a:xfrm>
          <a:prstGeom prst="line">
            <a:avLst/>
          </a:prstGeom>
          <a:noFill/>
          <a:ln w="19050">
            <a:solidFill>
              <a:srgbClr val="0E2F56"/>
            </a:solidFill>
            <a:prstDash val="solid"/>
            <a:tailEnd type="triangle"/>
          </a:ln>
        </p:spPr>
      </p:sp>
      <p:graphicFrame>
        <p:nvGraphicFramePr>
          <p:cNvPr id="9" name="table-241"/>
          <p:cNvGraphicFramePr>
            <a:graphicFrameLocks noGrp="1"/>
          </p:cNvGraphicFramePr>
          <p:nvPr>
            <p:extLst>
              <p:ext uri="{D42A27DB-BD31-4B8C-83A1-F6EECF244321}">
                <p14:modId xmlns:p14="http://schemas.microsoft.com/office/powerpoint/2010/main" val="1579011935"/>
              </p:ext>
            </p:extLst>
          </p:nvPr>
        </p:nvGraphicFramePr>
        <p:xfrm>
          <a:off x="548640" y="2487168"/>
          <a:ext cx="11094415" cy="914400"/>
        </p:xfrm>
        <a:graphic>
          <a:graphicData uri="http://schemas.openxmlformats.org/drawingml/2006/table">
            <a:tbl>
              <a:tblPr/>
              <a:tblGrid>
                <a:gridCol w="1828800"/>
                <a:gridCol w="4632808"/>
                <a:gridCol w="4632808"/>
              </a:tblGrid>
              <a:tr h="365760">
                <a:tc>
                  <a:txBody>
                    <a:bodyPr/>
                    <a:lstStyle/>
                    <a:p>
                      <a:pPr algn="l" indent="0" marL="0">
                        <a:buNone/>
                      </a:pP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0E2F56"/>
                    </a:solidFill>
                  </a:tcPr>
                </a:tc>
                <a:tc>
                  <a:txBody>
                    <a:bodyPr/>
                    <a:lstStyle/>
                    <a:p>
                      <a:pPr algn="ctr" indent="0" marL="0">
                        <a:buNone/>
                      </a:pPr>
                      <a:r>
                        <a:rPr lang="en-US" sz="1100" b="1" dirty="0">
                          <a:solidFill>
                            <a:srgbClr val="FFFFFF"/>
                          </a:solidFill>
                        </a:rPr>
                        <a:t>SPK / PJ (Surat Perjanjian)</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1F6FB2"/>
                    </a:solidFill>
                  </a:tcPr>
                </a:tc>
                <a:tc>
                  <a:txBody>
                    <a:bodyPr/>
                    <a:lstStyle/>
                    <a:p>
                      <a:pPr algn="ctr" indent="0" marL="0">
                        <a:buNone/>
                      </a:pPr>
                      <a:r>
                        <a:rPr lang="en-US" sz="1100" b="1" dirty="0">
                          <a:solidFill>
                            <a:srgbClr val="FFFFFF"/>
                          </a:solidFill>
                        </a:rPr>
                        <a:t>SPPL (Surat Pesanan)</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1F6FB2"/>
                    </a:solidFill>
                  </a:tcPr>
                </a:tc>
              </a:tr>
              <a:tr h="713232">
                <a:tc>
                  <a:txBody>
                    <a:bodyPr/>
                    <a:lstStyle/>
                    <a:p>
                      <a:pPr indent="0" marL="0">
                        <a:buNone/>
                      </a:pPr>
                      <a:r>
                        <a:rPr lang="en-US" sz="1100" b="1" dirty="0">
                          <a:solidFill>
                            <a:srgbClr val="0E2F56"/>
                          </a:solidFill>
                        </a:rPr>
                        <a:t>Perencanaan</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indent="0" marL="0">
                        <a:buNone/>
                      </a:pPr>
                      <a:r>
                        <a:rPr lang="en-US" sz="1100" dirty="0">
                          <a:solidFill>
                            <a:srgbClr val="1F2D3D"/>
                          </a:solidFill>
                        </a:rPr>
                        <a:t>Evaluasi Harga, Penawaran, CSMS (opsional), Nota Dinas ke Pengadaan, HPE, UPB, RKS, Inisiasi SMART SCM, PR/RO (opsional).</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indent="0" marL="0">
                        <a:buNone/>
                      </a:pPr>
                      <a:r>
                        <a:rPr lang="en-US" sz="1100" dirty="0">
                          <a:solidFill>
                            <a:srgbClr val="1F2D3D"/>
                          </a:solidFill>
                        </a:rPr>
                        <a:t>Penawaran (satu mitra tunjuk langsung, mencakup Evaluasi Harga), CSMS (opsional), Nota Dinas ke Pengadaan. HPE, UPB, RKS, SMART SCM, PR/RO dilewati.</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r>
              <a:tr h="713232">
                <a:tc>
                  <a:txBody>
                    <a:bodyPr/>
                    <a:lstStyle/>
                    <a:p>
                      <a:pPr indent="0" marL="0">
                        <a:buNone/>
                      </a:pPr>
                      <a:r>
                        <a:rPr lang="en-US" sz="1100" b="1" dirty="0">
                          <a:solidFill>
                            <a:srgbClr val="0E2F56"/>
                          </a:solidFill>
                        </a:rPr>
                        <a:t>Pelaksanaan</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indent="0" marL="0">
                        <a:buNone/>
                      </a:pPr>
                      <a:r>
                        <a:rPr lang="en-US" sz="1100" dirty="0">
                          <a:solidFill>
                            <a:srgbClr val="1F2D3D"/>
                          </a:solidFill>
                        </a:rPr>
                        <a:t>Penyusunan HPS, Proses SMART SCM dan 6 Berita Acara, Jaminan Bank, Kontrak, Rentang Waktu, Masa Pemeliharaan, Pelaksana, Masa Garansi.</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indent="0" marL="0">
                        <a:buNone/>
                      </a:pPr>
                      <a:r>
                        <a:rPr lang="en-US" sz="1100" dirty="0">
                          <a:solidFill>
                            <a:srgbClr val="D9822B"/>
                          </a:solidFill>
                        </a:rPr>
                        <a:t>BA Negosiasi, Surat Pesanan (perlu dikonfirmasi), Pelaksana, Lampiran Surat Pesanan, Rentang Waktu Pelaksanaan (tanggal akhir otomatis), Masa Garansi.</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r>
              <a:tr h="530352">
                <a:tc>
                  <a:txBody>
                    <a:bodyPr/>
                    <a:lstStyle/>
                    <a:p>
                      <a:pPr indent="0" marL="0">
                        <a:buNone/>
                      </a:pPr>
                      <a:r>
                        <a:rPr lang="en-US" sz="1100" b="1" dirty="0">
                          <a:solidFill>
                            <a:srgbClr val="0E2F56"/>
                          </a:solidFill>
                        </a:rPr>
                        <a:t>Dokumen kontrak</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indent="0" marL="0">
                        <a:buNone/>
                      </a:pPr>
                      <a:r>
                        <a:rPr lang="en-US" sz="1100" dirty="0">
                          <a:solidFill>
                            <a:srgbClr val="1F2D3D"/>
                          </a:solidFill>
                        </a:rPr>
                        <a:t>SPK: SPK (tabel) dan SPK - Syarat dan Ketentuan (Pasal). PJ: Surat Perjanjian.</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indent="0" marL="0">
                        <a:buNone/>
                      </a:pPr>
                      <a:r>
                        <a:rPr lang="en-US" sz="1100" dirty="0">
                          <a:solidFill>
                            <a:srgbClr val="1F2D3D"/>
                          </a:solidFill>
                        </a:rPr>
                        <a:t>Surat Pesanan dan Lampiran SP Barang dan Jasa; nilai mengikuti BA Negosiasi.</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r>
              <a:tr h="457200">
                <a:tc>
                  <a:txBody>
                    <a:bodyPr/>
                    <a:lstStyle/>
                    <a:p>
                      <a:pPr indent="0" marL="0">
                        <a:buNone/>
                      </a:pPr>
                      <a:r>
                        <a:rPr lang="en-US" sz="1100" b="1" dirty="0">
                          <a:solidFill>
                            <a:srgbClr val="0E2F56"/>
                          </a:solidFill>
                        </a:rPr>
                        <a:t>Syarat Keuangan</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indent="0" marL="0">
                        <a:buNone/>
                      </a:pPr>
                      <a:r>
                        <a:rPr lang="en-US" sz="1100" dirty="0">
                          <a:solidFill>
                            <a:srgbClr val="1F2D3D"/>
                          </a:solidFill>
                        </a:rPr>
                        <a:t>Dibaca dari pasal kontrak (SPK Pasal / Surat Perjanjian).</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indent="0" marL="0">
                        <a:buNone/>
                      </a:pPr>
                      <a:r>
                        <a:rPr lang="en-US" sz="1100" dirty="0">
                          <a:solidFill>
                            <a:srgbClr val="1F2D3D"/>
                          </a:solidFill>
                        </a:rPr>
                        <a:t>Dibaca dari Lampiran SP: Bagian B (Penerimaan) dan Bagian D (Pembayaran).</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0E2F56"/>
                          </a:solidFill>
                        </a:rPr>
                        <a:t>Amandemen</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indent="0" marL="0">
                        <a:buNone/>
                      </a:pPr>
                      <a:r>
                        <a:rPr lang="en-US" sz="1100" dirty="0">
                          <a:solidFill>
                            <a:srgbClr val="1F2D3D"/>
                          </a:solidFill>
                        </a:rPr>
                        <a:t>Tersedia setelah dokumen kontrak dibuat.</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indent="0" marL="0">
                        <a:buNone/>
                      </a:pPr>
                      <a:r>
                        <a:rPr lang="en-US" sz="1100" dirty="0">
                          <a:solidFill>
                            <a:srgbClr val="1F2D3D"/>
                          </a:solidFill>
                        </a:rPr>
                        <a:t>Tersedia setelah Surat Pesanan dibuat.</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r>
              <a:tr h="411480">
                <a:tc>
                  <a:txBody>
                    <a:bodyPr/>
                    <a:lstStyle/>
                    <a:p>
                      <a:pPr indent="0" marL="0">
                        <a:buNone/>
                      </a:pPr>
                      <a:r>
                        <a:rPr lang="en-US" sz="1100" b="1" dirty="0">
                          <a:solidFill>
                            <a:srgbClr val="0E2F56"/>
                          </a:solidFill>
                        </a:rPr>
                        <a:t>Delivery Order</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indent="0" marL="0">
                        <a:buNone/>
                      </a:pPr>
                      <a:r>
                        <a:rPr lang="en-US" sz="1100" dirty="0">
                          <a:solidFill>
                            <a:srgbClr val="1F2D3D"/>
                          </a:solidFill>
                        </a:rPr>
                        <a:t>Hanya bila jenis kontrak KHS.</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indent="0" marL="0">
                        <a:buNone/>
                      </a:pPr>
                      <a:r>
                        <a:rPr lang="en-US" sz="1100" dirty="0">
                          <a:solidFill>
                            <a:srgbClr val="1F2D3D"/>
                          </a:solidFill>
                        </a:rPr>
                        <a:t>Tidak tersedia.</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6480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548640" y="896112"/>
            <a:ext cx="7680960" cy="502920"/>
          </a:xfrm>
          <a:prstGeom prst="rect">
            <a:avLst/>
          </a:prstGeom>
          <a:noFill/>
          <a:ln/>
        </p:spPr>
        <p:txBody>
          <a:bodyPr wrap="square" lIns="0" tIns="0" rIns="0" bIns="0" rtlCol="0" anchor="ctr"/>
          <a:lstStyle/>
          <a:p>
            <a:pPr algn="l" indent="0" marL="0">
              <a:buNone/>
            </a:pPr>
            <a:r>
              <a:rPr lang="en-US" sz="2400" b="1" dirty="0">
                <a:solidFill>
                  <a:srgbClr val="0E2F56"/>
                </a:solidFill>
              </a:rPr>
              <a:t>Tahap 4  Penyerahan</a:t>
            </a:r>
            <a:endParaRPr lang="en-US" sz="2400" dirty="0"/>
          </a:p>
        </p:txBody>
      </p:sp>
      <p:sp>
        <p:nvSpPr>
          <p:cNvPr id="3" name="Text 2"/>
          <p:cNvSpPr/>
          <p:nvPr>
            <p:ph idx="103" type="body" hasCustomPrompt="1"/>
          </p:nvPr>
        </p:nvSpPr>
        <p:spPr>
          <a:xfrm>
            <a:off x="548640" y="1371600"/>
            <a:ext cx="7680960" cy="292608"/>
          </a:xfrm>
          <a:prstGeom prst="rect">
            <a:avLst/>
          </a:prstGeom>
          <a:noFill/>
          <a:ln/>
        </p:spPr>
        <p:txBody>
          <a:bodyPr wrap="square" lIns="0" tIns="0" rIns="0" bIns="0" rtlCol="0" anchor="t"/>
          <a:lstStyle/>
          <a:p>
            <a:pPr algn="l" indent="0" marL="0">
              <a:buNone/>
            </a:pPr>
            <a:r>
              <a:rPr lang="en-US" sz="1200" dirty="0">
                <a:solidFill>
                  <a:srgbClr val="5B6B7C"/>
                </a:solidFill>
              </a:rPr>
              <a:t>Dikerjakan Keuangan di tab Penyerahan. Syarat diambil dari pasal kontrak pengadaan itu sendiri.</a:t>
            </a:r>
            <a:endParaRPr lang="en-US" sz="1200" dirty="0"/>
          </a:p>
        </p:txBody>
      </p:sp>
      <p:sp>
        <p:nvSpPr>
          <p:cNvPr id="4" name="tracker-242"/>
          <p:cNvSpPr/>
          <p:nvPr/>
        </p:nvSpPr>
        <p:spPr>
          <a:xfrm>
            <a:off x="8458200" y="987552"/>
            <a:ext cx="603504" cy="365760"/>
          </a:xfrm>
          <a:prstGeom prst="rect">
            <a:avLst/>
          </a:prstGeom>
          <a:solidFill>
            <a:srgbClr val="E7F0FA"/>
          </a:solidFill>
          <a:ln w="9525">
            <a:solidFill>
              <a:srgbClr val="CDD5DF"/>
            </a:solidFill>
            <a:prstDash val="solid"/>
          </a:ln>
        </p:spPr>
      </p:sp>
      <p:sp>
        <p:nvSpPr>
          <p:cNvPr id="5" name="tracker-label-243"/>
          <p:cNvSpPr txBox="1"/>
          <p:nvPr/>
        </p:nvSpPr>
        <p:spPr>
          <a:xfrm>
            <a:off x="8458200" y="987552"/>
            <a:ext cx="603504" cy="365760"/>
          </a:xfrm>
          <a:prstGeom prst="rect">
            <a:avLst/>
          </a:prstGeom>
          <a:noFill/>
          <a:ln/>
        </p:spPr>
        <p:txBody>
          <a:bodyPr wrap="square" lIns="0" tIns="0" rIns="0" bIns="0" rtlCol="0" anchor="ctr"/>
          <a:lstStyle/>
          <a:p>
            <a:pPr algn="ctr" indent="0" marL="0">
              <a:buNone/>
            </a:pPr>
            <a:r>
              <a:rPr lang="en-US" sz="900" b="1" dirty="0">
                <a:solidFill>
                  <a:srgbClr val="0E2F56"/>
                </a:solidFill>
              </a:rPr>
              <a:t>1</a:t>
            </a:r>
            <a:endParaRPr lang="en-US" sz="900" dirty="0"/>
          </a:p>
          <a:p>
            <a:pPr algn="ctr" indent="0" marL="0">
              <a:buNone/>
            </a:pPr>
            <a:r>
              <a:rPr lang="en-US" sz="650" dirty="0">
                <a:solidFill>
                  <a:srgbClr val="0E2F56"/>
                </a:solidFill>
              </a:rPr>
              <a:t>Usulan</a:t>
            </a:r>
            <a:endParaRPr lang="en-US" sz="900" dirty="0"/>
          </a:p>
        </p:txBody>
      </p:sp>
      <p:sp>
        <p:nvSpPr>
          <p:cNvPr id="6" name="tracker-244"/>
          <p:cNvSpPr/>
          <p:nvPr/>
        </p:nvSpPr>
        <p:spPr>
          <a:xfrm>
            <a:off x="9098280" y="987552"/>
            <a:ext cx="603504" cy="365760"/>
          </a:xfrm>
          <a:prstGeom prst="rect">
            <a:avLst/>
          </a:prstGeom>
          <a:solidFill>
            <a:srgbClr val="E7F0FA"/>
          </a:solidFill>
          <a:ln w="9525">
            <a:solidFill>
              <a:srgbClr val="CDD5DF"/>
            </a:solidFill>
            <a:prstDash val="solid"/>
          </a:ln>
        </p:spPr>
      </p:sp>
      <p:sp>
        <p:nvSpPr>
          <p:cNvPr id="7" name="tracker-label-245"/>
          <p:cNvSpPr txBox="1"/>
          <p:nvPr/>
        </p:nvSpPr>
        <p:spPr>
          <a:xfrm>
            <a:off x="9098280" y="987552"/>
            <a:ext cx="603504" cy="365760"/>
          </a:xfrm>
          <a:prstGeom prst="rect">
            <a:avLst/>
          </a:prstGeom>
          <a:noFill/>
          <a:ln/>
        </p:spPr>
        <p:txBody>
          <a:bodyPr wrap="square" lIns="0" tIns="0" rIns="0" bIns="0" rtlCol="0" anchor="ctr"/>
          <a:lstStyle/>
          <a:p>
            <a:pPr algn="ctr" indent="0" marL="0">
              <a:buNone/>
            </a:pPr>
            <a:r>
              <a:rPr lang="en-US" sz="900" b="1" dirty="0">
                <a:solidFill>
                  <a:srgbClr val="0E2F56"/>
                </a:solidFill>
              </a:rPr>
              <a:t>2</a:t>
            </a:r>
            <a:endParaRPr lang="en-US" sz="900" dirty="0"/>
          </a:p>
          <a:p>
            <a:pPr algn="ctr" indent="0" marL="0">
              <a:buNone/>
            </a:pPr>
            <a:r>
              <a:rPr lang="en-US" sz="650" dirty="0">
                <a:solidFill>
                  <a:srgbClr val="0E2F56"/>
                </a:solidFill>
              </a:rPr>
              <a:t>Perencanaan</a:t>
            </a:r>
            <a:endParaRPr lang="en-US" sz="900" dirty="0"/>
          </a:p>
        </p:txBody>
      </p:sp>
      <p:sp>
        <p:nvSpPr>
          <p:cNvPr id="8" name="tracker-246"/>
          <p:cNvSpPr/>
          <p:nvPr/>
        </p:nvSpPr>
        <p:spPr>
          <a:xfrm>
            <a:off x="9738360" y="987552"/>
            <a:ext cx="603504" cy="365760"/>
          </a:xfrm>
          <a:prstGeom prst="rect">
            <a:avLst/>
          </a:prstGeom>
          <a:solidFill>
            <a:srgbClr val="E7F0FA"/>
          </a:solidFill>
          <a:ln w="9525">
            <a:solidFill>
              <a:srgbClr val="CDD5DF"/>
            </a:solidFill>
            <a:prstDash val="solid"/>
          </a:ln>
        </p:spPr>
      </p:sp>
      <p:sp>
        <p:nvSpPr>
          <p:cNvPr id="9" name="tracker-label-247"/>
          <p:cNvSpPr txBox="1"/>
          <p:nvPr/>
        </p:nvSpPr>
        <p:spPr>
          <a:xfrm>
            <a:off x="9738360" y="987552"/>
            <a:ext cx="603504" cy="365760"/>
          </a:xfrm>
          <a:prstGeom prst="rect">
            <a:avLst/>
          </a:prstGeom>
          <a:noFill/>
          <a:ln/>
        </p:spPr>
        <p:txBody>
          <a:bodyPr wrap="square" lIns="0" tIns="0" rIns="0" bIns="0" rtlCol="0" anchor="ctr"/>
          <a:lstStyle/>
          <a:p>
            <a:pPr algn="ctr" indent="0" marL="0">
              <a:buNone/>
            </a:pPr>
            <a:r>
              <a:rPr lang="en-US" sz="900" b="1" dirty="0">
                <a:solidFill>
                  <a:srgbClr val="0E2F56"/>
                </a:solidFill>
              </a:rPr>
              <a:t>3</a:t>
            </a:r>
            <a:endParaRPr lang="en-US" sz="900" dirty="0"/>
          </a:p>
          <a:p>
            <a:pPr algn="ctr" indent="0" marL="0">
              <a:buNone/>
            </a:pPr>
            <a:r>
              <a:rPr lang="en-US" sz="650" dirty="0">
                <a:solidFill>
                  <a:srgbClr val="0E2F56"/>
                </a:solidFill>
              </a:rPr>
              <a:t>Pelaksanaan</a:t>
            </a:r>
            <a:endParaRPr lang="en-US" sz="900" dirty="0"/>
          </a:p>
        </p:txBody>
      </p:sp>
      <p:sp>
        <p:nvSpPr>
          <p:cNvPr id="10" name="tracker-248"/>
          <p:cNvSpPr/>
          <p:nvPr/>
        </p:nvSpPr>
        <p:spPr>
          <a:xfrm>
            <a:off x="10378440" y="987552"/>
            <a:ext cx="603504" cy="365760"/>
          </a:xfrm>
          <a:prstGeom prst="rect">
            <a:avLst/>
          </a:prstGeom>
          <a:solidFill>
            <a:srgbClr val="1F6FB2"/>
          </a:solidFill>
          <a:ln w="9525">
            <a:solidFill>
              <a:srgbClr val="1F6FB2"/>
            </a:solidFill>
            <a:prstDash val="solid"/>
          </a:ln>
        </p:spPr>
      </p:sp>
      <p:sp>
        <p:nvSpPr>
          <p:cNvPr id="11" name="tracker-label-249"/>
          <p:cNvSpPr txBox="1"/>
          <p:nvPr/>
        </p:nvSpPr>
        <p:spPr>
          <a:xfrm>
            <a:off x="10378440" y="987552"/>
            <a:ext cx="603504" cy="365760"/>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a:p>
            <a:pPr algn="ctr" indent="0" marL="0">
              <a:buNone/>
            </a:pPr>
            <a:r>
              <a:rPr lang="en-US" sz="650" dirty="0">
                <a:solidFill>
                  <a:srgbClr val="FFFFFF"/>
                </a:solidFill>
              </a:rPr>
              <a:t>Penyerahan</a:t>
            </a:r>
            <a:endParaRPr lang="en-US" sz="900" dirty="0"/>
          </a:p>
        </p:txBody>
      </p:sp>
      <p:sp>
        <p:nvSpPr>
          <p:cNvPr id="12" name="tracker-250"/>
          <p:cNvSpPr/>
          <p:nvPr/>
        </p:nvSpPr>
        <p:spPr>
          <a:xfrm>
            <a:off x="11018520" y="987552"/>
            <a:ext cx="603504" cy="365760"/>
          </a:xfrm>
          <a:prstGeom prst="rect">
            <a:avLst/>
          </a:prstGeom>
          <a:solidFill>
            <a:srgbClr val="F2F4F7"/>
          </a:solidFill>
          <a:ln w="9525">
            <a:solidFill>
              <a:srgbClr val="CDD5DF"/>
            </a:solidFill>
            <a:prstDash val="solid"/>
          </a:ln>
        </p:spPr>
      </p:sp>
      <p:sp>
        <p:nvSpPr>
          <p:cNvPr id="13" name="tracker-label-251"/>
          <p:cNvSpPr txBox="1"/>
          <p:nvPr/>
        </p:nvSpPr>
        <p:spPr>
          <a:xfrm>
            <a:off x="11018520" y="987552"/>
            <a:ext cx="603504" cy="365760"/>
          </a:xfrm>
          <a:prstGeom prst="rect">
            <a:avLst/>
          </a:prstGeom>
          <a:noFill/>
          <a:ln/>
        </p:spPr>
        <p:txBody>
          <a:bodyPr wrap="square" lIns="0" tIns="0" rIns="0" bIns="0" rtlCol="0" anchor="ctr"/>
          <a:lstStyle/>
          <a:p>
            <a:pPr algn="ctr" indent="0" marL="0">
              <a:buNone/>
            </a:pPr>
            <a:r>
              <a:rPr lang="en-US" sz="900" b="1" dirty="0">
                <a:solidFill>
                  <a:srgbClr val="0E2F56"/>
                </a:solidFill>
              </a:rPr>
              <a:t>5</a:t>
            </a:r>
            <a:endParaRPr lang="en-US" sz="900" dirty="0"/>
          </a:p>
          <a:p>
            <a:pPr algn="ctr" indent="0" marL="0">
              <a:buNone/>
            </a:pPr>
            <a:r>
              <a:rPr lang="en-US" sz="650" dirty="0">
                <a:solidFill>
                  <a:srgbClr val="0E2F56"/>
                </a:solidFill>
              </a:rPr>
              <a:t>Pembayaran</a:t>
            </a:r>
            <a:endParaRPr lang="en-US" sz="900" dirty="0"/>
          </a:p>
        </p:txBody>
      </p:sp>
      <p:sp>
        <p:nvSpPr>
          <p:cNvPr id="14" name="node-approve-252"/>
          <p:cNvSpPr/>
          <p:nvPr/>
        </p:nvSpPr>
        <p:spPr>
          <a:xfrm>
            <a:off x="548640" y="1874520"/>
            <a:ext cx="1737360" cy="822960"/>
          </a:xfrm>
          <a:prstGeom prst="rect">
            <a:avLst/>
          </a:prstGeom>
          <a:solidFill>
            <a:srgbClr val="E4F3EB"/>
          </a:solidFill>
          <a:ln w="15875">
            <a:solidFill>
              <a:srgbClr val="1E7B4F"/>
            </a:solidFill>
            <a:prstDash val="solid"/>
          </a:ln>
        </p:spPr>
      </p:sp>
      <p:sp>
        <p:nvSpPr>
          <p:cNvPr id="15" name="node-text-253"/>
          <p:cNvSpPr txBox="1"/>
          <p:nvPr/>
        </p:nvSpPr>
        <p:spPr>
          <a:xfrm>
            <a:off x="603504" y="1874520"/>
            <a:ext cx="1627632" cy="822960"/>
          </a:xfrm>
          <a:prstGeom prst="rect">
            <a:avLst/>
          </a:prstGeom>
          <a:noFill/>
          <a:ln/>
        </p:spPr>
        <p:txBody>
          <a:bodyPr wrap="square" lIns="0" tIns="0" rIns="0" bIns="0" rtlCol="0" anchor="ctr"/>
          <a:lstStyle/>
          <a:p>
            <a:pPr algn="ctr" indent="0" marL="0">
              <a:buNone/>
            </a:pPr>
            <a:r>
              <a:rPr lang="en-US" sz="950" dirty="0">
                <a:solidFill>
                  <a:srgbClr val="1F2D3D"/>
                </a:solidFill>
              </a:rPr>
              <a:t>Pelaksanaan disetujui TL Pengadaan (Terkontrak)</a:t>
            </a:r>
            <a:endParaRPr lang="en-US" sz="950" dirty="0"/>
          </a:p>
        </p:txBody>
      </p:sp>
      <p:sp>
        <p:nvSpPr>
          <p:cNvPr id="16" name="node-process-254"/>
          <p:cNvSpPr/>
          <p:nvPr/>
        </p:nvSpPr>
        <p:spPr>
          <a:xfrm>
            <a:off x="2606040" y="1874520"/>
            <a:ext cx="1737360" cy="822960"/>
          </a:xfrm>
          <a:prstGeom prst="rect">
            <a:avLst/>
          </a:prstGeom>
          <a:solidFill>
            <a:srgbClr val="E7F0FA"/>
          </a:solidFill>
          <a:ln w="15875">
            <a:solidFill>
              <a:srgbClr val="1F6FB2"/>
            </a:solidFill>
            <a:prstDash val="solid"/>
          </a:ln>
        </p:spPr>
      </p:sp>
      <p:sp>
        <p:nvSpPr>
          <p:cNvPr id="17" name="node-text-255"/>
          <p:cNvSpPr txBox="1"/>
          <p:nvPr/>
        </p:nvSpPr>
        <p:spPr>
          <a:xfrm>
            <a:off x="2660904" y="1874520"/>
            <a:ext cx="1627632" cy="822960"/>
          </a:xfrm>
          <a:prstGeom prst="rect">
            <a:avLst/>
          </a:prstGeom>
          <a:noFill/>
          <a:ln/>
        </p:spPr>
        <p:txBody>
          <a:bodyPr wrap="square" lIns="0" tIns="0" rIns="0" bIns="0" rtlCol="0" anchor="ctr"/>
          <a:lstStyle/>
          <a:p>
            <a:pPr algn="ctr" indent="0" marL="0">
              <a:buNone/>
            </a:pPr>
            <a:r>
              <a:rPr lang="en-US" sz="950" dirty="0">
                <a:solidFill>
                  <a:srgbClr val="1F2D3D"/>
                </a:solidFill>
              </a:rPr>
              <a:t>Masuk menu Keuangan: antrean Menunggu Pembayaran, notifikasi</a:t>
            </a:r>
            <a:endParaRPr lang="en-US" sz="950" dirty="0"/>
          </a:p>
        </p:txBody>
      </p:sp>
      <p:sp>
        <p:nvSpPr>
          <p:cNvPr id="18" name="node-process-256"/>
          <p:cNvSpPr/>
          <p:nvPr/>
        </p:nvSpPr>
        <p:spPr>
          <a:xfrm>
            <a:off x="4663440" y="1874520"/>
            <a:ext cx="1737360" cy="822960"/>
          </a:xfrm>
          <a:prstGeom prst="rect">
            <a:avLst/>
          </a:prstGeom>
          <a:solidFill>
            <a:srgbClr val="E7F0FA"/>
          </a:solidFill>
          <a:ln w="15875">
            <a:solidFill>
              <a:srgbClr val="1F6FB2"/>
            </a:solidFill>
            <a:prstDash val="solid"/>
          </a:ln>
        </p:spPr>
      </p:sp>
      <p:sp>
        <p:nvSpPr>
          <p:cNvPr id="19" name="node-text-257"/>
          <p:cNvSpPr txBox="1"/>
          <p:nvPr/>
        </p:nvSpPr>
        <p:spPr>
          <a:xfrm>
            <a:off x="4718304" y="1874520"/>
            <a:ext cx="1627632" cy="822960"/>
          </a:xfrm>
          <a:prstGeom prst="rect">
            <a:avLst/>
          </a:prstGeom>
          <a:noFill/>
          <a:ln/>
        </p:spPr>
        <p:txBody>
          <a:bodyPr wrap="square" lIns="0" tIns="0" rIns="0" bIns="0" rtlCol="0" anchor="ctr"/>
          <a:lstStyle/>
          <a:p>
            <a:pPr algn="ctr" indent="0" marL="0">
              <a:buNone/>
            </a:pPr>
            <a:r>
              <a:rPr lang="en-US" sz="950" dirty="0">
                <a:solidFill>
                  <a:srgbClr val="1F2D3D"/>
                </a:solidFill>
              </a:rPr>
              <a:t>Tab Penyerahan: checklist dari pasal kontrak</a:t>
            </a:r>
            <a:endParaRPr lang="en-US" sz="950" dirty="0"/>
          </a:p>
        </p:txBody>
      </p:sp>
      <p:sp>
        <p:nvSpPr>
          <p:cNvPr id="20" name="node-process-258"/>
          <p:cNvSpPr/>
          <p:nvPr/>
        </p:nvSpPr>
        <p:spPr>
          <a:xfrm>
            <a:off x="6720840" y="1874520"/>
            <a:ext cx="1737360" cy="822960"/>
          </a:xfrm>
          <a:prstGeom prst="rect">
            <a:avLst/>
          </a:prstGeom>
          <a:solidFill>
            <a:srgbClr val="E7F0FA"/>
          </a:solidFill>
          <a:ln w="15875">
            <a:solidFill>
              <a:srgbClr val="1F6FB2"/>
            </a:solidFill>
            <a:prstDash val="solid"/>
          </a:ln>
        </p:spPr>
      </p:sp>
      <p:sp>
        <p:nvSpPr>
          <p:cNvPr id="21" name="node-text-259"/>
          <p:cNvSpPr txBox="1"/>
          <p:nvPr/>
        </p:nvSpPr>
        <p:spPr>
          <a:xfrm>
            <a:off x="6775704" y="1874520"/>
            <a:ext cx="1627632" cy="822960"/>
          </a:xfrm>
          <a:prstGeom prst="rect">
            <a:avLst/>
          </a:prstGeom>
          <a:noFill/>
          <a:ln/>
        </p:spPr>
        <p:txBody>
          <a:bodyPr wrap="square" lIns="0" tIns="0" rIns="0" bIns="0" rtlCol="0" anchor="ctr"/>
          <a:lstStyle/>
          <a:p>
            <a:pPr algn="ctr" indent="0" marL="0">
              <a:buNone/>
            </a:pPr>
            <a:r>
              <a:rPr lang="en-US" sz="950" dirty="0">
                <a:solidFill>
                  <a:srgbClr val="1F2D3D"/>
                </a:solidFill>
              </a:rPr>
              <a:t>Unggah berkas tiap item (PDF / JPG / PNG)</a:t>
            </a:r>
            <a:endParaRPr lang="en-US" sz="950" dirty="0"/>
          </a:p>
        </p:txBody>
      </p:sp>
      <p:sp>
        <p:nvSpPr>
          <p:cNvPr id="22" name="decision-260"/>
          <p:cNvSpPr/>
          <p:nvPr/>
        </p:nvSpPr>
        <p:spPr>
          <a:xfrm>
            <a:off x="8732520" y="1851660"/>
            <a:ext cx="1280160" cy="868680"/>
          </a:xfrm>
          <a:prstGeom prst="diamond">
            <a:avLst/>
          </a:prstGeom>
          <a:solidFill>
            <a:srgbClr val="FFFFFF"/>
          </a:solidFill>
          <a:ln w="19050">
            <a:solidFill>
              <a:srgbClr val="0E2F56"/>
            </a:solidFill>
            <a:prstDash val="solid"/>
          </a:ln>
        </p:spPr>
      </p:sp>
      <p:sp>
        <p:nvSpPr>
          <p:cNvPr id="23" name="decision-text-261"/>
          <p:cNvSpPr txBox="1"/>
          <p:nvPr/>
        </p:nvSpPr>
        <p:spPr>
          <a:xfrm>
            <a:off x="8869680" y="1851660"/>
            <a:ext cx="1005840" cy="868680"/>
          </a:xfrm>
          <a:prstGeom prst="rect">
            <a:avLst/>
          </a:prstGeom>
          <a:noFill/>
          <a:ln/>
        </p:spPr>
        <p:txBody>
          <a:bodyPr wrap="square" lIns="0" tIns="0" rIns="0" bIns="0" rtlCol="0" anchor="ctr"/>
          <a:lstStyle/>
          <a:p>
            <a:pPr algn="ctr" indent="0" marL="0">
              <a:buNone/>
            </a:pPr>
            <a:r>
              <a:rPr lang="en-US" sz="950" b="1" dirty="0">
                <a:solidFill>
                  <a:srgbClr val="0E2F56"/>
                </a:solidFill>
              </a:rPr>
              <a:t>Berkas ada?</a:t>
            </a:r>
            <a:endParaRPr lang="en-US" sz="950" dirty="0"/>
          </a:p>
        </p:txBody>
      </p:sp>
      <p:sp>
        <p:nvSpPr>
          <p:cNvPr id="24" name="node-approve-262"/>
          <p:cNvSpPr/>
          <p:nvPr/>
        </p:nvSpPr>
        <p:spPr>
          <a:xfrm>
            <a:off x="10332720" y="1874520"/>
            <a:ext cx="1310335" cy="822960"/>
          </a:xfrm>
          <a:prstGeom prst="rect">
            <a:avLst/>
          </a:prstGeom>
          <a:solidFill>
            <a:srgbClr val="E4F3EB"/>
          </a:solidFill>
          <a:ln w="15875">
            <a:solidFill>
              <a:srgbClr val="1E7B4F"/>
            </a:solidFill>
            <a:prstDash val="solid"/>
          </a:ln>
        </p:spPr>
      </p:sp>
      <p:sp>
        <p:nvSpPr>
          <p:cNvPr id="25" name="node-text-263"/>
          <p:cNvSpPr txBox="1"/>
          <p:nvPr/>
        </p:nvSpPr>
        <p:spPr>
          <a:xfrm>
            <a:off x="10387584" y="1874520"/>
            <a:ext cx="1200607" cy="822960"/>
          </a:xfrm>
          <a:prstGeom prst="rect">
            <a:avLst/>
          </a:prstGeom>
          <a:noFill/>
          <a:ln/>
        </p:spPr>
        <p:txBody>
          <a:bodyPr wrap="square" lIns="0" tIns="0" rIns="0" bIns="0" rtlCol="0" anchor="ctr"/>
          <a:lstStyle/>
          <a:p>
            <a:pPr algn="ctr" indent="0" marL="0">
              <a:buNone/>
            </a:pPr>
            <a:r>
              <a:rPr lang="en-US" sz="950" dirty="0">
                <a:solidFill>
                  <a:srgbClr val="1F2D3D"/>
                </a:solidFill>
              </a:rPr>
              <a:t>Item dapat dicentang</a:t>
            </a:r>
            <a:endParaRPr lang="en-US" sz="950" dirty="0"/>
          </a:p>
        </p:txBody>
      </p:sp>
      <p:sp>
        <p:nvSpPr>
          <p:cNvPr id="26" name="connector-264"/>
          <p:cNvSpPr/>
          <p:nvPr/>
        </p:nvSpPr>
        <p:spPr>
          <a:xfrm>
            <a:off x="2286000" y="2286000"/>
            <a:ext cx="320040" cy="0"/>
          </a:xfrm>
          <a:prstGeom prst="line">
            <a:avLst/>
          </a:prstGeom>
          <a:noFill/>
          <a:ln w="19050">
            <a:solidFill>
              <a:srgbClr val="1F6FB2"/>
            </a:solidFill>
            <a:prstDash val="solid"/>
            <a:tailEnd type="triangle"/>
          </a:ln>
        </p:spPr>
      </p:sp>
      <p:sp>
        <p:nvSpPr>
          <p:cNvPr id="27" name="connector-265"/>
          <p:cNvSpPr/>
          <p:nvPr/>
        </p:nvSpPr>
        <p:spPr>
          <a:xfrm>
            <a:off x="4343400" y="2286000"/>
            <a:ext cx="320040" cy="0"/>
          </a:xfrm>
          <a:prstGeom prst="line">
            <a:avLst/>
          </a:prstGeom>
          <a:noFill/>
          <a:ln w="19050">
            <a:solidFill>
              <a:srgbClr val="1F6FB2"/>
            </a:solidFill>
            <a:prstDash val="solid"/>
            <a:tailEnd type="triangle"/>
          </a:ln>
        </p:spPr>
      </p:sp>
      <p:sp>
        <p:nvSpPr>
          <p:cNvPr id="28" name="connector-266"/>
          <p:cNvSpPr/>
          <p:nvPr/>
        </p:nvSpPr>
        <p:spPr>
          <a:xfrm>
            <a:off x="6400800" y="2286000"/>
            <a:ext cx="320040" cy="0"/>
          </a:xfrm>
          <a:prstGeom prst="line">
            <a:avLst/>
          </a:prstGeom>
          <a:noFill/>
          <a:ln w="19050">
            <a:solidFill>
              <a:srgbClr val="1F6FB2"/>
            </a:solidFill>
            <a:prstDash val="solid"/>
            <a:tailEnd type="triangle"/>
          </a:ln>
        </p:spPr>
      </p:sp>
      <p:sp>
        <p:nvSpPr>
          <p:cNvPr id="29" name="connector-267"/>
          <p:cNvSpPr/>
          <p:nvPr/>
        </p:nvSpPr>
        <p:spPr>
          <a:xfrm>
            <a:off x="8458200" y="2286000"/>
            <a:ext cx="274320" cy="0"/>
          </a:xfrm>
          <a:prstGeom prst="line">
            <a:avLst/>
          </a:prstGeom>
          <a:noFill/>
          <a:ln w="19050">
            <a:solidFill>
              <a:srgbClr val="1F6FB2"/>
            </a:solidFill>
            <a:prstDash val="solid"/>
            <a:tailEnd type="triangle"/>
          </a:ln>
        </p:spPr>
      </p:sp>
      <p:sp>
        <p:nvSpPr>
          <p:cNvPr id="30" name="connector-268"/>
          <p:cNvSpPr/>
          <p:nvPr/>
        </p:nvSpPr>
        <p:spPr>
          <a:xfrm>
            <a:off x="10012680" y="2286000"/>
            <a:ext cx="320040" cy="0"/>
          </a:xfrm>
          <a:prstGeom prst="line">
            <a:avLst/>
          </a:prstGeom>
          <a:noFill/>
          <a:ln w="19050">
            <a:solidFill>
              <a:srgbClr val="1E7B4F"/>
            </a:solidFill>
            <a:prstDash val="solid"/>
            <a:tailEnd type="triangle"/>
          </a:ln>
        </p:spPr>
      </p:sp>
      <p:sp>
        <p:nvSpPr>
          <p:cNvPr id="31" name="flow-label-269"/>
          <p:cNvSpPr txBox="1"/>
          <p:nvPr/>
        </p:nvSpPr>
        <p:spPr>
          <a:xfrm>
            <a:off x="10012680" y="2039112"/>
            <a:ext cx="365760" cy="219456"/>
          </a:xfrm>
          <a:prstGeom prst="rect">
            <a:avLst/>
          </a:prstGeom>
          <a:noFill/>
          <a:ln/>
        </p:spPr>
        <p:txBody>
          <a:bodyPr wrap="square" lIns="0" tIns="0" rIns="0" bIns="0" rtlCol="0" anchor="ctr"/>
          <a:lstStyle/>
          <a:p>
            <a:pPr algn="l" indent="0" marL="0">
              <a:buNone/>
            </a:pPr>
            <a:r>
              <a:rPr lang="en-US" sz="850" b="1" dirty="0">
                <a:solidFill>
                  <a:srgbClr val="1E7B4F"/>
                </a:solidFill>
              </a:rPr>
              <a:t>Ya</a:t>
            </a:r>
            <a:endParaRPr lang="en-US" sz="850" dirty="0"/>
          </a:p>
        </p:txBody>
      </p:sp>
      <p:sp>
        <p:nvSpPr>
          <p:cNvPr id="32" name="node-revise-270"/>
          <p:cNvSpPr/>
          <p:nvPr/>
        </p:nvSpPr>
        <p:spPr>
          <a:xfrm>
            <a:off x="8412480" y="3063240"/>
            <a:ext cx="1920240" cy="566928"/>
          </a:xfrm>
          <a:prstGeom prst="rect">
            <a:avLst/>
          </a:prstGeom>
          <a:solidFill>
            <a:srgbClr val="FCEFE1"/>
          </a:solidFill>
          <a:ln w="15875">
            <a:solidFill>
              <a:srgbClr val="D9822B"/>
            </a:solidFill>
            <a:prstDash val="solid"/>
          </a:ln>
        </p:spPr>
      </p:sp>
      <p:sp>
        <p:nvSpPr>
          <p:cNvPr id="33" name="node-text-271"/>
          <p:cNvSpPr txBox="1"/>
          <p:nvPr/>
        </p:nvSpPr>
        <p:spPr>
          <a:xfrm>
            <a:off x="8467344" y="3063240"/>
            <a:ext cx="1810512" cy="566928"/>
          </a:xfrm>
          <a:prstGeom prst="rect">
            <a:avLst/>
          </a:prstGeom>
          <a:noFill/>
          <a:ln/>
        </p:spPr>
        <p:txBody>
          <a:bodyPr wrap="square" lIns="0" tIns="0" rIns="0" bIns="0" rtlCol="0" anchor="ctr"/>
          <a:lstStyle/>
          <a:p>
            <a:pPr algn="ctr" indent="0" marL="0">
              <a:buNone/>
            </a:pPr>
            <a:r>
              <a:rPr lang="en-US" sz="850" dirty="0">
                <a:solidFill>
                  <a:srgbClr val="1F2D3D"/>
                </a:solidFill>
              </a:rPr>
              <a:t>Belum dapat dicentang; hapus semua berkas membatalkan centang</a:t>
            </a:r>
            <a:endParaRPr lang="en-US" sz="850" dirty="0"/>
          </a:p>
        </p:txBody>
      </p:sp>
      <p:sp>
        <p:nvSpPr>
          <p:cNvPr id="34" name="connector-272"/>
          <p:cNvSpPr/>
          <p:nvPr/>
        </p:nvSpPr>
        <p:spPr>
          <a:xfrm>
            <a:off x="9372600" y="2720340"/>
            <a:ext cx="0" cy="342900"/>
          </a:xfrm>
          <a:prstGeom prst="line">
            <a:avLst/>
          </a:prstGeom>
          <a:noFill/>
          <a:ln w="19050">
            <a:solidFill>
              <a:srgbClr val="D9822B"/>
            </a:solidFill>
            <a:prstDash val="dash"/>
            <a:tailEnd type="triangle"/>
          </a:ln>
        </p:spPr>
      </p:sp>
      <p:sp>
        <p:nvSpPr>
          <p:cNvPr id="35" name="flow-label-273"/>
          <p:cNvSpPr txBox="1"/>
          <p:nvPr/>
        </p:nvSpPr>
        <p:spPr>
          <a:xfrm>
            <a:off x="9418320" y="2770632"/>
            <a:ext cx="548640" cy="219456"/>
          </a:xfrm>
          <a:prstGeom prst="rect">
            <a:avLst/>
          </a:prstGeom>
          <a:noFill/>
          <a:ln/>
        </p:spPr>
        <p:txBody>
          <a:bodyPr wrap="square" lIns="0" tIns="0" rIns="0" bIns="0" rtlCol="0" anchor="ctr"/>
          <a:lstStyle/>
          <a:p>
            <a:pPr algn="l" indent="0" marL="0">
              <a:buNone/>
            </a:pPr>
            <a:r>
              <a:rPr lang="en-US" sz="850" b="1" dirty="0">
                <a:solidFill>
                  <a:srgbClr val="D9822B"/>
                </a:solidFill>
              </a:rPr>
              <a:t>Tidak</a:t>
            </a:r>
            <a:endParaRPr lang="en-US" sz="850" dirty="0"/>
          </a:p>
        </p:txBody>
      </p:sp>
      <p:sp>
        <p:nvSpPr>
          <p:cNvPr id="36" name="Text 34"/>
          <p:cNvSpPr txBox="1"/>
          <p:nvPr/>
        </p:nvSpPr>
        <p:spPr>
          <a:xfrm>
            <a:off x="548640" y="3886200"/>
            <a:ext cx="7132320" cy="256032"/>
          </a:xfrm>
          <a:prstGeom prst="rect">
            <a:avLst/>
          </a:prstGeom>
          <a:noFill/>
          <a:ln/>
        </p:spPr>
        <p:txBody>
          <a:bodyPr wrap="square" lIns="0" tIns="0" rIns="0" bIns="0" rtlCol="0" anchor="ctr"/>
          <a:lstStyle/>
          <a:p>
            <a:pPr indent="0" marL="0">
              <a:buNone/>
            </a:pPr>
            <a:r>
              <a:rPr lang="en-US" sz="950" b="1" spc="100" kern="0" dirty="0">
                <a:solidFill>
                  <a:srgbClr val="0E2F56"/>
                </a:solidFill>
              </a:rPr>
              <a:t>SUMBER SYARAT PENYERAHAN</a:t>
            </a:r>
            <a:endParaRPr lang="en-US" sz="950" dirty="0"/>
          </a:p>
        </p:txBody>
      </p:sp>
      <p:graphicFrame>
        <p:nvGraphicFramePr>
          <p:cNvPr id="10" name="table-274"/>
          <p:cNvGraphicFramePr>
            <a:graphicFrameLocks noGrp="1"/>
          </p:cNvGraphicFramePr>
          <p:nvPr>
            <p:extLst>
              <p:ext uri="{D42A27DB-BD31-4B8C-83A1-F6EECF244321}">
                <p14:modId xmlns:p14="http://schemas.microsoft.com/office/powerpoint/2010/main" val="1579011935"/>
              </p:ext>
            </p:extLst>
          </p:nvPr>
        </p:nvGraphicFramePr>
        <p:xfrm>
          <a:off x="548640" y="4187952"/>
          <a:ext cx="7132320" cy="914400"/>
        </p:xfrm>
        <a:graphic>
          <a:graphicData uri="http://schemas.openxmlformats.org/drawingml/2006/table">
            <a:tbl>
              <a:tblPr/>
              <a:tblGrid>
                <a:gridCol w="2926080"/>
                <a:gridCol w="4206240"/>
              </a:tblGrid>
              <a:tr h="365760">
                <a:tc>
                  <a:txBody>
                    <a:bodyPr/>
                    <a:lstStyle/>
                    <a:p>
                      <a:pPr algn="l" indent="0" marL="0">
                        <a:buNone/>
                      </a:pPr>
                      <a:r>
                        <a:rPr lang="en-US" sz="1050" b="1" dirty="0">
                          <a:solidFill>
                            <a:srgbClr val="FFFFFF"/>
                          </a:solidFill>
                        </a:rPr>
                        <a:t>Kontrak</a:t>
                      </a:r>
                      <a:endParaRPr lang="en-US" sz="10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0E2F56"/>
                    </a:solidFill>
                  </a:tcPr>
                </a:tc>
                <a:tc>
                  <a:txBody>
                    <a:bodyPr/>
                    <a:lstStyle/>
                    <a:p>
                      <a:pPr algn="l" indent="0" marL="0">
                        <a:buNone/>
                      </a:pPr>
                      <a:r>
                        <a:rPr lang="en-US" sz="1050" b="1" dirty="0">
                          <a:solidFill>
                            <a:srgbClr val="FFFFFF"/>
                          </a:solidFill>
                        </a:rPr>
                        <a:t>Tab Penyerahan</a:t>
                      </a:r>
                      <a:endParaRPr lang="en-US" sz="10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0E2F56"/>
                    </a:solidFill>
                  </a:tcPr>
                </a:tc>
              </a:tr>
              <a:tr h="365760">
                <a:tc>
                  <a:txBody>
                    <a:bodyPr/>
                    <a:lstStyle/>
                    <a:p>
                      <a:pPr indent="0" marL="0">
                        <a:buNone/>
                      </a:pPr>
                      <a:r>
                        <a:rPr lang="en-US" sz="1050" b="1" dirty="0">
                          <a:solidFill>
                            <a:srgbClr val="0E2F56"/>
                          </a:solidFill>
                        </a:rPr>
                        <a:t>SPK Barang</a:t>
                      </a:r>
                      <a:endParaRPr lang="en-US" sz="10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indent="0" marL="0">
                        <a:buNone/>
                      </a:pPr>
                      <a:r>
                        <a:rPr lang="en-US" sz="1050" dirty="0">
                          <a:solidFill>
                            <a:srgbClr val="1F2D3D"/>
                          </a:solidFill>
                        </a:rPr>
                        <a:t>Pasal 6 ayat (7) huruf a-f</a:t>
                      </a:r>
                      <a:endParaRPr lang="en-US" sz="10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r>
              <a:tr h="365760">
                <a:tc>
                  <a:txBody>
                    <a:bodyPr/>
                    <a:lstStyle/>
                    <a:p>
                      <a:pPr indent="0" marL="0">
                        <a:buNone/>
                      </a:pPr>
                      <a:r>
                        <a:rPr lang="en-US" sz="1050" b="1" dirty="0">
                          <a:solidFill>
                            <a:srgbClr val="0E2F56"/>
                          </a:solidFill>
                        </a:rPr>
                        <a:t>SPK Jasa</a:t>
                      </a:r>
                      <a:endParaRPr lang="en-US" sz="10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indent="0" marL="0">
                        <a:buNone/>
                      </a:pPr>
                      <a:r>
                        <a:rPr lang="en-US" sz="1050" dirty="0">
                          <a:solidFill>
                            <a:srgbClr val="1F2D3D"/>
                          </a:solidFill>
                        </a:rPr>
                        <a:t>Pasal 6 ayat (8) huruf a-g</a:t>
                      </a:r>
                      <a:endParaRPr lang="en-US" sz="10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r>
              <a:tr h="365760">
                <a:tc>
                  <a:txBody>
                    <a:bodyPr/>
                    <a:lstStyle/>
                    <a:p>
                      <a:pPr indent="0" marL="0">
                        <a:buNone/>
                      </a:pPr>
                      <a:r>
                        <a:rPr lang="en-US" sz="1050" b="1" dirty="0">
                          <a:solidFill>
                            <a:srgbClr val="0E2F56"/>
                          </a:solidFill>
                        </a:rPr>
                        <a:t>Surat Perjanjian (PJ)</a:t>
                      </a:r>
                      <a:endParaRPr lang="en-US" sz="10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indent="0" marL="0">
                        <a:buNone/>
                      </a:pPr>
                      <a:r>
                        <a:rPr lang="en-US" sz="1050" dirty="0">
                          <a:solidFill>
                            <a:srgbClr val="1F2D3D"/>
                          </a:solidFill>
                        </a:rPr>
                        <a:t>Pasal 5 ayat (5) huruf a-g</a:t>
                      </a:r>
                      <a:endParaRPr lang="en-US" sz="10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r>
              <a:tr h="365760">
                <a:tc>
                  <a:txBody>
                    <a:bodyPr/>
                    <a:lstStyle/>
                    <a:p>
                      <a:pPr indent="0" marL="0">
                        <a:buNone/>
                      </a:pPr>
                      <a:r>
                        <a:rPr lang="en-US" sz="1050" b="1" dirty="0">
                          <a:solidFill>
                            <a:srgbClr val="0E2F56"/>
                          </a:solidFill>
                        </a:rPr>
                        <a:t>Lampiran Surat Pesanan (SPPL)</a:t>
                      </a:r>
                      <a:endParaRPr lang="en-US" sz="10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indent="0" marL="0">
                        <a:buNone/>
                      </a:pPr>
                      <a:r>
                        <a:rPr lang="en-US" sz="1050" dirty="0">
                          <a:solidFill>
                            <a:srgbClr val="1F2D3D"/>
                          </a:solidFill>
                        </a:rPr>
                        <a:t>Bagian B (Penerimaan) butir 3-4</a:t>
                      </a:r>
                      <a:endParaRPr lang="en-US" sz="10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r>
            </a:tbl>
          </a:graphicData>
        </a:graphic>
      </p:graphicFrame>
      <p:sp>
        <p:nvSpPr>
          <p:cNvPr id="38" name="panel-275"/>
          <p:cNvSpPr/>
          <p:nvPr/>
        </p:nvSpPr>
        <p:spPr>
          <a:xfrm>
            <a:off x="7909560" y="3886200"/>
            <a:ext cx="3733495" cy="2377440"/>
          </a:xfrm>
          <a:prstGeom prst="rect">
            <a:avLst/>
          </a:prstGeom>
          <a:solidFill>
            <a:srgbClr val="F2F4F7"/>
          </a:solidFill>
          <a:ln w="6350">
            <a:solidFill>
              <a:srgbClr val="CDD5DF"/>
            </a:solidFill>
            <a:prstDash val="solid"/>
          </a:ln>
        </p:spPr>
      </p:sp>
      <p:sp>
        <p:nvSpPr>
          <p:cNvPr id="39" name="panel-title-276"/>
          <p:cNvSpPr txBox="1"/>
          <p:nvPr/>
        </p:nvSpPr>
        <p:spPr>
          <a:xfrm>
            <a:off x="8074152" y="3995928"/>
            <a:ext cx="3404311" cy="256032"/>
          </a:xfrm>
          <a:prstGeom prst="rect">
            <a:avLst/>
          </a:prstGeom>
          <a:noFill/>
          <a:ln/>
        </p:spPr>
        <p:txBody>
          <a:bodyPr wrap="square" lIns="0" tIns="0" rIns="0" bIns="0" rtlCol="0" anchor="ctr"/>
          <a:lstStyle/>
          <a:p>
            <a:pPr indent="0" marL="0">
              <a:buNone/>
            </a:pPr>
            <a:r>
              <a:rPr lang="en-US" sz="950" b="1" spc="100" kern="0" dirty="0">
                <a:solidFill>
                  <a:srgbClr val="0E2F56"/>
                </a:solidFill>
              </a:rPr>
              <a:t>ATURAN</a:t>
            </a:r>
            <a:endParaRPr lang="en-US" sz="950" dirty="0"/>
          </a:p>
        </p:txBody>
      </p:sp>
      <p:sp>
        <p:nvSpPr>
          <p:cNvPr id="40" name="panel-body-277"/>
          <p:cNvSpPr txBox="1"/>
          <p:nvPr/>
        </p:nvSpPr>
        <p:spPr>
          <a:xfrm>
            <a:off x="8074152" y="4297680"/>
            <a:ext cx="3404311" cy="1874520"/>
          </a:xfrm>
          <a:prstGeom prst="rect">
            <a:avLst/>
          </a:prstGeom>
          <a:noFill/>
          <a:ln/>
        </p:spPr>
        <p:txBody>
          <a:bodyPr wrap="square" lIns="0" tIns="0" rIns="0" bIns="0" rtlCol="0" anchor="t"/>
          <a:lstStyle/>
          <a:p>
            <a:pPr marL="152400" indent="-152400">
              <a:spcAft>
                <a:spcPts val="500"/>
              </a:spcAft>
              <a:buSzPct val="100000"/>
              <a:buChar char="•"/>
            </a:pPr>
            <a:r>
              <a:rPr lang="en-US" sz="1000" dirty="0">
                <a:solidFill>
                  <a:srgbClr val="1F2D3D"/>
                </a:solidFill>
              </a:rPr>
              <a:t>Syarat muncul setelah Format Kontrak (dan Kategori untuk SPK) diisi.</a:t>
            </a:r>
            <a:endParaRPr lang="en-US" sz="1000" dirty="0"/>
          </a:p>
          <a:p>
            <a:pPr marL="152400" indent="-152400">
              <a:spcAft>
                <a:spcPts val="500"/>
              </a:spcAft>
              <a:buSzPct val="100000"/>
              <a:buChar char="•"/>
            </a:pPr>
            <a:r>
              <a:rPr lang="en-US" sz="1000" dirty="0">
                <a:solidFill>
                  <a:srgbClr val="1F2D3D"/>
                </a:solidFill>
              </a:rPr>
              <a:t>Item "(apabila ada)" atau "(jika ada)" bersifat opsional.</a:t>
            </a:r>
            <a:endParaRPr lang="en-US" sz="1000" dirty="0"/>
          </a:p>
          <a:p>
            <a:pPr marL="152400" indent="-152400">
              <a:spcAft>
                <a:spcPts val="500"/>
              </a:spcAft>
              <a:buSzPct val="100000"/>
              <a:buChar char="•"/>
            </a:pPr>
            <a:r>
              <a:rPr lang="en-US" sz="1000" dirty="0">
                <a:solidFill>
                  <a:srgbClr val="1F2D3D"/>
                </a:solidFill>
              </a:rPr>
              <a:t>Bila kontrak belum dibuat atau tidak terbaca: template standar Data Master.</a:t>
            </a:r>
            <a:endParaRPr lang="en-US" sz="1000" dirty="0"/>
          </a:p>
          <a:p>
            <a:pPr marL="152400" indent="-152400">
              <a:spcAft>
                <a:spcPts val="500"/>
              </a:spcAft>
              <a:buSzPct val="100000"/>
              <a:buChar char="•"/>
            </a:pPr>
            <a:r>
              <a:rPr lang="en-US" sz="1000" dirty="0">
                <a:solidFill>
                  <a:srgbClr val="1F2D3D"/>
                </a:solidFill>
              </a:rPr>
              <a:t>Daftar mengikuti isi kontrak terbaru, dibekukan setelah pembayaran dicatat.</a:t>
            </a:r>
            <a:endParaRPr lang="en-US" sz="1000" dirty="0"/>
          </a:p>
        </p:txBody>
      </p:sp>
      <p:sp>
        <p:nvSpPr>
          <p:cNvPr id="25" name="Slide Number Placeholder 0"/>
          <p:cNvSpPr>
            <a:spLocks noGrp="1"/>
          </p:cNvSpPr>
          <p:nvPr>
            <p:ph type="sldNum" sz="quarter" idx="4294967295"/>
          </p:nvPr>
        </p:nvSpPr>
        <p:spPr>
          <a:xfrm>
            <a:off x="11094415" y="646480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548640" y="896112"/>
            <a:ext cx="7680960" cy="502920"/>
          </a:xfrm>
          <a:prstGeom prst="rect">
            <a:avLst/>
          </a:prstGeom>
          <a:noFill/>
          <a:ln/>
        </p:spPr>
        <p:txBody>
          <a:bodyPr wrap="square" lIns="0" tIns="0" rIns="0" bIns="0" rtlCol="0" anchor="ctr"/>
          <a:lstStyle/>
          <a:p>
            <a:pPr algn="l" indent="0" marL="0">
              <a:buNone/>
            </a:pPr>
            <a:r>
              <a:rPr lang="en-US" sz="2400" b="1" dirty="0">
                <a:solidFill>
                  <a:srgbClr val="0E2F56"/>
                </a:solidFill>
              </a:rPr>
              <a:t>Tahap 5  Pembayaran</a:t>
            </a:r>
            <a:endParaRPr lang="en-US" sz="2400" dirty="0"/>
          </a:p>
        </p:txBody>
      </p:sp>
      <p:sp>
        <p:nvSpPr>
          <p:cNvPr id="3" name="Text 2"/>
          <p:cNvSpPr/>
          <p:nvPr>
            <p:ph idx="103" type="body" hasCustomPrompt="1"/>
          </p:nvPr>
        </p:nvSpPr>
        <p:spPr>
          <a:xfrm>
            <a:off x="548640" y="1371600"/>
            <a:ext cx="7680960" cy="292608"/>
          </a:xfrm>
          <a:prstGeom prst="rect">
            <a:avLst/>
          </a:prstGeom>
          <a:noFill/>
          <a:ln/>
        </p:spPr>
        <p:txBody>
          <a:bodyPr wrap="square" lIns="0" tIns="0" rIns="0" bIns="0" rtlCol="0" anchor="t"/>
          <a:lstStyle/>
          <a:p>
            <a:pPr algn="l" indent="0" marL="0">
              <a:buNone/>
            </a:pPr>
            <a:r>
              <a:rPr lang="en-US" sz="1200" dirty="0">
                <a:solidFill>
                  <a:srgbClr val="5B6B7C"/>
                </a:solidFill>
              </a:rPr>
              <a:t>Pengadaan ditutup oleh Keuangan setelah semua item wajib Penyerahan dan Pembayaran selesai.</a:t>
            </a:r>
            <a:endParaRPr lang="en-US" sz="1200" dirty="0"/>
          </a:p>
        </p:txBody>
      </p:sp>
      <p:sp>
        <p:nvSpPr>
          <p:cNvPr id="4" name="tracker-278"/>
          <p:cNvSpPr/>
          <p:nvPr/>
        </p:nvSpPr>
        <p:spPr>
          <a:xfrm>
            <a:off x="8458200" y="987552"/>
            <a:ext cx="603504" cy="365760"/>
          </a:xfrm>
          <a:prstGeom prst="rect">
            <a:avLst/>
          </a:prstGeom>
          <a:solidFill>
            <a:srgbClr val="E7F0FA"/>
          </a:solidFill>
          <a:ln w="9525">
            <a:solidFill>
              <a:srgbClr val="CDD5DF"/>
            </a:solidFill>
            <a:prstDash val="solid"/>
          </a:ln>
        </p:spPr>
      </p:sp>
      <p:sp>
        <p:nvSpPr>
          <p:cNvPr id="5" name="tracker-label-279"/>
          <p:cNvSpPr txBox="1"/>
          <p:nvPr/>
        </p:nvSpPr>
        <p:spPr>
          <a:xfrm>
            <a:off x="8458200" y="987552"/>
            <a:ext cx="603504" cy="365760"/>
          </a:xfrm>
          <a:prstGeom prst="rect">
            <a:avLst/>
          </a:prstGeom>
          <a:noFill/>
          <a:ln/>
        </p:spPr>
        <p:txBody>
          <a:bodyPr wrap="square" lIns="0" tIns="0" rIns="0" bIns="0" rtlCol="0" anchor="ctr"/>
          <a:lstStyle/>
          <a:p>
            <a:pPr algn="ctr" indent="0" marL="0">
              <a:buNone/>
            </a:pPr>
            <a:r>
              <a:rPr lang="en-US" sz="900" b="1" dirty="0">
                <a:solidFill>
                  <a:srgbClr val="0E2F56"/>
                </a:solidFill>
              </a:rPr>
              <a:t>1</a:t>
            </a:r>
            <a:endParaRPr lang="en-US" sz="900" dirty="0"/>
          </a:p>
          <a:p>
            <a:pPr algn="ctr" indent="0" marL="0">
              <a:buNone/>
            </a:pPr>
            <a:r>
              <a:rPr lang="en-US" sz="650" dirty="0">
                <a:solidFill>
                  <a:srgbClr val="0E2F56"/>
                </a:solidFill>
              </a:rPr>
              <a:t>Usulan</a:t>
            </a:r>
            <a:endParaRPr lang="en-US" sz="900" dirty="0"/>
          </a:p>
        </p:txBody>
      </p:sp>
      <p:sp>
        <p:nvSpPr>
          <p:cNvPr id="6" name="tracker-280"/>
          <p:cNvSpPr/>
          <p:nvPr/>
        </p:nvSpPr>
        <p:spPr>
          <a:xfrm>
            <a:off x="9098280" y="987552"/>
            <a:ext cx="603504" cy="365760"/>
          </a:xfrm>
          <a:prstGeom prst="rect">
            <a:avLst/>
          </a:prstGeom>
          <a:solidFill>
            <a:srgbClr val="E7F0FA"/>
          </a:solidFill>
          <a:ln w="9525">
            <a:solidFill>
              <a:srgbClr val="CDD5DF"/>
            </a:solidFill>
            <a:prstDash val="solid"/>
          </a:ln>
        </p:spPr>
      </p:sp>
      <p:sp>
        <p:nvSpPr>
          <p:cNvPr id="7" name="tracker-label-281"/>
          <p:cNvSpPr txBox="1"/>
          <p:nvPr/>
        </p:nvSpPr>
        <p:spPr>
          <a:xfrm>
            <a:off x="9098280" y="987552"/>
            <a:ext cx="603504" cy="365760"/>
          </a:xfrm>
          <a:prstGeom prst="rect">
            <a:avLst/>
          </a:prstGeom>
          <a:noFill/>
          <a:ln/>
        </p:spPr>
        <p:txBody>
          <a:bodyPr wrap="square" lIns="0" tIns="0" rIns="0" bIns="0" rtlCol="0" anchor="ctr"/>
          <a:lstStyle/>
          <a:p>
            <a:pPr algn="ctr" indent="0" marL="0">
              <a:buNone/>
            </a:pPr>
            <a:r>
              <a:rPr lang="en-US" sz="900" b="1" dirty="0">
                <a:solidFill>
                  <a:srgbClr val="0E2F56"/>
                </a:solidFill>
              </a:rPr>
              <a:t>2</a:t>
            </a:r>
            <a:endParaRPr lang="en-US" sz="900" dirty="0"/>
          </a:p>
          <a:p>
            <a:pPr algn="ctr" indent="0" marL="0">
              <a:buNone/>
            </a:pPr>
            <a:r>
              <a:rPr lang="en-US" sz="650" dirty="0">
                <a:solidFill>
                  <a:srgbClr val="0E2F56"/>
                </a:solidFill>
              </a:rPr>
              <a:t>Perencanaan</a:t>
            </a:r>
            <a:endParaRPr lang="en-US" sz="900" dirty="0"/>
          </a:p>
        </p:txBody>
      </p:sp>
      <p:sp>
        <p:nvSpPr>
          <p:cNvPr id="8" name="tracker-282"/>
          <p:cNvSpPr/>
          <p:nvPr/>
        </p:nvSpPr>
        <p:spPr>
          <a:xfrm>
            <a:off x="9738360" y="987552"/>
            <a:ext cx="603504" cy="365760"/>
          </a:xfrm>
          <a:prstGeom prst="rect">
            <a:avLst/>
          </a:prstGeom>
          <a:solidFill>
            <a:srgbClr val="E7F0FA"/>
          </a:solidFill>
          <a:ln w="9525">
            <a:solidFill>
              <a:srgbClr val="CDD5DF"/>
            </a:solidFill>
            <a:prstDash val="solid"/>
          </a:ln>
        </p:spPr>
      </p:sp>
      <p:sp>
        <p:nvSpPr>
          <p:cNvPr id="9" name="tracker-label-283"/>
          <p:cNvSpPr txBox="1"/>
          <p:nvPr/>
        </p:nvSpPr>
        <p:spPr>
          <a:xfrm>
            <a:off x="9738360" y="987552"/>
            <a:ext cx="603504" cy="365760"/>
          </a:xfrm>
          <a:prstGeom prst="rect">
            <a:avLst/>
          </a:prstGeom>
          <a:noFill/>
          <a:ln/>
        </p:spPr>
        <p:txBody>
          <a:bodyPr wrap="square" lIns="0" tIns="0" rIns="0" bIns="0" rtlCol="0" anchor="ctr"/>
          <a:lstStyle/>
          <a:p>
            <a:pPr algn="ctr" indent="0" marL="0">
              <a:buNone/>
            </a:pPr>
            <a:r>
              <a:rPr lang="en-US" sz="900" b="1" dirty="0">
                <a:solidFill>
                  <a:srgbClr val="0E2F56"/>
                </a:solidFill>
              </a:rPr>
              <a:t>3</a:t>
            </a:r>
            <a:endParaRPr lang="en-US" sz="900" dirty="0"/>
          </a:p>
          <a:p>
            <a:pPr algn="ctr" indent="0" marL="0">
              <a:buNone/>
            </a:pPr>
            <a:r>
              <a:rPr lang="en-US" sz="650" dirty="0">
                <a:solidFill>
                  <a:srgbClr val="0E2F56"/>
                </a:solidFill>
              </a:rPr>
              <a:t>Pelaksanaan</a:t>
            </a:r>
            <a:endParaRPr lang="en-US" sz="900" dirty="0"/>
          </a:p>
        </p:txBody>
      </p:sp>
      <p:sp>
        <p:nvSpPr>
          <p:cNvPr id="10" name="tracker-284"/>
          <p:cNvSpPr/>
          <p:nvPr/>
        </p:nvSpPr>
        <p:spPr>
          <a:xfrm>
            <a:off x="10378440" y="987552"/>
            <a:ext cx="603504" cy="365760"/>
          </a:xfrm>
          <a:prstGeom prst="rect">
            <a:avLst/>
          </a:prstGeom>
          <a:solidFill>
            <a:srgbClr val="E7F0FA"/>
          </a:solidFill>
          <a:ln w="9525">
            <a:solidFill>
              <a:srgbClr val="CDD5DF"/>
            </a:solidFill>
            <a:prstDash val="solid"/>
          </a:ln>
        </p:spPr>
      </p:sp>
      <p:sp>
        <p:nvSpPr>
          <p:cNvPr id="11" name="tracker-label-285"/>
          <p:cNvSpPr txBox="1"/>
          <p:nvPr/>
        </p:nvSpPr>
        <p:spPr>
          <a:xfrm>
            <a:off x="10378440" y="987552"/>
            <a:ext cx="603504" cy="365760"/>
          </a:xfrm>
          <a:prstGeom prst="rect">
            <a:avLst/>
          </a:prstGeom>
          <a:noFill/>
          <a:ln/>
        </p:spPr>
        <p:txBody>
          <a:bodyPr wrap="square" lIns="0" tIns="0" rIns="0" bIns="0" rtlCol="0" anchor="ctr"/>
          <a:lstStyle/>
          <a:p>
            <a:pPr algn="ctr" indent="0" marL="0">
              <a:buNone/>
            </a:pPr>
            <a:r>
              <a:rPr lang="en-US" sz="900" b="1" dirty="0">
                <a:solidFill>
                  <a:srgbClr val="0E2F56"/>
                </a:solidFill>
              </a:rPr>
              <a:t>4</a:t>
            </a:r>
            <a:endParaRPr lang="en-US" sz="900" dirty="0"/>
          </a:p>
          <a:p>
            <a:pPr algn="ctr" indent="0" marL="0">
              <a:buNone/>
            </a:pPr>
            <a:r>
              <a:rPr lang="en-US" sz="650" dirty="0">
                <a:solidFill>
                  <a:srgbClr val="0E2F56"/>
                </a:solidFill>
              </a:rPr>
              <a:t>Penyerahan</a:t>
            </a:r>
            <a:endParaRPr lang="en-US" sz="900" dirty="0"/>
          </a:p>
        </p:txBody>
      </p:sp>
      <p:sp>
        <p:nvSpPr>
          <p:cNvPr id="12" name="tracker-286"/>
          <p:cNvSpPr/>
          <p:nvPr/>
        </p:nvSpPr>
        <p:spPr>
          <a:xfrm>
            <a:off x="11018520" y="987552"/>
            <a:ext cx="603504" cy="365760"/>
          </a:xfrm>
          <a:prstGeom prst="rect">
            <a:avLst/>
          </a:prstGeom>
          <a:solidFill>
            <a:srgbClr val="1F6FB2"/>
          </a:solidFill>
          <a:ln w="9525">
            <a:solidFill>
              <a:srgbClr val="1F6FB2"/>
            </a:solidFill>
            <a:prstDash val="solid"/>
          </a:ln>
        </p:spPr>
      </p:sp>
      <p:sp>
        <p:nvSpPr>
          <p:cNvPr id="13" name="tracker-label-287"/>
          <p:cNvSpPr txBox="1"/>
          <p:nvPr/>
        </p:nvSpPr>
        <p:spPr>
          <a:xfrm>
            <a:off x="11018520" y="987552"/>
            <a:ext cx="603504" cy="365760"/>
          </a:xfrm>
          <a:prstGeom prst="rect">
            <a:avLst/>
          </a:prstGeom>
          <a:noFill/>
          <a:ln/>
        </p:spPr>
        <p:txBody>
          <a:bodyPr wrap="square" lIns="0" tIns="0" rIns="0" bIns="0" rtlCol="0" anchor="ctr"/>
          <a:lstStyle/>
          <a:p>
            <a:pPr algn="ctr" indent="0" marL="0">
              <a:buNone/>
            </a:pPr>
            <a:r>
              <a:rPr lang="en-US" sz="900" b="1" dirty="0">
                <a:solidFill>
                  <a:srgbClr val="FFFFFF"/>
                </a:solidFill>
              </a:rPr>
              <a:t>5</a:t>
            </a:r>
            <a:endParaRPr lang="en-US" sz="900" dirty="0"/>
          </a:p>
          <a:p>
            <a:pPr algn="ctr" indent="0" marL="0">
              <a:buNone/>
            </a:pPr>
            <a:r>
              <a:rPr lang="en-US" sz="650" dirty="0">
                <a:solidFill>
                  <a:srgbClr val="FFFFFF"/>
                </a:solidFill>
              </a:rPr>
              <a:t>Pembayaran</a:t>
            </a:r>
            <a:endParaRPr lang="en-US" sz="900" dirty="0"/>
          </a:p>
        </p:txBody>
      </p:sp>
      <p:sp>
        <p:nvSpPr>
          <p:cNvPr id="14" name="node-process-288"/>
          <p:cNvSpPr/>
          <p:nvPr/>
        </p:nvSpPr>
        <p:spPr>
          <a:xfrm>
            <a:off x="548640" y="1874520"/>
            <a:ext cx="1828800" cy="822960"/>
          </a:xfrm>
          <a:prstGeom prst="rect">
            <a:avLst/>
          </a:prstGeom>
          <a:solidFill>
            <a:srgbClr val="E7F0FA"/>
          </a:solidFill>
          <a:ln w="15875">
            <a:solidFill>
              <a:srgbClr val="1F6FB2"/>
            </a:solidFill>
            <a:prstDash val="solid"/>
          </a:ln>
        </p:spPr>
      </p:sp>
      <p:sp>
        <p:nvSpPr>
          <p:cNvPr id="15" name="node-text-289"/>
          <p:cNvSpPr txBox="1"/>
          <p:nvPr/>
        </p:nvSpPr>
        <p:spPr>
          <a:xfrm>
            <a:off x="603504" y="1874520"/>
            <a:ext cx="1719072" cy="822960"/>
          </a:xfrm>
          <a:prstGeom prst="rect">
            <a:avLst/>
          </a:prstGeom>
          <a:noFill/>
          <a:ln/>
        </p:spPr>
        <p:txBody>
          <a:bodyPr wrap="square" lIns="0" tIns="0" rIns="0" bIns="0" rtlCol="0" anchor="ctr"/>
          <a:lstStyle/>
          <a:p>
            <a:pPr algn="ctr" indent="0" marL="0">
              <a:buNone/>
            </a:pPr>
            <a:r>
              <a:rPr lang="en-US" sz="950" dirty="0">
                <a:solidFill>
                  <a:srgbClr val="1F2D3D"/>
                </a:solidFill>
              </a:rPr>
              <a:t>Tab Pembayaran: checklist dari pasal kontrak</a:t>
            </a:r>
            <a:endParaRPr lang="en-US" sz="950" dirty="0"/>
          </a:p>
        </p:txBody>
      </p:sp>
      <p:sp>
        <p:nvSpPr>
          <p:cNvPr id="16" name="node-process-290"/>
          <p:cNvSpPr/>
          <p:nvPr/>
        </p:nvSpPr>
        <p:spPr>
          <a:xfrm>
            <a:off x="2697480" y="1874520"/>
            <a:ext cx="1828800" cy="822960"/>
          </a:xfrm>
          <a:prstGeom prst="rect">
            <a:avLst/>
          </a:prstGeom>
          <a:solidFill>
            <a:srgbClr val="E7F0FA"/>
          </a:solidFill>
          <a:ln w="15875">
            <a:solidFill>
              <a:srgbClr val="1F6FB2"/>
            </a:solidFill>
            <a:prstDash val="solid"/>
          </a:ln>
        </p:spPr>
      </p:sp>
      <p:sp>
        <p:nvSpPr>
          <p:cNvPr id="17" name="node-text-291"/>
          <p:cNvSpPr txBox="1"/>
          <p:nvPr/>
        </p:nvSpPr>
        <p:spPr>
          <a:xfrm>
            <a:off x="2752344" y="1874520"/>
            <a:ext cx="1719072" cy="822960"/>
          </a:xfrm>
          <a:prstGeom prst="rect">
            <a:avLst/>
          </a:prstGeom>
          <a:noFill/>
          <a:ln/>
        </p:spPr>
        <p:txBody>
          <a:bodyPr wrap="square" lIns="0" tIns="0" rIns="0" bIns="0" rtlCol="0" anchor="ctr"/>
          <a:lstStyle/>
          <a:p>
            <a:pPr algn="ctr" indent="0" marL="0">
              <a:buNone/>
            </a:pPr>
            <a:r>
              <a:rPr lang="en-US" sz="950" dirty="0">
                <a:solidFill>
                  <a:srgbClr val="1F2D3D"/>
                </a:solidFill>
              </a:rPr>
              <a:t>Unggah berkas tiap item wajib</a:t>
            </a:r>
            <a:endParaRPr lang="en-US" sz="950" dirty="0"/>
          </a:p>
        </p:txBody>
      </p:sp>
      <p:sp>
        <p:nvSpPr>
          <p:cNvPr id="18" name="decision-292"/>
          <p:cNvSpPr/>
          <p:nvPr/>
        </p:nvSpPr>
        <p:spPr>
          <a:xfrm>
            <a:off x="4709160" y="1805940"/>
            <a:ext cx="1828800" cy="960120"/>
          </a:xfrm>
          <a:prstGeom prst="diamond">
            <a:avLst/>
          </a:prstGeom>
          <a:solidFill>
            <a:srgbClr val="FFFFFF"/>
          </a:solidFill>
          <a:ln w="19050">
            <a:solidFill>
              <a:srgbClr val="0E2F56"/>
            </a:solidFill>
            <a:prstDash val="solid"/>
          </a:ln>
        </p:spPr>
      </p:sp>
      <p:sp>
        <p:nvSpPr>
          <p:cNvPr id="19" name="decision-text-293"/>
          <p:cNvSpPr txBox="1"/>
          <p:nvPr/>
        </p:nvSpPr>
        <p:spPr>
          <a:xfrm>
            <a:off x="4846320" y="1805940"/>
            <a:ext cx="1554480" cy="960120"/>
          </a:xfrm>
          <a:prstGeom prst="rect">
            <a:avLst/>
          </a:prstGeom>
          <a:noFill/>
          <a:ln/>
        </p:spPr>
        <p:txBody>
          <a:bodyPr wrap="square" lIns="0" tIns="0" rIns="0" bIns="0" rtlCol="0" anchor="ctr"/>
          <a:lstStyle/>
          <a:p>
            <a:pPr algn="ctr" indent="0" marL="0">
              <a:buNone/>
            </a:pPr>
            <a:r>
              <a:rPr lang="en-US" sz="900" b="1" dirty="0">
                <a:solidFill>
                  <a:srgbClr val="0E2F56"/>
                </a:solidFill>
              </a:rPr>
              <a:t>Semua item wajib selesai?</a:t>
            </a:r>
            <a:endParaRPr lang="en-US" sz="900" dirty="0"/>
          </a:p>
        </p:txBody>
      </p:sp>
      <p:sp>
        <p:nvSpPr>
          <p:cNvPr id="20" name="node-approve-294"/>
          <p:cNvSpPr/>
          <p:nvPr/>
        </p:nvSpPr>
        <p:spPr>
          <a:xfrm>
            <a:off x="6766560" y="1874520"/>
            <a:ext cx="2148840" cy="822960"/>
          </a:xfrm>
          <a:prstGeom prst="rect">
            <a:avLst/>
          </a:prstGeom>
          <a:solidFill>
            <a:srgbClr val="E4F3EB"/>
          </a:solidFill>
          <a:ln w="15875">
            <a:solidFill>
              <a:srgbClr val="1E7B4F"/>
            </a:solidFill>
            <a:prstDash val="solid"/>
          </a:ln>
        </p:spPr>
      </p:sp>
      <p:sp>
        <p:nvSpPr>
          <p:cNvPr id="21" name="node-text-295"/>
          <p:cNvSpPr txBox="1"/>
          <p:nvPr/>
        </p:nvSpPr>
        <p:spPr>
          <a:xfrm>
            <a:off x="6821424" y="1874520"/>
            <a:ext cx="2039112" cy="822960"/>
          </a:xfrm>
          <a:prstGeom prst="rect">
            <a:avLst/>
          </a:prstGeom>
          <a:noFill/>
          <a:ln/>
        </p:spPr>
        <p:txBody>
          <a:bodyPr wrap="square" lIns="0" tIns="0" rIns="0" bIns="0" rtlCol="0" anchor="ctr"/>
          <a:lstStyle/>
          <a:p>
            <a:pPr algn="ctr" indent="0" marL="0">
              <a:buNone/>
            </a:pPr>
            <a:r>
              <a:rPr lang="en-US" sz="1000" dirty="0">
                <a:solidFill>
                  <a:srgbClr val="1F2D3D"/>
                </a:solidFill>
              </a:rPr>
              <a:t>Pembayaran Lunas dan Tutup Pengadaan</a:t>
            </a:r>
            <a:endParaRPr lang="en-US" sz="1000" dirty="0"/>
          </a:p>
        </p:txBody>
      </p:sp>
      <p:sp>
        <p:nvSpPr>
          <p:cNvPr id="22" name="node-done-296"/>
          <p:cNvSpPr/>
          <p:nvPr/>
        </p:nvSpPr>
        <p:spPr>
          <a:xfrm>
            <a:off x="9235440" y="1874520"/>
            <a:ext cx="2407615" cy="822960"/>
          </a:xfrm>
          <a:prstGeom prst="rect">
            <a:avLst/>
          </a:prstGeom>
          <a:solidFill>
            <a:srgbClr val="1E7B4F"/>
          </a:solidFill>
          <a:ln w="15875">
            <a:solidFill>
              <a:srgbClr val="1E7B4F"/>
            </a:solidFill>
            <a:prstDash val="solid"/>
          </a:ln>
        </p:spPr>
      </p:sp>
      <p:sp>
        <p:nvSpPr>
          <p:cNvPr id="23" name="node-text-297"/>
          <p:cNvSpPr txBox="1"/>
          <p:nvPr/>
        </p:nvSpPr>
        <p:spPr>
          <a:xfrm>
            <a:off x="9290304" y="1874520"/>
            <a:ext cx="2297887" cy="822960"/>
          </a:xfrm>
          <a:prstGeom prst="rect">
            <a:avLst/>
          </a:prstGeom>
          <a:noFill/>
          <a:ln/>
        </p:spPr>
        <p:txBody>
          <a:bodyPr wrap="square" lIns="0" tIns="0" rIns="0" bIns="0" rtlCol="0" anchor="ctr"/>
          <a:lstStyle/>
          <a:p>
            <a:pPr algn="ctr" indent="0" marL="0">
              <a:buNone/>
            </a:pPr>
            <a:r>
              <a:rPr lang="en-US" sz="900" b="1" dirty="0">
                <a:solidFill>
                  <a:srgbClr val="FFFFFF"/>
                </a:solidFill>
              </a:rPr>
              <a:t>Status Selesai; notifikasi ke pengusul, TL, Asman, PIC Pelaksana, TL Pengadaan / ICC</a:t>
            </a:r>
            <a:endParaRPr lang="en-US" sz="900" dirty="0"/>
          </a:p>
        </p:txBody>
      </p:sp>
      <p:sp>
        <p:nvSpPr>
          <p:cNvPr id="24" name="connector-298"/>
          <p:cNvSpPr/>
          <p:nvPr/>
        </p:nvSpPr>
        <p:spPr>
          <a:xfrm>
            <a:off x="2377440" y="2286000"/>
            <a:ext cx="320040" cy="0"/>
          </a:xfrm>
          <a:prstGeom prst="line">
            <a:avLst/>
          </a:prstGeom>
          <a:noFill/>
          <a:ln w="19050">
            <a:solidFill>
              <a:srgbClr val="1F6FB2"/>
            </a:solidFill>
            <a:prstDash val="solid"/>
            <a:tailEnd type="triangle"/>
          </a:ln>
        </p:spPr>
      </p:sp>
      <p:sp>
        <p:nvSpPr>
          <p:cNvPr id="25" name="connector-299"/>
          <p:cNvSpPr/>
          <p:nvPr/>
        </p:nvSpPr>
        <p:spPr>
          <a:xfrm>
            <a:off x="4526280" y="2286000"/>
            <a:ext cx="182880" cy="0"/>
          </a:xfrm>
          <a:prstGeom prst="line">
            <a:avLst/>
          </a:prstGeom>
          <a:noFill/>
          <a:ln w="19050">
            <a:solidFill>
              <a:srgbClr val="1F6FB2"/>
            </a:solidFill>
            <a:prstDash val="solid"/>
            <a:tailEnd type="triangle"/>
          </a:ln>
        </p:spPr>
      </p:sp>
      <p:sp>
        <p:nvSpPr>
          <p:cNvPr id="26" name="connector-300"/>
          <p:cNvSpPr/>
          <p:nvPr/>
        </p:nvSpPr>
        <p:spPr>
          <a:xfrm>
            <a:off x="6537960" y="2286000"/>
            <a:ext cx="228600" cy="0"/>
          </a:xfrm>
          <a:prstGeom prst="line">
            <a:avLst/>
          </a:prstGeom>
          <a:noFill/>
          <a:ln w="19050">
            <a:solidFill>
              <a:srgbClr val="1E7B4F"/>
            </a:solidFill>
            <a:prstDash val="solid"/>
            <a:tailEnd type="triangle"/>
          </a:ln>
        </p:spPr>
      </p:sp>
      <p:sp>
        <p:nvSpPr>
          <p:cNvPr id="27" name="flow-label-301"/>
          <p:cNvSpPr txBox="1"/>
          <p:nvPr/>
        </p:nvSpPr>
        <p:spPr>
          <a:xfrm>
            <a:off x="6492240" y="2039112"/>
            <a:ext cx="365760" cy="219456"/>
          </a:xfrm>
          <a:prstGeom prst="rect">
            <a:avLst/>
          </a:prstGeom>
          <a:noFill/>
          <a:ln/>
        </p:spPr>
        <p:txBody>
          <a:bodyPr wrap="square" lIns="0" tIns="0" rIns="0" bIns="0" rtlCol="0" anchor="ctr"/>
          <a:lstStyle/>
          <a:p>
            <a:pPr algn="l" indent="0" marL="0">
              <a:buNone/>
            </a:pPr>
            <a:r>
              <a:rPr lang="en-US" sz="850" b="1" dirty="0">
                <a:solidFill>
                  <a:srgbClr val="1E7B4F"/>
                </a:solidFill>
              </a:rPr>
              <a:t>Ya</a:t>
            </a:r>
            <a:endParaRPr lang="en-US" sz="850" dirty="0"/>
          </a:p>
        </p:txBody>
      </p:sp>
      <p:sp>
        <p:nvSpPr>
          <p:cNvPr id="28" name="connector-302"/>
          <p:cNvSpPr/>
          <p:nvPr/>
        </p:nvSpPr>
        <p:spPr>
          <a:xfrm>
            <a:off x="8915400" y="2286000"/>
            <a:ext cx="320040" cy="0"/>
          </a:xfrm>
          <a:prstGeom prst="line">
            <a:avLst/>
          </a:prstGeom>
          <a:noFill/>
          <a:ln w="19050">
            <a:solidFill>
              <a:srgbClr val="1E7B4F"/>
            </a:solidFill>
            <a:prstDash val="solid"/>
            <a:tailEnd type="triangle"/>
          </a:ln>
        </p:spPr>
      </p:sp>
      <p:sp>
        <p:nvSpPr>
          <p:cNvPr id="29" name="node-revise-303"/>
          <p:cNvSpPr/>
          <p:nvPr/>
        </p:nvSpPr>
        <p:spPr>
          <a:xfrm>
            <a:off x="4617720" y="3063240"/>
            <a:ext cx="2011680" cy="566928"/>
          </a:xfrm>
          <a:prstGeom prst="rect">
            <a:avLst/>
          </a:prstGeom>
          <a:solidFill>
            <a:srgbClr val="FCEFE1"/>
          </a:solidFill>
          <a:ln w="15875">
            <a:solidFill>
              <a:srgbClr val="D9822B"/>
            </a:solidFill>
            <a:prstDash val="solid"/>
          </a:ln>
        </p:spPr>
      </p:sp>
      <p:sp>
        <p:nvSpPr>
          <p:cNvPr id="30" name="node-text-304"/>
          <p:cNvSpPr txBox="1"/>
          <p:nvPr/>
        </p:nvSpPr>
        <p:spPr>
          <a:xfrm>
            <a:off x="4672584" y="3063240"/>
            <a:ext cx="1901952" cy="566928"/>
          </a:xfrm>
          <a:prstGeom prst="rect">
            <a:avLst/>
          </a:prstGeom>
          <a:noFill/>
          <a:ln/>
        </p:spPr>
        <p:txBody>
          <a:bodyPr wrap="square" lIns="0" tIns="0" rIns="0" bIns="0" rtlCol="0" anchor="ctr"/>
          <a:lstStyle/>
          <a:p>
            <a:pPr algn="ctr" indent="0" marL="0">
              <a:buNone/>
            </a:pPr>
            <a:r>
              <a:rPr lang="en-US" sz="850" dirty="0">
                <a:solidFill>
                  <a:srgbClr val="1F2D3D"/>
                </a:solidFill>
              </a:rPr>
              <a:t>Belum dapat ditutup; item tercentang tanpa berkas dihitung belum selesai</a:t>
            </a:r>
            <a:endParaRPr lang="en-US" sz="850" dirty="0"/>
          </a:p>
        </p:txBody>
      </p:sp>
      <p:sp>
        <p:nvSpPr>
          <p:cNvPr id="31" name="connector-305"/>
          <p:cNvSpPr/>
          <p:nvPr/>
        </p:nvSpPr>
        <p:spPr>
          <a:xfrm>
            <a:off x="5623560" y="2766060"/>
            <a:ext cx="0" cy="297180"/>
          </a:xfrm>
          <a:prstGeom prst="line">
            <a:avLst/>
          </a:prstGeom>
          <a:noFill/>
          <a:ln w="19050">
            <a:solidFill>
              <a:srgbClr val="D9822B"/>
            </a:solidFill>
            <a:prstDash val="dash"/>
            <a:tailEnd type="triangle"/>
          </a:ln>
        </p:spPr>
      </p:sp>
      <p:sp>
        <p:nvSpPr>
          <p:cNvPr id="32" name="flow-label-306"/>
          <p:cNvSpPr txBox="1"/>
          <p:nvPr/>
        </p:nvSpPr>
        <p:spPr>
          <a:xfrm>
            <a:off x="5669280" y="2770632"/>
            <a:ext cx="548640" cy="219456"/>
          </a:xfrm>
          <a:prstGeom prst="rect">
            <a:avLst/>
          </a:prstGeom>
          <a:noFill/>
          <a:ln/>
        </p:spPr>
        <p:txBody>
          <a:bodyPr wrap="square" lIns="0" tIns="0" rIns="0" bIns="0" rtlCol="0" anchor="ctr"/>
          <a:lstStyle/>
          <a:p>
            <a:pPr algn="l" indent="0" marL="0">
              <a:buNone/>
            </a:pPr>
            <a:r>
              <a:rPr lang="en-US" sz="850" b="1" dirty="0">
                <a:solidFill>
                  <a:srgbClr val="D9822B"/>
                </a:solidFill>
              </a:rPr>
              <a:t>Tidak</a:t>
            </a:r>
            <a:endParaRPr lang="en-US" sz="850" dirty="0"/>
          </a:p>
        </p:txBody>
      </p:sp>
      <p:sp>
        <p:nvSpPr>
          <p:cNvPr id="33" name="Text 31"/>
          <p:cNvSpPr txBox="1"/>
          <p:nvPr/>
        </p:nvSpPr>
        <p:spPr>
          <a:xfrm>
            <a:off x="548640" y="3886200"/>
            <a:ext cx="7132320" cy="256032"/>
          </a:xfrm>
          <a:prstGeom prst="rect">
            <a:avLst/>
          </a:prstGeom>
          <a:noFill/>
          <a:ln/>
        </p:spPr>
        <p:txBody>
          <a:bodyPr wrap="square" lIns="0" tIns="0" rIns="0" bIns="0" rtlCol="0" anchor="ctr"/>
          <a:lstStyle/>
          <a:p>
            <a:pPr indent="0" marL="0">
              <a:buNone/>
            </a:pPr>
            <a:r>
              <a:rPr lang="en-US" sz="950" b="1" spc="100" kern="0" dirty="0">
                <a:solidFill>
                  <a:srgbClr val="0E2F56"/>
                </a:solidFill>
              </a:rPr>
              <a:t>SUMBER SYARAT PEMBAYARAN</a:t>
            </a:r>
            <a:endParaRPr lang="en-US" sz="950" dirty="0"/>
          </a:p>
        </p:txBody>
      </p:sp>
      <p:graphicFrame>
        <p:nvGraphicFramePr>
          <p:cNvPr id="11" name="table-307"/>
          <p:cNvGraphicFramePr>
            <a:graphicFrameLocks noGrp="1"/>
          </p:cNvGraphicFramePr>
          <p:nvPr>
            <p:extLst>
              <p:ext uri="{D42A27DB-BD31-4B8C-83A1-F6EECF244321}">
                <p14:modId xmlns:p14="http://schemas.microsoft.com/office/powerpoint/2010/main" val="1579011935"/>
              </p:ext>
            </p:extLst>
          </p:nvPr>
        </p:nvGraphicFramePr>
        <p:xfrm>
          <a:off x="548640" y="4187952"/>
          <a:ext cx="7132320" cy="914400"/>
        </p:xfrm>
        <a:graphic>
          <a:graphicData uri="http://schemas.openxmlformats.org/drawingml/2006/table">
            <a:tbl>
              <a:tblPr/>
              <a:tblGrid>
                <a:gridCol w="2926080"/>
                <a:gridCol w="4206240"/>
              </a:tblGrid>
              <a:tr h="365760">
                <a:tc>
                  <a:txBody>
                    <a:bodyPr/>
                    <a:lstStyle/>
                    <a:p>
                      <a:pPr algn="l" indent="0" marL="0">
                        <a:buNone/>
                      </a:pPr>
                      <a:r>
                        <a:rPr lang="en-US" sz="1050" b="1" dirty="0">
                          <a:solidFill>
                            <a:srgbClr val="FFFFFF"/>
                          </a:solidFill>
                        </a:rPr>
                        <a:t>Kontrak</a:t>
                      </a:r>
                      <a:endParaRPr lang="en-US" sz="10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0E2F56"/>
                    </a:solidFill>
                  </a:tcPr>
                </a:tc>
                <a:tc>
                  <a:txBody>
                    <a:bodyPr/>
                    <a:lstStyle/>
                    <a:p>
                      <a:pPr algn="l" indent="0" marL="0">
                        <a:buNone/>
                      </a:pPr>
                      <a:r>
                        <a:rPr lang="en-US" sz="1050" b="1" dirty="0">
                          <a:solidFill>
                            <a:srgbClr val="FFFFFF"/>
                          </a:solidFill>
                        </a:rPr>
                        <a:t>Tab Pembayaran</a:t>
                      </a:r>
                      <a:endParaRPr lang="en-US" sz="10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0E2F56"/>
                    </a:solidFill>
                  </a:tcPr>
                </a:tc>
              </a:tr>
              <a:tr h="365760">
                <a:tc>
                  <a:txBody>
                    <a:bodyPr/>
                    <a:lstStyle/>
                    <a:p>
                      <a:pPr indent="0" marL="0">
                        <a:buNone/>
                      </a:pPr>
                      <a:r>
                        <a:rPr lang="en-US" sz="1050" b="1" dirty="0">
                          <a:solidFill>
                            <a:srgbClr val="0E2F56"/>
                          </a:solidFill>
                        </a:rPr>
                        <a:t>SPK Barang</a:t>
                      </a:r>
                      <a:endParaRPr lang="en-US" sz="10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indent="0" marL="0">
                        <a:buNone/>
                      </a:pPr>
                      <a:r>
                        <a:rPr lang="en-US" sz="1050" dirty="0">
                          <a:solidFill>
                            <a:srgbClr val="1F2D3D"/>
                          </a:solidFill>
                        </a:rPr>
                        <a:t>Pasal 5 ayat (1) huruf a-m</a:t>
                      </a:r>
                      <a:endParaRPr lang="en-US" sz="10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r>
              <a:tr h="365760">
                <a:tc>
                  <a:txBody>
                    <a:bodyPr/>
                    <a:lstStyle/>
                    <a:p>
                      <a:pPr indent="0" marL="0">
                        <a:buNone/>
                      </a:pPr>
                      <a:r>
                        <a:rPr lang="en-US" sz="1050" b="1" dirty="0">
                          <a:solidFill>
                            <a:srgbClr val="0E2F56"/>
                          </a:solidFill>
                        </a:rPr>
                        <a:t>SPK Jasa</a:t>
                      </a:r>
                      <a:endParaRPr lang="en-US" sz="10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indent="0" marL="0">
                        <a:buNone/>
                      </a:pPr>
                      <a:r>
                        <a:rPr lang="en-US" sz="1050" dirty="0">
                          <a:solidFill>
                            <a:srgbClr val="1F2D3D"/>
                          </a:solidFill>
                        </a:rPr>
                        <a:t>Pasal 5 ayat (1) huruf a-l</a:t>
                      </a:r>
                      <a:endParaRPr lang="en-US" sz="10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r>
              <a:tr h="365760">
                <a:tc>
                  <a:txBody>
                    <a:bodyPr/>
                    <a:lstStyle/>
                    <a:p>
                      <a:pPr indent="0" marL="0">
                        <a:buNone/>
                      </a:pPr>
                      <a:r>
                        <a:rPr lang="en-US" sz="1050" b="1" dirty="0">
                          <a:solidFill>
                            <a:srgbClr val="0E2F56"/>
                          </a:solidFill>
                        </a:rPr>
                        <a:t>Surat Perjanjian (PJ)</a:t>
                      </a:r>
                      <a:endParaRPr lang="en-US" sz="10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indent="0" marL="0">
                        <a:buNone/>
                      </a:pPr>
                      <a:r>
                        <a:rPr lang="en-US" sz="1050" dirty="0">
                          <a:solidFill>
                            <a:srgbClr val="1F2D3D"/>
                          </a:solidFill>
                        </a:rPr>
                        <a:t>Pasal 10 ayat (1) huruf a-h</a:t>
                      </a:r>
                      <a:endParaRPr lang="en-US" sz="10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r>
              <a:tr h="365760">
                <a:tc>
                  <a:txBody>
                    <a:bodyPr/>
                    <a:lstStyle/>
                    <a:p>
                      <a:pPr indent="0" marL="0">
                        <a:buNone/>
                      </a:pPr>
                      <a:r>
                        <a:rPr lang="en-US" sz="1050" b="1" dirty="0">
                          <a:solidFill>
                            <a:srgbClr val="0E2F56"/>
                          </a:solidFill>
                        </a:rPr>
                        <a:t>Lampiran Surat Pesanan (SPPL)</a:t>
                      </a:r>
                      <a:endParaRPr lang="en-US" sz="10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indent="0" marL="0">
                        <a:buNone/>
                      </a:pPr>
                      <a:r>
                        <a:rPr lang="en-US" sz="1050" dirty="0">
                          <a:solidFill>
                            <a:srgbClr val="1F2D3D"/>
                          </a:solidFill>
                        </a:rPr>
                        <a:t>Bagian D (Pembayaran) butir 1 huruf a-o</a:t>
                      </a:r>
                      <a:endParaRPr lang="en-US" sz="105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r>
            </a:tbl>
          </a:graphicData>
        </a:graphic>
      </p:graphicFrame>
      <p:sp>
        <p:nvSpPr>
          <p:cNvPr id="35" name="panel-308"/>
          <p:cNvSpPr/>
          <p:nvPr/>
        </p:nvSpPr>
        <p:spPr>
          <a:xfrm>
            <a:off x="7909560" y="3886200"/>
            <a:ext cx="3733495" cy="2377440"/>
          </a:xfrm>
          <a:prstGeom prst="rect">
            <a:avLst/>
          </a:prstGeom>
          <a:solidFill>
            <a:srgbClr val="F2F4F7"/>
          </a:solidFill>
          <a:ln w="6350">
            <a:solidFill>
              <a:srgbClr val="CDD5DF"/>
            </a:solidFill>
            <a:prstDash val="solid"/>
          </a:ln>
        </p:spPr>
      </p:sp>
      <p:sp>
        <p:nvSpPr>
          <p:cNvPr id="36" name="panel-title-309"/>
          <p:cNvSpPr txBox="1"/>
          <p:nvPr/>
        </p:nvSpPr>
        <p:spPr>
          <a:xfrm>
            <a:off x="8074152" y="3995928"/>
            <a:ext cx="3404311" cy="256032"/>
          </a:xfrm>
          <a:prstGeom prst="rect">
            <a:avLst/>
          </a:prstGeom>
          <a:noFill/>
          <a:ln/>
        </p:spPr>
        <p:txBody>
          <a:bodyPr wrap="square" lIns="0" tIns="0" rIns="0" bIns="0" rtlCol="0" anchor="ctr"/>
          <a:lstStyle/>
          <a:p>
            <a:pPr indent="0" marL="0">
              <a:buNone/>
            </a:pPr>
            <a:r>
              <a:rPr lang="en-US" sz="950" b="1" spc="100" kern="0" dirty="0">
                <a:solidFill>
                  <a:srgbClr val="0E2F56"/>
                </a:solidFill>
              </a:rPr>
              <a:t>ATURAN</a:t>
            </a:r>
            <a:endParaRPr lang="en-US" sz="950" dirty="0"/>
          </a:p>
        </p:txBody>
      </p:sp>
      <p:sp>
        <p:nvSpPr>
          <p:cNvPr id="37" name="panel-body-310"/>
          <p:cNvSpPr txBox="1"/>
          <p:nvPr/>
        </p:nvSpPr>
        <p:spPr>
          <a:xfrm>
            <a:off x="8074152" y="4297680"/>
            <a:ext cx="3404311" cy="1874520"/>
          </a:xfrm>
          <a:prstGeom prst="rect">
            <a:avLst/>
          </a:prstGeom>
          <a:noFill/>
          <a:ln/>
        </p:spPr>
        <p:txBody>
          <a:bodyPr wrap="square" lIns="0" tIns="0" rIns="0" bIns="0" rtlCol="0" anchor="t"/>
          <a:lstStyle/>
          <a:p>
            <a:pPr marL="152400" indent="-152400">
              <a:spcAft>
                <a:spcPts val="500"/>
              </a:spcAft>
              <a:buSzPct val="100000"/>
              <a:buChar char="•"/>
            </a:pPr>
            <a:r>
              <a:rPr lang="en-US" sz="1000" dirty="0">
                <a:solidFill>
                  <a:srgbClr val="1F2D3D"/>
                </a:solidFill>
              </a:rPr>
              <a:t>Hak bawaan "Proses pembayaran": Keuangan.</a:t>
            </a:r>
            <a:endParaRPr lang="en-US" sz="1000" dirty="0"/>
          </a:p>
          <a:p>
            <a:pPr marL="152400" indent="-152400">
              <a:spcAft>
                <a:spcPts val="500"/>
              </a:spcAft>
              <a:buSzPct val="100000"/>
              <a:buChar char="•"/>
            </a:pPr>
            <a:r>
              <a:rPr lang="en-US" sz="1000" dirty="0">
                <a:solidFill>
                  <a:srgbClr val="1F2D3D"/>
                </a:solidFill>
              </a:rPr>
              <a:t>Pengadaan tidak dapat ditutup manual sebelum dibayar.</a:t>
            </a:r>
            <a:endParaRPr lang="en-US" sz="1000" dirty="0"/>
          </a:p>
          <a:p>
            <a:pPr marL="152400" indent="-152400">
              <a:spcAft>
                <a:spcPts val="500"/>
              </a:spcAft>
              <a:buSzPct val="100000"/>
              <a:buChar char="•"/>
            </a:pPr>
            <a:r>
              <a:rPr lang="en-US" sz="1000" dirty="0">
                <a:solidFill>
                  <a:srgbClr val="1F2D3D"/>
                </a:solidFill>
              </a:rPr>
              <a:t>Berkas ikut ZIP "Unduh Semua Dokumen", folder 4. Keuangan.</a:t>
            </a:r>
            <a:endParaRPr lang="en-US" sz="1000" dirty="0"/>
          </a:p>
          <a:p>
            <a:pPr marL="152400" indent="-152400">
              <a:spcAft>
                <a:spcPts val="500"/>
              </a:spcAft>
              <a:buSzPct val="100000"/>
              <a:buChar char="•"/>
            </a:pPr>
            <a:r>
              <a:rPr lang="en-US" sz="1000" dirty="0">
                <a:solidFill>
                  <a:srgbClr val="1F2D3D"/>
                </a:solidFill>
              </a:rPr>
              <a:t>Keuangan juga dapat mengusulkan pekerjaan untuk bidangnya.</a:t>
            </a:r>
            <a:endParaRPr lang="en-US" sz="1000" dirty="0"/>
          </a:p>
        </p:txBody>
      </p:sp>
      <p:sp>
        <p:nvSpPr>
          <p:cNvPr id="25" name="Slide Number Placeholder 0"/>
          <p:cNvSpPr>
            <a:spLocks noGrp="1"/>
          </p:cNvSpPr>
          <p:nvPr>
            <p:ph type="sldNum" sz="quarter" idx="4294967295"/>
          </p:nvPr>
        </p:nvSpPr>
        <p:spPr>
          <a:xfrm>
            <a:off x="11094415" y="646480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title" hasCustomPrompt="1"/>
          </p:nvPr>
        </p:nvSpPr>
        <p:spPr>
          <a:xfrm>
            <a:off x="548640" y="896112"/>
            <a:ext cx="7680960" cy="502920"/>
          </a:xfrm>
          <a:prstGeom prst="rect">
            <a:avLst/>
          </a:prstGeom>
          <a:noFill/>
          <a:ln/>
        </p:spPr>
        <p:txBody>
          <a:bodyPr wrap="square" lIns="0" tIns="0" rIns="0" bIns="0" rtlCol="0" anchor="ctr"/>
          <a:lstStyle/>
          <a:p>
            <a:pPr algn="l" indent="0" marL="0">
              <a:buNone/>
            </a:pPr>
            <a:r>
              <a:rPr lang="en-US" sz="2400" b="1" dirty="0">
                <a:solidFill>
                  <a:srgbClr val="0E2F56"/>
                </a:solidFill>
              </a:rPr>
              <a:t>Proses pendukung  Amandemen Kontrak</a:t>
            </a:r>
            <a:endParaRPr lang="en-US" sz="2400" dirty="0"/>
          </a:p>
        </p:txBody>
      </p:sp>
      <p:sp>
        <p:nvSpPr>
          <p:cNvPr id="3" name="Text 2"/>
          <p:cNvSpPr/>
          <p:nvPr>
            <p:ph idx="103" type="body" hasCustomPrompt="1"/>
          </p:nvPr>
        </p:nvSpPr>
        <p:spPr>
          <a:xfrm>
            <a:off x="548640" y="1371600"/>
            <a:ext cx="7680960" cy="292608"/>
          </a:xfrm>
          <a:prstGeom prst="rect">
            <a:avLst/>
          </a:prstGeom>
          <a:noFill/>
          <a:ln/>
        </p:spPr>
        <p:txBody>
          <a:bodyPr wrap="square" lIns="0" tIns="0" rIns="0" bIns="0" rtlCol="0" anchor="t"/>
          <a:lstStyle/>
          <a:p>
            <a:pPr algn="l" indent="0" marL="0">
              <a:buNone/>
            </a:pPr>
            <a:r>
              <a:rPr lang="en-US" sz="1200" dirty="0">
                <a:solidFill>
                  <a:srgbClr val="5B6B7C"/>
                </a:solidFill>
              </a:rPr>
              <a:t>Berjalan di tab Amandemen, di luar lima tahap utama. Tidak melewati perencana maupun TL ICC.</a:t>
            </a:r>
            <a:endParaRPr lang="en-US" sz="1200" dirty="0"/>
          </a:p>
        </p:txBody>
      </p:sp>
      <p:sp>
        <p:nvSpPr>
          <p:cNvPr id="4" name="lane-311"/>
          <p:cNvSpPr/>
          <p:nvPr/>
        </p:nvSpPr>
        <p:spPr>
          <a:xfrm>
            <a:off x="548640" y="1783080"/>
            <a:ext cx="7086600" cy="896112"/>
          </a:xfrm>
          <a:prstGeom prst="rect">
            <a:avLst/>
          </a:prstGeom>
          <a:solidFill>
            <a:srgbClr val="F2F4F7"/>
          </a:solidFill>
          <a:ln w="6350">
            <a:solidFill>
              <a:srgbClr val="CDD5DF"/>
            </a:solidFill>
            <a:prstDash val="solid"/>
          </a:ln>
        </p:spPr>
      </p:sp>
      <p:sp>
        <p:nvSpPr>
          <p:cNvPr id="5" name="lane-head-312"/>
          <p:cNvSpPr/>
          <p:nvPr/>
        </p:nvSpPr>
        <p:spPr>
          <a:xfrm>
            <a:off x="548640" y="1783080"/>
            <a:ext cx="1325880" cy="896112"/>
          </a:xfrm>
          <a:prstGeom prst="rect">
            <a:avLst/>
          </a:prstGeom>
          <a:solidFill>
            <a:srgbClr val="0E2F56"/>
          </a:solidFill>
          <a:ln w="6350">
            <a:solidFill>
              <a:srgbClr val="0E2F56"/>
            </a:solidFill>
            <a:prstDash val="solid"/>
          </a:ln>
        </p:spPr>
      </p:sp>
      <p:sp>
        <p:nvSpPr>
          <p:cNvPr id="6" name="lane-name-313"/>
          <p:cNvSpPr txBox="1"/>
          <p:nvPr/>
        </p:nvSpPr>
        <p:spPr>
          <a:xfrm>
            <a:off x="621792" y="1783080"/>
            <a:ext cx="1179576" cy="896112"/>
          </a:xfrm>
          <a:prstGeom prst="rect">
            <a:avLst/>
          </a:prstGeom>
          <a:noFill/>
          <a:ln/>
        </p:spPr>
        <p:txBody>
          <a:bodyPr wrap="square" lIns="0" tIns="0" rIns="0" bIns="0" rtlCol="0" anchor="ctr"/>
          <a:lstStyle/>
          <a:p>
            <a:pPr algn="l" indent="0" marL="0">
              <a:buNone/>
            </a:pPr>
            <a:r>
              <a:rPr lang="en-US" sz="1000" b="1" dirty="0">
                <a:solidFill>
                  <a:srgbClr val="FFFFFF"/>
                </a:solidFill>
              </a:rPr>
              <a:t>Pengusul</a:t>
            </a:r>
            <a:endParaRPr lang="en-US" sz="1000" dirty="0"/>
          </a:p>
        </p:txBody>
      </p:sp>
      <p:sp>
        <p:nvSpPr>
          <p:cNvPr id="7" name="lane-314"/>
          <p:cNvSpPr/>
          <p:nvPr/>
        </p:nvSpPr>
        <p:spPr>
          <a:xfrm>
            <a:off x="548640" y="2715768"/>
            <a:ext cx="7086600" cy="896112"/>
          </a:xfrm>
          <a:prstGeom prst="rect">
            <a:avLst/>
          </a:prstGeom>
          <a:solidFill>
            <a:srgbClr val="FFFFFF"/>
          </a:solidFill>
          <a:ln w="6350">
            <a:solidFill>
              <a:srgbClr val="CDD5DF"/>
            </a:solidFill>
            <a:prstDash val="solid"/>
          </a:ln>
        </p:spPr>
      </p:sp>
      <p:sp>
        <p:nvSpPr>
          <p:cNvPr id="8" name="lane-head-315"/>
          <p:cNvSpPr/>
          <p:nvPr/>
        </p:nvSpPr>
        <p:spPr>
          <a:xfrm>
            <a:off x="548640" y="2715768"/>
            <a:ext cx="1325880" cy="896112"/>
          </a:xfrm>
          <a:prstGeom prst="rect">
            <a:avLst/>
          </a:prstGeom>
          <a:solidFill>
            <a:srgbClr val="0E2F56"/>
          </a:solidFill>
          <a:ln w="6350">
            <a:solidFill>
              <a:srgbClr val="0E2F56"/>
            </a:solidFill>
            <a:prstDash val="solid"/>
          </a:ln>
        </p:spPr>
      </p:sp>
      <p:sp>
        <p:nvSpPr>
          <p:cNvPr id="9" name="lane-name-316"/>
          <p:cNvSpPr txBox="1"/>
          <p:nvPr/>
        </p:nvSpPr>
        <p:spPr>
          <a:xfrm>
            <a:off x="621792" y="2715768"/>
            <a:ext cx="1179576" cy="896112"/>
          </a:xfrm>
          <a:prstGeom prst="rect">
            <a:avLst/>
          </a:prstGeom>
          <a:noFill/>
          <a:ln/>
        </p:spPr>
        <p:txBody>
          <a:bodyPr wrap="square" lIns="0" tIns="0" rIns="0" bIns="0" rtlCol="0" anchor="ctr"/>
          <a:lstStyle/>
          <a:p>
            <a:pPr algn="l" indent="0" marL="0">
              <a:buNone/>
            </a:pPr>
            <a:r>
              <a:rPr lang="en-US" sz="1000" b="1" dirty="0">
                <a:solidFill>
                  <a:srgbClr val="FFFFFF"/>
                </a:solidFill>
              </a:rPr>
              <a:t>TL Atasan</a:t>
            </a:r>
            <a:endParaRPr lang="en-US" sz="1000" dirty="0"/>
          </a:p>
        </p:txBody>
      </p:sp>
      <p:sp>
        <p:nvSpPr>
          <p:cNvPr id="10" name="lane-317"/>
          <p:cNvSpPr/>
          <p:nvPr/>
        </p:nvSpPr>
        <p:spPr>
          <a:xfrm>
            <a:off x="548640" y="3648456"/>
            <a:ext cx="7086600" cy="896112"/>
          </a:xfrm>
          <a:prstGeom prst="rect">
            <a:avLst/>
          </a:prstGeom>
          <a:solidFill>
            <a:srgbClr val="F2F4F7"/>
          </a:solidFill>
          <a:ln w="6350">
            <a:solidFill>
              <a:srgbClr val="CDD5DF"/>
            </a:solidFill>
            <a:prstDash val="solid"/>
          </a:ln>
        </p:spPr>
      </p:sp>
      <p:sp>
        <p:nvSpPr>
          <p:cNvPr id="11" name="lane-head-318"/>
          <p:cNvSpPr/>
          <p:nvPr/>
        </p:nvSpPr>
        <p:spPr>
          <a:xfrm>
            <a:off x="548640" y="3648456"/>
            <a:ext cx="1325880" cy="896112"/>
          </a:xfrm>
          <a:prstGeom prst="rect">
            <a:avLst/>
          </a:prstGeom>
          <a:solidFill>
            <a:srgbClr val="0E2F56"/>
          </a:solidFill>
          <a:ln w="6350">
            <a:solidFill>
              <a:srgbClr val="0E2F56"/>
            </a:solidFill>
            <a:prstDash val="solid"/>
          </a:ln>
        </p:spPr>
      </p:sp>
      <p:sp>
        <p:nvSpPr>
          <p:cNvPr id="12" name="lane-name-319"/>
          <p:cNvSpPr txBox="1"/>
          <p:nvPr/>
        </p:nvSpPr>
        <p:spPr>
          <a:xfrm>
            <a:off x="621792" y="3648456"/>
            <a:ext cx="1179576" cy="896112"/>
          </a:xfrm>
          <a:prstGeom prst="rect">
            <a:avLst/>
          </a:prstGeom>
          <a:noFill/>
          <a:ln/>
        </p:spPr>
        <p:txBody>
          <a:bodyPr wrap="square" lIns="0" tIns="0" rIns="0" bIns="0" rtlCol="0" anchor="ctr"/>
          <a:lstStyle/>
          <a:p>
            <a:pPr algn="l" indent="0" marL="0">
              <a:buNone/>
            </a:pPr>
            <a:r>
              <a:rPr lang="en-US" sz="1000" b="1" dirty="0">
                <a:solidFill>
                  <a:srgbClr val="FFFFFF"/>
                </a:solidFill>
              </a:rPr>
              <a:t>Direksi Pekerjaan (Asman)</a:t>
            </a:r>
            <a:endParaRPr lang="en-US" sz="1000" dirty="0"/>
          </a:p>
        </p:txBody>
      </p:sp>
      <p:sp>
        <p:nvSpPr>
          <p:cNvPr id="13" name="lane-320"/>
          <p:cNvSpPr/>
          <p:nvPr/>
        </p:nvSpPr>
        <p:spPr>
          <a:xfrm>
            <a:off x="548640" y="4581144"/>
            <a:ext cx="7086600" cy="896112"/>
          </a:xfrm>
          <a:prstGeom prst="rect">
            <a:avLst/>
          </a:prstGeom>
          <a:solidFill>
            <a:srgbClr val="FFFFFF"/>
          </a:solidFill>
          <a:ln w="6350">
            <a:solidFill>
              <a:srgbClr val="CDD5DF"/>
            </a:solidFill>
            <a:prstDash val="solid"/>
          </a:ln>
        </p:spPr>
      </p:sp>
      <p:sp>
        <p:nvSpPr>
          <p:cNvPr id="14" name="lane-head-321"/>
          <p:cNvSpPr/>
          <p:nvPr/>
        </p:nvSpPr>
        <p:spPr>
          <a:xfrm>
            <a:off x="548640" y="4581144"/>
            <a:ext cx="1325880" cy="896112"/>
          </a:xfrm>
          <a:prstGeom prst="rect">
            <a:avLst/>
          </a:prstGeom>
          <a:solidFill>
            <a:srgbClr val="0E2F56"/>
          </a:solidFill>
          <a:ln w="6350">
            <a:solidFill>
              <a:srgbClr val="0E2F56"/>
            </a:solidFill>
            <a:prstDash val="solid"/>
          </a:ln>
        </p:spPr>
      </p:sp>
      <p:sp>
        <p:nvSpPr>
          <p:cNvPr id="15" name="lane-name-322"/>
          <p:cNvSpPr txBox="1"/>
          <p:nvPr/>
        </p:nvSpPr>
        <p:spPr>
          <a:xfrm>
            <a:off x="621792" y="4581144"/>
            <a:ext cx="1179576" cy="896112"/>
          </a:xfrm>
          <a:prstGeom prst="rect">
            <a:avLst/>
          </a:prstGeom>
          <a:noFill/>
          <a:ln/>
        </p:spPr>
        <p:txBody>
          <a:bodyPr wrap="square" lIns="0" tIns="0" rIns="0" bIns="0" rtlCol="0" anchor="ctr"/>
          <a:lstStyle/>
          <a:p>
            <a:pPr algn="l" indent="0" marL="0">
              <a:buNone/>
            </a:pPr>
            <a:r>
              <a:rPr lang="en-US" sz="1000" b="1" dirty="0">
                <a:solidFill>
                  <a:srgbClr val="FFFFFF"/>
                </a:solidFill>
              </a:rPr>
              <a:t>Laksdan</a:t>
            </a:r>
            <a:endParaRPr lang="en-US" sz="1000" dirty="0"/>
          </a:p>
        </p:txBody>
      </p:sp>
      <p:sp>
        <p:nvSpPr>
          <p:cNvPr id="16" name="node-process-323"/>
          <p:cNvSpPr/>
          <p:nvPr/>
        </p:nvSpPr>
        <p:spPr>
          <a:xfrm>
            <a:off x="2057400" y="1865376"/>
            <a:ext cx="1783080" cy="731520"/>
          </a:xfrm>
          <a:prstGeom prst="rect">
            <a:avLst/>
          </a:prstGeom>
          <a:solidFill>
            <a:srgbClr val="E7F0FA"/>
          </a:solidFill>
          <a:ln w="15875">
            <a:solidFill>
              <a:srgbClr val="1F6FB2"/>
            </a:solidFill>
            <a:prstDash val="solid"/>
          </a:ln>
        </p:spPr>
      </p:sp>
      <p:sp>
        <p:nvSpPr>
          <p:cNvPr id="17" name="node-text-324"/>
          <p:cNvSpPr txBox="1"/>
          <p:nvPr/>
        </p:nvSpPr>
        <p:spPr>
          <a:xfrm>
            <a:off x="2112264" y="1865376"/>
            <a:ext cx="1673352" cy="731520"/>
          </a:xfrm>
          <a:prstGeom prst="rect">
            <a:avLst/>
          </a:prstGeom>
          <a:noFill/>
          <a:ln/>
        </p:spPr>
        <p:txBody>
          <a:bodyPr wrap="square" lIns="0" tIns="0" rIns="0" bIns="0" rtlCol="0" anchor="ctr"/>
          <a:lstStyle/>
          <a:p>
            <a:pPr algn="ctr" indent="0" marL="0">
              <a:buNone/>
            </a:pPr>
            <a:r>
              <a:rPr lang="en-US" sz="850" dirty="0">
                <a:solidFill>
                  <a:srgbClr val="1F2D3D"/>
                </a:solidFill>
              </a:rPr>
              <a:t>Isi no/tgl Nota Dinas usulan; unggah Nota Dinas dan Notulen; surat permohonan mitra (opsional)</a:t>
            </a:r>
            <a:endParaRPr lang="en-US" sz="850" dirty="0"/>
          </a:p>
        </p:txBody>
      </p:sp>
      <p:sp>
        <p:nvSpPr>
          <p:cNvPr id="18" name="decision-325"/>
          <p:cNvSpPr/>
          <p:nvPr/>
        </p:nvSpPr>
        <p:spPr>
          <a:xfrm>
            <a:off x="4183380" y="2779776"/>
            <a:ext cx="1143000" cy="768096"/>
          </a:xfrm>
          <a:prstGeom prst="diamond">
            <a:avLst/>
          </a:prstGeom>
          <a:solidFill>
            <a:srgbClr val="FFFFFF"/>
          </a:solidFill>
          <a:ln w="19050">
            <a:solidFill>
              <a:srgbClr val="0E2F56"/>
            </a:solidFill>
            <a:prstDash val="solid"/>
          </a:ln>
        </p:spPr>
      </p:sp>
      <p:sp>
        <p:nvSpPr>
          <p:cNvPr id="19" name="decision-text-326"/>
          <p:cNvSpPr txBox="1"/>
          <p:nvPr/>
        </p:nvSpPr>
        <p:spPr>
          <a:xfrm>
            <a:off x="4320540" y="2779776"/>
            <a:ext cx="868680" cy="768096"/>
          </a:xfrm>
          <a:prstGeom prst="rect">
            <a:avLst/>
          </a:prstGeom>
          <a:noFill/>
          <a:ln/>
        </p:spPr>
        <p:txBody>
          <a:bodyPr wrap="square" lIns="0" tIns="0" rIns="0" bIns="0" rtlCol="0" anchor="ctr"/>
          <a:lstStyle/>
          <a:p>
            <a:pPr algn="ctr" indent="0" marL="0">
              <a:buNone/>
            </a:pPr>
            <a:r>
              <a:rPr lang="en-US" sz="950" b="1" dirty="0">
                <a:solidFill>
                  <a:srgbClr val="0E2F56"/>
                </a:solidFill>
              </a:rPr>
              <a:t>TL setujui?</a:t>
            </a:r>
            <a:endParaRPr lang="en-US" sz="950" dirty="0"/>
          </a:p>
        </p:txBody>
      </p:sp>
      <p:sp>
        <p:nvSpPr>
          <p:cNvPr id="20" name="connector-327"/>
          <p:cNvSpPr/>
          <p:nvPr/>
        </p:nvSpPr>
        <p:spPr>
          <a:xfrm>
            <a:off x="3840480" y="2231136"/>
            <a:ext cx="914400" cy="0"/>
          </a:xfrm>
          <a:prstGeom prst="line">
            <a:avLst/>
          </a:prstGeom>
          <a:noFill/>
          <a:ln w="19050">
            <a:solidFill>
              <a:srgbClr val="1F6FB2"/>
            </a:solidFill>
            <a:prstDash val="solid"/>
          </a:ln>
        </p:spPr>
      </p:sp>
      <p:sp>
        <p:nvSpPr>
          <p:cNvPr id="21" name="connector-328"/>
          <p:cNvSpPr/>
          <p:nvPr/>
        </p:nvSpPr>
        <p:spPr>
          <a:xfrm>
            <a:off x="4754880" y="2231136"/>
            <a:ext cx="0" cy="548640"/>
          </a:xfrm>
          <a:prstGeom prst="line">
            <a:avLst/>
          </a:prstGeom>
          <a:noFill/>
          <a:ln w="19050">
            <a:solidFill>
              <a:srgbClr val="1F6FB2"/>
            </a:solidFill>
            <a:prstDash val="solid"/>
            <a:tailEnd type="triangle"/>
          </a:ln>
        </p:spPr>
      </p:sp>
      <p:sp>
        <p:nvSpPr>
          <p:cNvPr id="22" name="decision-329"/>
          <p:cNvSpPr/>
          <p:nvPr/>
        </p:nvSpPr>
        <p:spPr>
          <a:xfrm>
            <a:off x="4183380" y="3712464"/>
            <a:ext cx="1143000" cy="768096"/>
          </a:xfrm>
          <a:prstGeom prst="diamond">
            <a:avLst/>
          </a:prstGeom>
          <a:solidFill>
            <a:srgbClr val="FFFFFF"/>
          </a:solidFill>
          <a:ln w="19050">
            <a:solidFill>
              <a:srgbClr val="0E2F56"/>
            </a:solidFill>
            <a:prstDash val="solid"/>
          </a:ln>
        </p:spPr>
      </p:sp>
      <p:sp>
        <p:nvSpPr>
          <p:cNvPr id="23" name="decision-text-330"/>
          <p:cNvSpPr txBox="1"/>
          <p:nvPr/>
        </p:nvSpPr>
        <p:spPr>
          <a:xfrm>
            <a:off x="4320540" y="3712464"/>
            <a:ext cx="868680" cy="768096"/>
          </a:xfrm>
          <a:prstGeom prst="rect">
            <a:avLst/>
          </a:prstGeom>
          <a:noFill/>
          <a:ln/>
        </p:spPr>
        <p:txBody>
          <a:bodyPr wrap="square" lIns="0" tIns="0" rIns="0" bIns="0" rtlCol="0" anchor="ctr"/>
          <a:lstStyle/>
          <a:p>
            <a:pPr algn="ctr" indent="0" marL="0">
              <a:buNone/>
            </a:pPr>
            <a:r>
              <a:rPr lang="en-US" sz="900" b="1" dirty="0">
                <a:solidFill>
                  <a:srgbClr val="0E2F56"/>
                </a:solidFill>
              </a:rPr>
              <a:t>Asman setujui?</a:t>
            </a:r>
            <a:endParaRPr lang="en-US" sz="900" dirty="0"/>
          </a:p>
        </p:txBody>
      </p:sp>
      <p:sp>
        <p:nvSpPr>
          <p:cNvPr id="24" name="connector-331"/>
          <p:cNvSpPr/>
          <p:nvPr/>
        </p:nvSpPr>
        <p:spPr>
          <a:xfrm>
            <a:off x="4754880" y="3547872"/>
            <a:ext cx="0" cy="164592"/>
          </a:xfrm>
          <a:prstGeom prst="line">
            <a:avLst/>
          </a:prstGeom>
          <a:noFill/>
          <a:ln w="19050">
            <a:solidFill>
              <a:srgbClr val="1F6FB2"/>
            </a:solidFill>
            <a:prstDash val="solid"/>
            <a:tailEnd type="triangle"/>
          </a:ln>
        </p:spPr>
      </p:sp>
      <p:sp>
        <p:nvSpPr>
          <p:cNvPr id="25" name="flow-label-332"/>
          <p:cNvSpPr txBox="1"/>
          <p:nvPr/>
        </p:nvSpPr>
        <p:spPr>
          <a:xfrm>
            <a:off x="4809744" y="3520440"/>
            <a:ext cx="365760" cy="219456"/>
          </a:xfrm>
          <a:prstGeom prst="rect">
            <a:avLst/>
          </a:prstGeom>
          <a:noFill/>
          <a:ln/>
        </p:spPr>
        <p:txBody>
          <a:bodyPr wrap="square" lIns="0" tIns="0" rIns="0" bIns="0" rtlCol="0" anchor="ctr"/>
          <a:lstStyle/>
          <a:p>
            <a:pPr algn="l" indent="0" marL="0">
              <a:buNone/>
            </a:pPr>
            <a:r>
              <a:rPr lang="en-US" sz="850" b="1" dirty="0">
                <a:solidFill>
                  <a:srgbClr val="1E7B4F"/>
                </a:solidFill>
              </a:rPr>
              <a:t>Ya</a:t>
            </a:r>
            <a:endParaRPr lang="en-US" sz="850" dirty="0"/>
          </a:p>
        </p:txBody>
      </p:sp>
      <p:sp>
        <p:nvSpPr>
          <p:cNvPr id="26" name="node-process-333"/>
          <p:cNvSpPr/>
          <p:nvPr/>
        </p:nvSpPr>
        <p:spPr>
          <a:xfrm>
            <a:off x="3794760" y="4681728"/>
            <a:ext cx="1920240" cy="694944"/>
          </a:xfrm>
          <a:prstGeom prst="rect">
            <a:avLst/>
          </a:prstGeom>
          <a:solidFill>
            <a:srgbClr val="E7F0FA"/>
          </a:solidFill>
          <a:ln w="15875">
            <a:solidFill>
              <a:srgbClr val="1F6FB2"/>
            </a:solidFill>
            <a:prstDash val="solid"/>
          </a:ln>
        </p:spPr>
      </p:sp>
      <p:sp>
        <p:nvSpPr>
          <p:cNvPr id="27" name="node-text-334"/>
          <p:cNvSpPr txBox="1"/>
          <p:nvPr/>
        </p:nvSpPr>
        <p:spPr>
          <a:xfrm>
            <a:off x="3849624" y="4681728"/>
            <a:ext cx="1810512" cy="694944"/>
          </a:xfrm>
          <a:prstGeom prst="rect">
            <a:avLst/>
          </a:prstGeom>
          <a:noFill/>
          <a:ln/>
        </p:spPr>
        <p:txBody>
          <a:bodyPr wrap="square" lIns="0" tIns="0" rIns="0" bIns="0" rtlCol="0" anchor="ctr"/>
          <a:lstStyle/>
          <a:p>
            <a:pPr algn="ctr" indent="0" marL="0">
              <a:buNone/>
            </a:pPr>
            <a:r>
              <a:rPr lang="en-US" sz="900" dirty="0">
                <a:solidFill>
                  <a:srgbClr val="1F2D3D"/>
                </a:solidFill>
              </a:rPr>
              <a:t>Nomor Amd otomatis; isi tanggal; pilih pasal / ayat: Semula &gt; Menjadi</a:t>
            </a:r>
            <a:endParaRPr lang="en-US" sz="900" dirty="0"/>
          </a:p>
        </p:txBody>
      </p:sp>
      <p:sp>
        <p:nvSpPr>
          <p:cNvPr id="28" name="connector-335"/>
          <p:cNvSpPr/>
          <p:nvPr/>
        </p:nvSpPr>
        <p:spPr>
          <a:xfrm>
            <a:off x="4754880" y="4480560"/>
            <a:ext cx="0" cy="201168"/>
          </a:xfrm>
          <a:prstGeom prst="line">
            <a:avLst/>
          </a:prstGeom>
          <a:noFill/>
          <a:ln w="19050">
            <a:solidFill>
              <a:srgbClr val="1F6FB2"/>
            </a:solidFill>
            <a:prstDash val="solid"/>
            <a:tailEnd type="triangle"/>
          </a:ln>
        </p:spPr>
      </p:sp>
      <p:sp>
        <p:nvSpPr>
          <p:cNvPr id="29" name="flow-label-336"/>
          <p:cNvSpPr txBox="1"/>
          <p:nvPr/>
        </p:nvSpPr>
        <p:spPr>
          <a:xfrm>
            <a:off x="4809744" y="4453128"/>
            <a:ext cx="365760" cy="219456"/>
          </a:xfrm>
          <a:prstGeom prst="rect">
            <a:avLst/>
          </a:prstGeom>
          <a:noFill/>
          <a:ln/>
        </p:spPr>
        <p:txBody>
          <a:bodyPr wrap="square" lIns="0" tIns="0" rIns="0" bIns="0" rtlCol="0" anchor="ctr"/>
          <a:lstStyle/>
          <a:p>
            <a:pPr algn="l" indent="0" marL="0">
              <a:buNone/>
            </a:pPr>
            <a:r>
              <a:rPr lang="en-US" sz="850" b="1" dirty="0">
                <a:solidFill>
                  <a:srgbClr val="1E7B4F"/>
                </a:solidFill>
              </a:rPr>
              <a:t>Ya</a:t>
            </a:r>
            <a:endParaRPr lang="en-US" sz="850" dirty="0"/>
          </a:p>
        </p:txBody>
      </p:sp>
      <p:sp>
        <p:nvSpPr>
          <p:cNvPr id="30" name="node-done-337"/>
          <p:cNvSpPr/>
          <p:nvPr/>
        </p:nvSpPr>
        <p:spPr>
          <a:xfrm>
            <a:off x="5989320" y="4736592"/>
            <a:ext cx="1508760" cy="585216"/>
          </a:xfrm>
          <a:prstGeom prst="rect">
            <a:avLst/>
          </a:prstGeom>
          <a:solidFill>
            <a:srgbClr val="1E7B4F"/>
          </a:solidFill>
          <a:ln w="15875">
            <a:solidFill>
              <a:srgbClr val="1E7B4F"/>
            </a:solidFill>
            <a:prstDash val="solid"/>
          </a:ln>
        </p:spPr>
      </p:sp>
      <p:sp>
        <p:nvSpPr>
          <p:cNvPr id="31" name="node-text-338"/>
          <p:cNvSpPr txBox="1"/>
          <p:nvPr/>
        </p:nvSpPr>
        <p:spPr>
          <a:xfrm>
            <a:off x="6044184" y="4736592"/>
            <a:ext cx="1399032" cy="585216"/>
          </a:xfrm>
          <a:prstGeom prst="rect">
            <a:avLst/>
          </a:prstGeom>
          <a:noFill/>
          <a:ln/>
        </p:spPr>
        <p:txBody>
          <a:bodyPr wrap="square" lIns="0" tIns="0" rIns="0" bIns="0" rtlCol="0" anchor="ctr"/>
          <a:lstStyle/>
          <a:p>
            <a:pPr algn="ctr" indent="0" marL="0">
              <a:buNone/>
            </a:pPr>
            <a:r>
              <a:rPr lang="en-US" sz="950" b="1" dirty="0">
                <a:solidFill>
                  <a:srgbClr val="FFFFFF"/>
                </a:solidFill>
              </a:rPr>
              <a:t>Terbitkan: Amandemen Terbit</a:t>
            </a:r>
            <a:endParaRPr lang="en-US" sz="950" dirty="0"/>
          </a:p>
        </p:txBody>
      </p:sp>
      <p:sp>
        <p:nvSpPr>
          <p:cNvPr id="32" name="connector-339"/>
          <p:cNvSpPr/>
          <p:nvPr/>
        </p:nvSpPr>
        <p:spPr>
          <a:xfrm>
            <a:off x="5715000" y="5029200"/>
            <a:ext cx="274320" cy="0"/>
          </a:xfrm>
          <a:prstGeom prst="line">
            <a:avLst/>
          </a:prstGeom>
          <a:noFill/>
          <a:ln w="19050">
            <a:solidFill>
              <a:srgbClr val="1E7B4F"/>
            </a:solidFill>
            <a:prstDash val="solid"/>
            <a:tailEnd type="triangle"/>
          </a:ln>
        </p:spPr>
      </p:sp>
      <p:sp>
        <p:nvSpPr>
          <p:cNvPr id="33" name="node-revise-340"/>
          <p:cNvSpPr/>
          <p:nvPr/>
        </p:nvSpPr>
        <p:spPr>
          <a:xfrm>
            <a:off x="2057400" y="2862072"/>
            <a:ext cx="1783080" cy="603504"/>
          </a:xfrm>
          <a:prstGeom prst="rect">
            <a:avLst/>
          </a:prstGeom>
          <a:solidFill>
            <a:srgbClr val="FCEFE1"/>
          </a:solidFill>
          <a:ln w="15875">
            <a:solidFill>
              <a:srgbClr val="D9822B"/>
            </a:solidFill>
            <a:prstDash val="solid"/>
          </a:ln>
        </p:spPr>
      </p:sp>
      <p:sp>
        <p:nvSpPr>
          <p:cNvPr id="34" name="node-text-341"/>
          <p:cNvSpPr txBox="1"/>
          <p:nvPr/>
        </p:nvSpPr>
        <p:spPr>
          <a:xfrm>
            <a:off x="2112264" y="2862072"/>
            <a:ext cx="1673352" cy="603504"/>
          </a:xfrm>
          <a:prstGeom prst="rect">
            <a:avLst/>
          </a:prstGeom>
          <a:noFill/>
          <a:ln/>
        </p:spPr>
        <p:txBody>
          <a:bodyPr wrap="square" lIns="0" tIns="0" rIns="0" bIns="0" rtlCol="0" anchor="ctr"/>
          <a:lstStyle/>
          <a:p>
            <a:pPr algn="ctr" indent="0" marL="0">
              <a:buNone/>
            </a:pPr>
            <a:r>
              <a:rPr lang="en-US" sz="900" dirty="0">
                <a:solidFill>
                  <a:srgbClr val="1F2D3D"/>
                </a:solidFill>
              </a:rPr>
              <a:t>Dikembalikan (catatan wajib); perbaiki lalu ajukan ulang</a:t>
            </a:r>
            <a:endParaRPr lang="en-US" sz="900" dirty="0"/>
          </a:p>
        </p:txBody>
      </p:sp>
      <p:sp>
        <p:nvSpPr>
          <p:cNvPr id="35" name="connector-342"/>
          <p:cNvSpPr/>
          <p:nvPr/>
        </p:nvSpPr>
        <p:spPr>
          <a:xfrm flipH="1">
            <a:off x="3840480" y="3163824"/>
            <a:ext cx="342900" cy="0"/>
          </a:xfrm>
          <a:prstGeom prst="line">
            <a:avLst/>
          </a:prstGeom>
          <a:noFill/>
          <a:ln w="19050">
            <a:solidFill>
              <a:srgbClr val="D9822B"/>
            </a:solidFill>
            <a:prstDash val="dash"/>
            <a:tailEnd type="triangle"/>
          </a:ln>
        </p:spPr>
      </p:sp>
      <p:sp>
        <p:nvSpPr>
          <p:cNvPr id="36" name="flow-label-343"/>
          <p:cNvSpPr txBox="1"/>
          <p:nvPr/>
        </p:nvSpPr>
        <p:spPr>
          <a:xfrm>
            <a:off x="4023360" y="2926080"/>
            <a:ext cx="548640" cy="219456"/>
          </a:xfrm>
          <a:prstGeom prst="rect">
            <a:avLst/>
          </a:prstGeom>
          <a:noFill/>
          <a:ln/>
        </p:spPr>
        <p:txBody>
          <a:bodyPr wrap="square" lIns="0" tIns="0" rIns="0" bIns="0" rtlCol="0" anchor="ctr"/>
          <a:lstStyle/>
          <a:p>
            <a:pPr algn="l" indent="0" marL="0">
              <a:buNone/>
            </a:pPr>
            <a:r>
              <a:rPr lang="en-US" sz="850" b="1" dirty="0">
                <a:solidFill>
                  <a:srgbClr val="D9822B"/>
                </a:solidFill>
              </a:rPr>
              <a:t>Tidak</a:t>
            </a:r>
            <a:endParaRPr lang="en-US" sz="850" dirty="0"/>
          </a:p>
        </p:txBody>
      </p:sp>
      <p:sp>
        <p:nvSpPr>
          <p:cNvPr id="37" name="connector-344"/>
          <p:cNvSpPr/>
          <p:nvPr/>
        </p:nvSpPr>
        <p:spPr>
          <a:xfrm flipH="1">
            <a:off x="2948940" y="4096512"/>
            <a:ext cx="1234440" cy="0"/>
          </a:xfrm>
          <a:prstGeom prst="line">
            <a:avLst/>
          </a:prstGeom>
          <a:noFill/>
          <a:ln w="19050">
            <a:solidFill>
              <a:srgbClr val="D9822B"/>
            </a:solidFill>
            <a:prstDash val="dash"/>
          </a:ln>
        </p:spPr>
      </p:sp>
      <p:sp>
        <p:nvSpPr>
          <p:cNvPr id="38" name="connector-345"/>
          <p:cNvSpPr/>
          <p:nvPr/>
        </p:nvSpPr>
        <p:spPr>
          <a:xfrm flipV="1">
            <a:off x="2948940" y="3465576"/>
            <a:ext cx="0" cy="630936"/>
          </a:xfrm>
          <a:prstGeom prst="line">
            <a:avLst/>
          </a:prstGeom>
          <a:noFill/>
          <a:ln w="19050">
            <a:solidFill>
              <a:srgbClr val="D9822B"/>
            </a:solidFill>
            <a:prstDash val="dash"/>
            <a:tailEnd type="triangle"/>
          </a:ln>
        </p:spPr>
      </p:sp>
      <p:sp>
        <p:nvSpPr>
          <p:cNvPr id="39" name="flow-label-346"/>
          <p:cNvSpPr txBox="1"/>
          <p:nvPr/>
        </p:nvSpPr>
        <p:spPr>
          <a:xfrm>
            <a:off x="3017520" y="3858768"/>
            <a:ext cx="548640" cy="219456"/>
          </a:xfrm>
          <a:prstGeom prst="rect">
            <a:avLst/>
          </a:prstGeom>
          <a:noFill/>
          <a:ln/>
        </p:spPr>
        <p:txBody>
          <a:bodyPr wrap="square" lIns="0" tIns="0" rIns="0" bIns="0" rtlCol="0" anchor="ctr"/>
          <a:lstStyle/>
          <a:p>
            <a:pPr algn="l" indent="0" marL="0">
              <a:buNone/>
            </a:pPr>
            <a:r>
              <a:rPr lang="en-US" sz="850" b="1" dirty="0">
                <a:solidFill>
                  <a:srgbClr val="D9822B"/>
                </a:solidFill>
              </a:rPr>
              <a:t>Tidak</a:t>
            </a:r>
            <a:endParaRPr lang="en-US" sz="850" dirty="0"/>
          </a:p>
        </p:txBody>
      </p:sp>
      <p:sp>
        <p:nvSpPr>
          <p:cNvPr id="40" name="connector-347"/>
          <p:cNvSpPr/>
          <p:nvPr/>
        </p:nvSpPr>
        <p:spPr>
          <a:xfrm flipV="1">
            <a:off x="2948940" y="2596896"/>
            <a:ext cx="0" cy="265176"/>
          </a:xfrm>
          <a:prstGeom prst="line">
            <a:avLst/>
          </a:prstGeom>
          <a:noFill/>
          <a:ln w="19050">
            <a:solidFill>
              <a:srgbClr val="D9822B"/>
            </a:solidFill>
            <a:prstDash val="dash"/>
            <a:tailEnd type="triangle"/>
          </a:ln>
        </p:spPr>
      </p:sp>
      <p:sp>
        <p:nvSpPr>
          <p:cNvPr id="41" name="panel-348"/>
          <p:cNvSpPr/>
          <p:nvPr/>
        </p:nvSpPr>
        <p:spPr>
          <a:xfrm>
            <a:off x="7863840" y="1783080"/>
            <a:ext cx="3779215" cy="3712464"/>
          </a:xfrm>
          <a:prstGeom prst="rect">
            <a:avLst/>
          </a:prstGeom>
          <a:solidFill>
            <a:srgbClr val="F2F4F7"/>
          </a:solidFill>
          <a:ln w="6350">
            <a:solidFill>
              <a:srgbClr val="CDD5DF"/>
            </a:solidFill>
            <a:prstDash val="solid"/>
          </a:ln>
        </p:spPr>
      </p:sp>
      <p:sp>
        <p:nvSpPr>
          <p:cNvPr id="42" name="panel-title-349"/>
          <p:cNvSpPr txBox="1"/>
          <p:nvPr/>
        </p:nvSpPr>
        <p:spPr>
          <a:xfrm>
            <a:off x="8028432" y="1892808"/>
            <a:ext cx="3450031" cy="256032"/>
          </a:xfrm>
          <a:prstGeom prst="rect">
            <a:avLst/>
          </a:prstGeom>
          <a:noFill/>
          <a:ln/>
        </p:spPr>
        <p:txBody>
          <a:bodyPr wrap="square" lIns="0" tIns="0" rIns="0" bIns="0" rtlCol="0" anchor="ctr"/>
          <a:lstStyle/>
          <a:p>
            <a:pPr indent="0" marL="0">
              <a:buNone/>
            </a:pPr>
            <a:r>
              <a:rPr lang="en-US" sz="950" b="1" spc="100" kern="0" dirty="0">
                <a:solidFill>
                  <a:srgbClr val="0E2F56"/>
                </a:solidFill>
              </a:rPr>
              <a:t>ATURAN</a:t>
            </a:r>
            <a:endParaRPr lang="en-US" sz="950" dirty="0"/>
          </a:p>
        </p:txBody>
      </p:sp>
      <p:sp>
        <p:nvSpPr>
          <p:cNvPr id="43" name="panel-body-350"/>
          <p:cNvSpPr txBox="1"/>
          <p:nvPr/>
        </p:nvSpPr>
        <p:spPr>
          <a:xfrm>
            <a:off x="8028432" y="2194560"/>
            <a:ext cx="3450031" cy="3209544"/>
          </a:xfrm>
          <a:prstGeom prst="rect">
            <a:avLst/>
          </a:prstGeom>
          <a:noFill/>
          <a:ln/>
        </p:spPr>
        <p:txBody>
          <a:bodyPr wrap="square" lIns="0" tIns="0" rIns="0" bIns="0" rtlCol="0" anchor="t"/>
          <a:lstStyle/>
          <a:p>
            <a:pPr marL="152400" indent="-152400">
              <a:spcAft>
                <a:spcPts val="500"/>
              </a:spcAft>
              <a:buSzPct val="100000"/>
              <a:buChar char="•"/>
            </a:pPr>
            <a:r>
              <a:rPr lang="en-US" sz="1000" dirty="0">
                <a:solidFill>
                  <a:srgbClr val="1F2D3D"/>
                </a:solidFill>
              </a:rPr>
              <a:t>Tombol Ajukan Amandemen muncul setelah dokumen kontrak (SPK, Surat Perjanjian, atau Surat Pesanan) dibuat, sampai pengadaan selesai; tidak saat Batal.</a:t>
            </a:r>
            <a:endParaRPr lang="en-US" sz="1000" dirty="0"/>
          </a:p>
          <a:p>
            <a:pPr marL="152400" indent="-152400">
              <a:spcAft>
                <a:spcPts val="500"/>
              </a:spcAft>
              <a:buSzPct val="100000"/>
              <a:buChar char="•"/>
            </a:pPr>
            <a:r>
              <a:rPr lang="en-US" sz="1000" dirty="0">
                <a:solidFill>
                  <a:srgbClr val="1F2D3D"/>
                </a:solidFill>
              </a:rPr>
              <a:t>Hanya satu amandemen terbuka sekaligus; bisa berulang (Amandemen I, II, ...).</a:t>
            </a:r>
            <a:endParaRPr lang="en-US" sz="1000" dirty="0"/>
          </a:p>
          <a:p>
            <a:pPr marL="152400" indent="-152400">
              <a:spcAft>
                <a:spcPts val="500"/>
              </a:spcAft>
              <a:buSzPct val="100000"/>
              <a:buChar char="•"/>
            </a:pPr>
            <a:r>
              <a:rPr lang="en-US" sz="1000" dirty="0">
                <a:solidFill>
                  <a:srgbClr val="1F2D3D"/>
                </a:solidFill>
              </a:rPr>
              <a:t>Laksdan: PIC Pelaksana pengadaan itu, TL Pengadaan, atau Administrator.</a:t>
            </a:r>
            <a:endParaRPr lang="en-US" sz="1000" dirty="0"/>
          </a:p>
          <a:p>
            <a:pPr marL="152400" indent="-152400">
              <a:spcAft>
                <a:spcPts val="500"/>
              </a:spcAft>
              <a:buSzPct val="100000"/>
              <a:buChar char="•"/>
            </a:pPr>
            <a:r>
              <a:rPr lang="en-US" sz="1000" dirty="0">
                <a:solidFill>
                  <a:srgbClr val="1F2D3D"/>
                </a:solidFill>
              </a:rPr>
              <a:t>Tidak ada yang memutuskan permohonannya sendiri.</a:t>
            </a:r>
            <a:endParaRPr lang="en-US" sz="1000" dirty="0"/>
          </a:p>
        </p:txBody>
      </p:sp>
      <p:sp>
        <p:nvSpPr>
          <p:cNvPr id="44" name="status-strip-351"/>
          <p:cNvSpPr/>
          <p:nvPr/>
        </p:nvSpPr>
        <p:spPr>
          <a:xfrm>
            <a:off x="548640" y="5733288"/>
            <a:ext cx="11094415" cy="457200"/>
          </a:xfrm>
          <a:prstGeom prst="rect">
            <a:avLst/>
          </a:prstGeom>
          <a:solidFill>
            <a:srgbClr val="FFFFFF"/>
          </a:solidFill>
          <a:ln w="9525">
            <a:solidFill>
              <a:srgbClr val="CDD5DF"/>
            </a:solidFill>
            <a:prstDash val="solid"/>
          </a:ln>
        </p:spPr>
      </p:sp>
      <p:sp>
        <p:nvSpPr>
          <p:cNvPr id="45" name="status-mark-352"/>
          <p:cNvSpPr/>
          <p:nvPr/>
        </p:nvSpPr>
        <p:spPr>
          <a:xfrm>
            <a:off x="548640" y="5733288"/>
            <a:ext cx="73152" cy="457200"/>
          </a:xfrm>
          <a:prstGeom prst="rect">
            <a:avLst/>
          </a:prstGeom>
          <a:solidFill>
            <a:srgbClr val="1F6FB2"/>
          </a:solidFill>
          <a:ln w="12700">
            <a:solidFill>
              <a:srgbClr val="1F6FB2"/>
            </a:solidFill>
            <a:prstDash val="solid"/>
          </a:ln>
        </p:spPr>
      </p:sp>
      <p:sp>
        <p:nvSpPr>
          <p:cNvPr id="46" name="status-text-353"/>
          <p:cNvSpPr txBox="1"/>
          <p:nvPr/>
        </p:nvSpPr>
        <p:spPr>
          <a:xfrm>
            <a:off x="749808" y="5733288"/>
            <a:ext cx="10820095" cy="457200"/>
          </a:xfrm>
          <a:prstGeom prst="rect">
            <a:avLst/>
          </a:prstGeom>
          <a:noFill/>
          <a:ln/>
        </p:spPr>
        <p:txBody>
          <a:bodyPr wrap="square" lIns="0" tIns="0" rIns="0" bIns="0" rtlCol="0" anchor="ctr"/>
          <a:lstStyle/>
          <a:p>
            <a:pPr indent="0" marL="0">
              <a:buNone/>
            </a:pPr>
            <a:r>
              <a:rPr lang="en-US" sz="1000" dirty="0">
                <a:solidFill>
                  <a:srgbClr val="1F2D3D"/>
                </a:solidFill>
              </a:rPr>
              <a:t>Indikator tahapan:  Pengusul  &gt;  TL  &gt;  Asman  &gt;  Laksdan  &gt;  Terbit          Keputusan tercatat di Riwayat Approval.</a:t>
            </a:r>
            <a:endParaRPr lang="en-US" sz="1000" dirty="0"/>
          </a:p>
        </p:txBody>
      </p:sp>
      <p:sp>
        <p:nvSpPr>
          <p:cNvPr id="25" name="Slide Number Placeholder 0"/>
          <p:cNvSpPr>
            <a:spLocks noGrp="1"/>
          </p:cNvSpPr>
          <p:nvPr>
            <p:ph type="sldNum" sz="quarter" idx="4294967295"/>
          </p:nvPr>
        </p:nvSpPr>
        <p:spPr>
          <a:xfrm>
            <a:off x="11094415" y="646480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title" hasCustomPrompt="1"/>
          </p:nvPr>
        </p:nvSpPr>
        <p:spPr>
          <a:xfrm>
            <a:off x="548640" y="896112"/>
            <a:ext cx="7680960" cy="502920"/>
          </a:xfrm>
          <a:prstGeom prst="rect">
            <a:avLst/>
          </a:prstGeom>
          <a:noFill/>
          <a:ln/>
        </p:spPr>
        <p:txBody>
          <a:bodyPr wrap="square" lIns="0" tIns="0" rIns="0" bIns="0" rtlCol="0" anchor="ctr"/>
          <a:lstStyle/>
          <a:p>
            <a:pPr algn="l" indent="0" marL="0">
              <a:buNone/>
            </a:pPr>
            <a:r>
              <a:rPr lang="en-US" sz="2400" b="1" dirty="0">
                <a:solidFill>
                  <a:srgbClr val="0E2F56"/>
                </a:solidFill>
              </a:rPr>
              <a:t>Proses pendukung  Delivery Order (Kontrak KHS)</a:t>
            </a:r>
            <a:endParaRPr lang="en-US" sz="2400" dirty="0"/>
          </a:p>
        </p:txBody>
      </p:sp>
      <p:sp>
        <p:nvSpPr>
          <p:cNvPr id="3" name="Text 2"/>
          <p:cNvSpPr/>
          <p:nvPr>
            <p:ph idx="103" type="body" hasCustomPrompt="1"/>
          </p:nvPr>
        </p:nvSpPr>
        <p:spPr>
          <a:xfrm>
            <a:off x="548640" y="1371600"/>
            <a:ext cx="7680960" cy="292608"/>
          </a:xfrm>
          <a:prstGeom prst="rect">
            <a:avLst/>
          </a:prstGeom>
          <a:noFill/>
          <a:ln/>
        </p:spPr>
        <p:txBody>
          <a:bodyPr wrap="square" lIns="0" tIns="0" rIns="0" bIns="0" rtlCol="0" anchor="t"/>
          <a:lstStyle/>
          <a:p>
            <a:pPr algn="l" indent="0" marL="0">
              <a:buNone/>
            </a:pPr>
            <a:r>
              <a:rPr lang="en-US" sz="1200" dirty="0">
                <a:solidFill>
                  <a:srgbClr val="5B6B7C"/>
                </a:solidFill>
              </a:rPr>
              <a:t>Tab DO hanya muncul untuk format SPK / PJ dengan jenis kontrak KHS, setelah dokumen kontrak dibuat.</a:t>
            </a:r>
            <a:endParaRPr lang="en-US" sz="1200" dirty="0"/>
          </a:p>
        </p:txBody>
      </p:sp>
      <p:sp>
        <p:nvSpPr>
          <p:cNvPr id="4" name="lane-354"/>
          <p:cNvSpPr/>
          <p:nvPr/>
        </p:nvSpPr>
        <p:spPr>
          <a:xfrm>
            <a:off x="548640" y="1783080"/>
            <a:ext cx="7315200" cy="731520"/>
          </a:xfrm>
          <a:prstGeom prst="rect">
            <a:avLst/>
          </a:prstGeom>
          <a:solidFill>
            <a:srgbClr val="F2F4F7"/>
          </a:solidFill>
          <a:ln w="6350">
            <a:solidFill>
              <a:srgbClr val="CDD5DF"/>
            </a:solidFill>
            <a:prstDash val="solid"/>
          </a:ln>
        </p:spPr>
      </p:sp>
      <p:sp>
        <p:nvSpPr>
          <p:cNvPr id="5" name="lane-head-355"/>
          <p:cNvSpPr/>
          <p:nvPr/>
        </p:nvSpPr>
        <p:spPr>
          <a:xfrm>
            <a:off x="548640" y="1783080"/>
            <a:ext cx="1325880" cy="731520"/>
          </a:xfrm>
          <a:prstGeom prst="rect">
            <a:avLst/>
          </a:prstGeom>
          <a:solidFill>
            <a:srgbClr val="0E2F56"/>
          </a:solidFill>
          <a:ln w="6350">
            <a:solidFill>
              <a:srgbClr val="0E2F56"/>
            </a:solidFill>
            <a:prstDash val="solid"/>
          </a:ln>
        </p:spPr>
      </p:sp>
      <p:sp>
        <p:nvSpPr>
          <p:cNvPr id="6" name="lane-name-356"/>
          <p:cNvSpPr txBox="1"/>
          <p:nvPr/>
        </p:nvSpPr>
        <p:spPr>
          <a:xfrm>
            <a:off x="621792" y="1783080"/>
            <a:ext cx="1179576" cy="731520"/>
          </a:xfrm>
          <a:prstGeom prst="rect">
            <a:avLst/>
          </a:prstGeom>
          <a:noFill/>
          <a:ln/>
        </p:spPr>
        <p:txBody>
          <a:bodyPr wrap="square" lIns="0" tIns="0" rIns="0" bIns="0" rtlCol="0" anchor="ctr"/>
          <a:lstStyle/>
          <a:p>
            <a:pPr algn="l" indent="0" marL="0">
              <a:buNone/>
            </a:pPr>
            <a:r>
              <a:rPr lang="en-US" sz="1000" b="1" dirty="0">
                <a:solidFill>
                  <a:srgbClr val="FFFFFF"/>
                </a:solidFill>
              </a:rPr>
              <a:t>Pengusul</a:t>
            </a:r>
            <a:endParaRPr lang="en-US" sz="1000" dirty="0"/>
          </a:p>
        </p:txBody>
      </p:sp>
      <p:sp>
        <p:nvSpPr>
          <p:cNvPr id="7" name="lane-357"/>
          <p:cNvSpPr/>
          <p:nvPr/>
        </p:nvSpPr>
        <p:spPr>
          <a:xfrm>
            <a:off x="548640" y="2542032"/>
            <a:ext cx="7315200" cy="731520"/>
          </a:xfrm>
          <a:prstGeom prst="rect">
            <a:avLst/>
          </a:prstGeom>
          <a:solidFill>
            <a:srgbClr val="FFFFFF"/>
          </a:solidFill>
          <a:ln w="6350">
            <a:solidFill>
              <a:srgbClr val="CDD5DF"/>
            </a:solidFill>
            <a:prstDash val="solid"/>
          </a:ln>
        </p:spPr>
      </p:sp>
      <p:sp>
        <p:nvSpPr>
          <p:cNvPr id="8" name="lane-head-358"/>
          <p:cNvSpPr/>
          <p:nvPr/>
        </p:nvSpPr>
        <p:spPr>
          <a:xfrm>
            <a:off x="548640" y="2542032"/>
            <a:ext cx="1325880" cy="731520"/>
          </a:xfrm>
          <a:prstGeom prst="rect">
            <a:avLst/>
          </a:prstGeom>
          <a:solidFill>
            <a:srgbClr val="0E2F56"/>
          </a:solidFill>
          <a:ln w="6350">
            <a:solidFill>
              <a:srgbClr val="0E2F56"/>
            </a:solidFill>
            <a:prstDash val="solid"/>
          </a:ln>
        </p:spPr>
      </p:sp>
      <p:sp>
        <p:nvSpPr>
          <p:cNvPr id="9" name="lane-name-359"/>
          <p:cNvSpPr txBox="1"/>
          <p:nvPr/>
        </p:nvSpPr>
        <p:spPr>
          <a:xfrm>
            <a:off x="621792" y="2542032"/>
            <a:ext cx="1179576" cy="731520"/>
          </a:xfrm>
          <a:prstGeom prst="rect">
            <a:avLst/>
          </a:prstGeom>
          <a:noFill/>
          <a:ln/>
        </p:spPr>
        <p:txBody>
          <a:bodyPr wrap="square" lIns="0" tIns="0" rIns="0" bIns="0" rtlCol="0" anchor="ctr"/>
          <a:lstStyle/>
          <a:p>
            <a:pPr algn="l" indent="0" marL="0">
              <a:buNone/>
            </a:pPr>
            <a:r>
              <a:rPr lang="en-US" sz="1000" b="1" dirty="0">
                <a:solidFill>
                  <a:srgbClr val="FFFFFF"/>
                </a:solidFill>
              </a:rPr>
              <a:t>TL Atasan</a:t>
            </a:r>
            <a:endParaRPr lang="en-US" sz="1000" dirty="0"/>
          </a:p>
        </p:txBody>
      </p:sp>
      <p:sp>
        <p:nvSpPr>
          <p:cNvPr id="10" name="lane-360"/>
          <p:cNvSpPr/>
          <p:nvPr/>
        </p:nvSpPr>
        <p:spPr>
          <a:xfrm>
            <a:off x="548640" y="3300984"/>
            <a:ext cx="7315200" cy="731520"/>
          </a:xfrm>
          <a:prstGeom prst="rect">
            <a:avLst/>
          </a:prstGeom>
          <a:solidFill>
            <a:srgbClr val="F2F4F7"/>
          </a:solidFill>
          <a:ln w="6350">
            <a:solidFill>
              <a:srgbClr val="CDD5DF"/>
            </a:solidFill>
            <a:prstDash val="solid"/>
          </a:ln>
        </p:spPr>
      </p:sp>
      <p:sp>
        <p:nvSpPr>
          <p:cNvPr id="11" name="lane-head-361"/>
          <p:cNvSpPr/>
          <p:nvPr/>
        </p:nvSpPr>
        <p:spPr>
          <a:xfrm>
            <a:off x="548640" y="3300984"/>
            <a:ext cx="1325880" cy="731520"/>
          </a:xfrm>
          <a:prstGeom prst="rect">
            <a:avLst/>
          </a:prstGeom>
          <a:solidFill>
            <a:srgbClr val="0E2F56"/>
          </a:solidFill>
          <a:ln w="6350">
            <a:solidFill>
              <a:srgbClr val="0E2F56"/>
            </a:solidFill>
            <a:prstDash val="solid"/>
          </a:ln>
        </p:spPr>
      </p:sp>
      <p:sp>
        <p:nvSpPr>
          <p:cNvPr id="12" name="lane-name-362"/>
          <p:cNvSpPr txBox="1"/>
          <p:nvPr/>
        </p:nvSpPr>
        <p:spPr>
          <a:xfrm>
            <a:off x="621792" y="3300984"/>
            <a:ext cx="1179576" cy="731520"/>
          </a:xfrm>
          <a:prstGeom prst="rect">
            <a:avLst/>
          </a:prstGeom>
          <a:noFill/>
          <a:ln/>
        </p:spPr>
        <p:txBody>
          <a:bodyPr wrap="square" lIns="0" tIns="0" rIns="0" bIns="0" rtlCol="0" anchor="ctr"/>
          <a:lstStyle/>
          <a:p>
            <a:pPr algn="l" indent="0" marL="0">
              <a:buNone/>
            </a:pPr>
            <a:r>
              <a:rPr lang="en-US" sz="1000" b="1" dirty="0">
                <a:solidFill>
                  <a:srgbClr val="FFFFFF"/>
                </a:solidFill>
              </a:rPr>
              <a:t>Direksi Pekerjaan (Asman)</a:t>
            </a:r>
            <a:endParaRPr lang="en-US" sz="1000" dirty="0"/>
          </a:p>
        </p:txBody>
      </p:sp>
      <p:sp>
        <p:nvSpPr>
          <p:cNvPr id="13" name="lane-363"/>
          <p:cNvSpPr/>
          <p:nvPr/>
        </p:nvSpPr>
        <p:spPr>
          <a:xfrm>
            <a:off x="548640" y="4059936"/>
            <a:ext cx="7315200" cy="731520"/>
          </a:xfrm>
          <a:prstGeom prst="rect">
            <a:avLst/>
          </a:prstGeom>
          <a:solidFill>
            <a:srgbClr val="FFFFFF"/>
          </a:solidFill>
          <a:ln w="6350">
            <a:solidFill>
              <a:srgbClr val="CDD5DF"/>
            </a:solidFill>
            <a:prstDash val="solid"/>
          </a:ln>
        </p:spPr>
      </p:sp>
      <p:sp>
        <p:nvSpPr>
          <p:cNvPr id="14" name="lane-head-364"/>
          <p:cNvSpPr/>
          <p:nvPr/>
        </p:nvSpPr>
        <p:spPr>
          <a:xfrm>
            <a:off x="548640" y="4059936"/>
            <a:ext cx="1325880" cy="731520"/>
          </a:xfrm>
          <a:prstGeom prst="rect">
            <a:avLst/>
          </a:prstGeom>
          <a:solidFill>
            <a:srgbClr val="0E2F56"/>
          </a:solidFill>
          <a:ln w="6350">
            <a:solidFill>
              <a:srgbClr val="0E2F56"/>
            </a:solidFill>
            <a:prstDash val="solid"/>
          </a:ln>
        </p:spPr>
      </p:sp>
      <p:sp>
        <p:nvSpPr>
          <p:cNvPr id="15" name="lane-name-365"/>
          <p:cNvSpPr txBox="1"/>
          <p:nvPr/>
        </p:nvSpPr>
        <p:spPr>
          <a:xfrm>
            <a:off x="621792" y="4059936"/>
            <a:ext cx="1179576" cy="731520"/>
          </a:xfrm>
          <a:prstGeom prst="rect">
            <a:avLst/>
          </a:prstGeom>
          <a:noFill/>
          <a:ln/>
        </p:spPr>
        <p:txBody>
          <a:bodyPr wrap="square" lIns="0" tIns="0" rIns="0" bIns="0" rtlCol="0" anchor="ctr"/>
          <a:lstStyle/>
          <a:p>
            <a:pPr algn="l" indent="0" marL="0">
              <a:buNone/>
            </a:pPr>
            <a:r>
              <a:rPr lang="en-US" sz="1000" b="1" dirty="0">
                <a:solidFill>
                  <a:srgbClr val="FFFFFF"/>
                </a:solidFill>
              </a:rPr>
              <a:t>Rendan</a:t>
            </a:r>
            <a:endParaRPr lang="en-US" sz="1000" dirty="0"/>
          </a:p>
        </p:txBody>
      </p:sp>
      <p:sp>
        <p:nvSpPr>
          <p:cNvPr id="16" name="lane-366"/>
          <p:cNvSpPr/>
          <p:nvPr/>
        </p:nvSpPr>
        <p:spPr>
          <a:xfrm>
            <a:off x="548640" y="4818888"/>
            <a:ext cx="7315200" cy="731520"/>
          </a:xfrm>
          <a:prstGeom prst="rect">
            <a:avLst/>
          </a:prstGeom>
          <a:solidFill>
            <a:srgbClr val="F2F4F7"/>
          </a:solidFill>
          <a:ln w="6350">
            <a:solidFill>
              <a:srgbClr val="CDD5DF"/>
            </a:solidFill>
            <a:prstDash val="solid"/>
          </a:ln>
        </p:spPr>
      </p:sp>
      <p:sp>
        <p:nvSpPr>
          <p:cNvPr id="17" name="lane-head-367"/>
          <p:cNvSpPr/>
          <p:nvPr/>
        </p:nvSpPr>
        <p:spPr>
          <a:xfrm>
            <a:off x="548640" y="4818888"/>
            <a:ext cx="1325880" cy="731520"/>
          </a:xfrm>
          <a:prstGeom prst="rect">
            <a:avLst/>
          </a:prstGeom>
          <a:solidFill>
            <a:srgbClr val="0E2F56"/>
          </a:solidFill>
          <a:ln w="6350">
            <a:solidFill>
              <a:srgbClr val="0E2F56"/>
            </a:solidFill>
            <a:prstDash val="solid"/>
          </a:ln>
        </p:spPr>
      </p:sp>
      <p:sp>
        <p:nvSpPr>
          <p:cNvPr id="18" name="lane-name-368"/>
          <p:cNvSpPr txBox="1"/>
          <p:nvPr/>
        </p:nvSpPr>
        <p:spPr>
          <a:xfrm>
            <a:off x="621792" y="4818888"/>
            <a:ext cx="1179576" cy="731520"/>
          </a:xfrm>
          <a:prstGeom prst="rect">
            <a:avLst/>
          </a:prstGeom>
          <a:noFill/>
          <a:ln/>
        </p:spPr>
        <p:txBody>
          <a:bodyPr wrap="square" lIns="0" tIns="0" rIns="0" bIns="0" rtlCol="0" anchor="ctr"/>
          <a:lstStyle/>
          <a:p>
            <a:pPr algn="l" indent="0" marL="0">
              <a:buNone/>
            </a:pPr>
            <a:r>
              <a:rPr lang="en-US" sz="1000" b="1" dirty="0">
                <a:solidFill>
                  <a:srgbClr val="FFFFFF"/>
                </a:solidFill>
              </a:rPr>
              <a:t>Laksdan</a:t>
            </a:r>
            <a:endParaRPr lang="en-US" sz="1000" dirty="0"/>
          </a:p>
        </p:txBody>
      </p:sp>
      <p:sp>
        <p:nvSpPr>
          <p:cNvPr id="19" name="node-process-369"/>
          <p:cNvSpPr/>
          <p:nvPr/>
        </p:nvSpPr>
        <p:spPr>
          <a:xfrm>
            <a:off x="2057400" y="1847088"/>
            <a:ext cx="1965960" cy="603504"/>
          </a:xfrm>
          <a:prstGeom prst="rect">
            <a:avLst/>
          </a:prstGeom>
          <a:solidFill>
            <a:srgbClr val="E7F0FA"/>
          </a:solidFill>
          <a:ln w="15875">
            <a:solidFill>
              <a:srgbClr val="1F6FB2"/>
            </a:solidFill>
            <a:prstDash val="solid"/>
          </a:ln>
        </p:spPr>
      </p:sp>
      <p:sp>
        <p:nvSpPr>
          <p:cNvPr id="20" name="node-text-370"/>
          <p:cNvSpPr txBox="1"/>
          <p:nvPr/>
        </p:nvSpPr>
        <p:spPr>
          <a:xfrm>
            <a:off x="2112264" y="1847088"/>
            <a:ext cx="1856232" cy="603504"/>
          </a:xfrm>
          <a:prstGeom prst="rect">
            <a:avLst/>
          </a:prstGeom>
          <a:noFill/>
          <a:ln/>
        </p:spPr>
        <p:txBody>
          <a:bodyPr wrap="square" lIns="0" tIns="0" rIns="0" bIns="0" rtlCol="0" anchor="ctr"/>
          <a:lstStyle/>
          <a:p>
            <a:pPr algn="ctr" indent="0" marL="0">
              <a:buNone/>
            </a:pPr>
            <a:r>
              <a:rPr lang="en-US" sz="850" dirty="0">
                <a:solidFill>
                  <a:srgbClr val="1F2D3D"/>
                </a:solidFill>
              </a:rPr>
              <a:t>No/tgl Nota Dinas usulan, unggah; pilih item dan volume dari Daftar Harga</a:t>
            </a:r>
            <a:endParaRPr lang="en-US" sz="850" dirty="0"/>
          </a:p>
        </p:txBody>
      </p:sp>
      <p:sp>
        <p:nvSpPr>
          <p:cNvPr id="21" name="decision-371"/>
          <p:cNvSpPr/>
          <p:nvPr/>
        </p:nvSpPr>
        <p:spPr>
          <a:xfrm>
            <a:off x="4366260" y="2587752"/>
            <a:ext cx="1051560" cy="640080"/>
          </a:xfrm>
          <a:prstGeom prst="diamond">
            <a:avLst/>
          </a:prstGeom>
          <a:solidFill>
            <a:srgbClr val="FFFFFF"/>
          </a:solidFill>
          <a:ln w="19050">
            <a:solidFill>
              <a:srgbClr val="0E2F56"/>
            </a:solidFill>
            <a:prstDash val="solid"/>
          </a:ln>
        </p:spPr>
      </p:sp>
      <p:sp>
        <p:nvSpPr>
          <p:cNvPr id="22" name="decision-text-372"/>
          <p:cNvSpPr txBox="1"/>
          <p:nvPr/>
        </p:nvSpPr>
        <p:spPr>
          <a:xfrm>
            <a:off x="4503420" y="2587752"/>
            <a:ext cx="777240" cy="640080"/>
          </a:xfrm>
          <a:prstGeom prst="rect">
            <a:avLst/>
          </a:prstGeom>
          <a:noFill/>
          <a:ln/>
        </p:spPr>
        <p:txBody>
          <a:bodyPr wrap="square" lIns="0" tIns="0" rIns="0" bIns="0" rtlCol="0" anchor="ctr"/>
          <a:lstStyle/>
          <a:p>
            <a:pPr algn="ctr" indent="0" marL="0">
              <a:buNone/>
            </a:pPr>
            <a:r>
              <a:rPr lang="en-US" sz="850" b="1" dirty="0">
                <a:solidFill>
                  <a:srgbClr val="0E2F56"/>
                </a:solidFill>
              </a:rPr>
              <a:t>TL setujui?</a:t>
            </a:r>
            <a:endParaRPr lang="en-US" sz="850" dirty="0"/>
          </a:p>
        </p:txBody>
      </p:sp>
      <p:sp>
        <p:nvSpPr>
          <p:cNvPr id="23" name="connector-373"/>
          <p:cNvSpPr/>
          <p:nvPr/>
        </p:nvSpPr>
        <p:spPr>
          <a:xfrm>
            <a:off x="4023360" y="2148840"/>
            <a:ext cx="868680" cy="0"/>
          </a:xfrm>
          <a:prstGeom prst="line">
            <a:avLst/>
          </a:prstGeom>
          <a:noFill/>
          <a:ln w="19050">
            <a:solidFill>
              <a:srgbClr val="1F6FB2"/>
            </a:solidFill>
            <a:prstDash val="solid"/>
          </a:ln>
        </p:spPr>
      </p:sp>
      <p:sp>
        <p:nvSpPr>
          <p:cNvPr id="24" name="connector-374"/>
          <p:cNvSpPr/>
          <p:nvPr/>
        </p:nvSpPr>
        <p:spPr>
          <a:xfrm>
            <a:off x="4892040" y="2148840"/>
            <a:ext cx="0" cy="438912"/>
          </a:xfrm>
          <a:prstGeom prst="line">
            <a:avLst/>
          </a:prstGeom>
          <a:noFill/>
          <a:ln w="19050">
            <a:solidFill>
              <a:srgbClr val="1F6FB2"/>
            </a:solidFill>
            <a:prstDash val="solid"/>
            <a:tailEnd type="triangle"/>
          </a:ln>
        </p:spPr>
      </p:sp>
      <p:sp>
        <p:nvSpPr>
          <p:cNvPr id="25" name="decision-375"/>
          <p:cNvSpPr/>
          <p:nvPr/>
        </p:nvSpPr>
        <p:spPr>
          <a:xfrm>
            <a:off x="4366260" y="3346704"/>
            <a:ext cx="1051560" cy="640080"/>
          </a:xfrm>
          <a:prstGeom prst="diamond">
            <a:avLst/>
          </a:prstGeom>
          <a:solidFill>
            <a:srgbClr val="FFFFFF"/>
          </a:solidFill>
          <a:ln w="19050">
            <a:solidFill>
              <a:srgbClr val="0E2F56"/>
            </a:solidFill>
            <a:prstDash val="solid"/>
          </a:ln>
        </p:spPr>
      </p:sp>
      <p:sp>
        <p:nvSpPr>
          <p:cNvPr id="26" name="decision-text-376"/>
          <p:cNvSpPr txBox="1"/>
          <p:nvPr/>
        </p:nvSpPr>
        <p:spPr>
          <a:xfrm>
            <a:off x="4503420" y="3346704"/>
            <a:ext cx="777240" cy="640080"/>
          </a:xfrm>
          <a:prstGeom prst="rect">
            <a:avLst/>
          </a:prstGeom>
          <a:noFill/>
          <a:ln/>
        </p:spPr>
        <p:txBody>
          <a:bodyPr wrap="square" lIns="0" tIns="0" rIns="0" bIns="0" rtlCol="0" anchor="ctr"/>
          <a:lstStyle/>
          <a:p>
            <a:pPr algn="ctr" indent="0" marL="0">
              <a:buNone/>
            </a:pPr>
            <a:r>
              <a:rPr lang="en-US" sz="800" b="1" dirty="0">
                <a:solidFill>
                  <a:srgbClr val="0E2F56"/>
                </a:solidFill>
              </a:rPr>
              <a:t>Asman setujui?</a:t>
            </a:r>
            <a:endParaRPr lang="en-US" sz="800" dirty="0"/>
          </a:p>
        </p:txBody>
      </p:sp>
      <p:sp>
        <p:nvSpPr>
          <p:cNvPr id="27" name="connector-377"/>
          <p:cNvSpPr/>
          <p:nvPr/>
        </p:nvSpPr>
        <p:spPr>
          <a:xfrm>
            <a:off x="4892040" y="3227832"/>
            <a:ext cx="0" cy="118872"/>
          </a:xfrm>
          <a:prstGeom prst="line">
            <a:avLst/>
          </a:prstGeom>
          <a:noFill/>
          <a:ln w="19050">
            <a:solidFill>
              <a:srgbClr val="1F6FB2"/>
            </a:solidFill>
            <a:prstDash val="solid"/>
            <a:tailEnd type="triangle"/>
          </a:ln>
        </p:spPr>
      </p:sp>
      <p:sp>
        <p:nvSpPr>
          <p:cNvPr id="28" name="node-process-378"/>
          <p:cNvSpPr/>
          <p:nvPr/>
        </p:nvSpPr>
        <p:spPr>
          <a:xfrm>
            <a:off x="3931920" y="4151376"/>
            <a:ext cx="1920240" cy="548640"/>
          </a:xfrm>
          <a:prstGeom prst="rect">
            <a:avLst/>
          </a:prstGeom>
          <a:solidFill>
            <a:srgbClr val="E7F0FA"/>
          </a:solidFill>
          <a:ln w="15875">
            <a:solidFill>
              <a:srgbClr val="1F6FB2"/>
            </a:solidFill>
            <a:prstDash val="solid"/>
          </a:ln>
        </p:spPr>
      </p:sp>
      <p:sp>
        <p:nvSpPr>
          <p:cNvPr id="29" name="node-text-379"/>
          <p:cNvSpPr txBox="1"/>
          <p:nvPr/>
        </p:nvSpPr>
        <p:spPr>
          <a:xfrm>
            <a:off x="3986784" y="4151376"/>
            <a:ext cx="1810512" cy="548640"/>
          </a:xfrm>
          <a:prstGeom prst="rect">
            <a:avLst/>
          </a:prstGeom>
          <a:noFill/>
          <a:ln/>
        </p:spPr>
        <p:txBody>
          <a:bodyPr wrap="square" lIns="0" tIns="0" rIns="0" bIns="0" rtlCol="0" anchor="ctr"/>
          <a:lstStyle/>
          <a:p>
            <a:pPr algn="ctr" indent="0" marL="0">
              <a:buNone/>
            </a:pPr>
            <a:r>
              <a:rPr lang="en-US" sz="900" dirty="0">
                <a:solidFill>
                  <a:srgbClr val="1F2D3D"/>
                </a:solidFill>
              </a:rPr>
              <a:t>Isi no/tgl Nota Dinas DO, teruskan ke Laksdan</a:t>
            </a:r>
            <a:endParaRPr lang="en-US" sz="900" dirty="0"/>
          </a:p>
        </p:txBody>
      </p:sp>
      <p:sp>
        <p:nvSpPr>
          <p:cNvPr id="30" name="connector-380"/>
          <p:cNvSpPr/>
          <p:nvPr/>
        </p:nvSpPr>
        <p:spPr>
          <a:xfrm>
            <a:off x="4892040" y="3986784"/>
            <a:ext cx="0" cy="164592"/>
          </a:xfrm>
          <a:prstGeom prst="line">
            <a:avLst/>
          </a:prstGeom>
          <a:noFill/>
          <a:ln w="19050">
            <a:solidFill>
              <a:srgbClr val="1F6FB2"/>
            </a:solidFill>
            <a:prstDash val="solid"/>
            <a:tailEnd type="triangle"/>
          </a:ln>
        </p:spPr>
      </p:sp>
      <p:sp>
        <p:nvSpPr>
          <p:cNvPr id="31" name="node-process-381"/>
          <p:cNvSpPr/>
          <p:nvPr/>
        </p:nvSpPr>
        <p:spPr>
          <a:xfrm>
            <a:off x="3931920" y="4882896"/>
            <a:ext cx="1920240" cy="603504"/>
          </a:xfrm>
          <a:prstGeom prst="rect">
            <a:avLst/>
          </a:prstGeom>
          <a:solidFill>
            <a:srgbClr val="E7F0FA"/>
          </a:solidFill>
          <a:ln w="15875">
            <a:solidFill>
              <a:srgbClr val="1F6FB2"/>
            </a:solidFill>
            <a:prstDash val="solid"/>
          </a:ln>
        </p:spPr>
      </p:sp>
      <p:sp>
        <p:nvSpPr>
          <p:cNvPr id="32" name="node-text-382"/>
          <p:cNvSpPr txBox="1"/>
          <p:nvPr/>
        </p:nvSpPr>
        <p:spPr>
          <a:xfrm>
            <a:off x="3986784" y="4882896"/>
            <a:ext cx="1810512" cy="603504"/>
          </a:xfrm>
          <a:prstGeom prst="rect">
            <a:avLst/>
          </a:prstGeom>
          <a:noFill/>
          <a:ln/>
        </p:spPr>
        <p:txBody>
          <a:bodyPr wrap="square" lIns="0" tIns="0" rIns="0" bIns="0" rtlCol="0" anchor="ctr"/>
          <a:lstStyle/>
          <a:p>
            <a:pPr algn="ctr" indent="0" marL="0">
              <a:buNone/>
            </a:pPr>
            <a:r>
              <a:rPr lang="en-US" sz="850" dirty="0">
                <a:solidFill>
                  <a:srgbClr val="1F2D3D"/>
                </a:solidFill>
              </a:rPr>
              <a:t>Nomor DO otomatis; tanggal, kode rekanan, uraian, tempat dan waktu penyerahan</a:t>
            </a:r>
            <a:endParaRPr lang="en-US" sz="850" dirty="0"/>
          </a:p>
        </p:txBody>
      </p:sp>
      <p:sp>
        <p:nvSpPr>
          <p:cNvPr id="33" name="connector-383"/>
          <p:cNvSpPr/>
          <p:nvPr/>
        </p:nvSpPr>
        <p:spPr>
          <a:xfrm>
            <a:off x="4892040" y="4700016"/>
            <a:ext cx="0" cy="182880"/>
          </a:xfrm>
          <a:prstGeom prst="line">
            <a:avLst/>
          </a:prstGeom>
          <a:noFill/>
          <a:ln w="19050">
            <a:solidFill>
              <a:srgbClr val="1F6FB2"/>
            </a:solidFill>
            <a:prstDash val="solid"/>
            <a:tailEnd type="triangle"/>
          </a:ln>
        </p:spPr>
      </p:sp>
      <p:sp>
        <p:nvSpPr>
          <p:cNvPr id="34" name="node-done-384"/>
          <p:cNvSpPr/>
          <p:nvPr/>
        </p:nvSpPr>
        <p:spPr>
          <a:xfrm>
            <a:off x="6172200" y="4910328"/>
            <a:ext cx="1554480" cy="548640"/>
          </a:xfrm>
          <a:prstGeom prst="rect">
            <a:avLst/>
          </a:prstGeom>
          <a:solidFill>
            <a:srgbClr val="1E7B4F"/>
          </a:solidFill>
          <a:ln w="15875">
            <a:solidFill>
              <a:srgbClr val="1E7B4F"/>
            </a:solidFill>
            <a:prstDash val="solid"/>
          </a:ln>
        </p:spPr>
      </p:sp>
      <p:sp>
        <p:nvSpPr>
          <p:cNvPr id="35" name="node-text-385"/>
          <p:cNvSpPr txBox="1"/>
          <p:nvPr/>
        </p:nvSpPr>
        <p:spPr>
          <a:xfrm>
            <a:off x="6227064" y="4910328"/>
            <a:ext cx="1444752" cy="548640"/>
          </a:xfrm>
          <a:prstGeom prst="rect">
            <a:avLst/>
          </a:prstGeom>
          <a:noFill/>
          <a:ln/>
        </p:spPr>
        <p:txBody>
          <a:bodyPr wrap="square" lIns="0" tIns="0" rIns="0" bIns="0" rtlCol="0" anchor="ctr"/>
          <a:lstStyle/>
          <a:p>
            <a:pPr algn="ctr" indent="0" marL="0">
              <a:buNone/>
            </a:pPr>
            <a:r>
              <a:rPr lang="en-US" sz="950" b="1" dirty="0">
                <a:solidFill>
                  <a:srgbClr val="FFFFFF"/>
                </a:solidFill>
              </a:rPr>
              <a:t>Terbitkan: DO Terbit</a:t>
            </a:r>
            <a:endParaRPr lang="en-US" sz="950" dirty="0"/>
          </a:p>
        </p:txBody>
      </p:sp>
      <p:sp>
        <p:nvSpPr>
          <p:cNvPr id="36" name="connector-386"/>
          <p:cNvSpPr/>
          <p:nvPr/>
        </p:nvSpPr>
        <p:spPr>
          <a:xfrm>
            <a:off x="5852160" y="5184648"/>
            <a:ext cx="320040" cy="0"/>
          </a:xfrm>
          <a:prstGeom prst="line">
            <a:avLst/>
          </a:prstGeom>
          <a:noFill/>
          <a:ln w="19050">
            <a:solidFill>
              <a:srgbClr val="1E7B4F"/>
            </a:solidFill>
            <a:prstDash val="solid"/>
            <a:tailEnd type="triangle"/>
          </a:ln>
        </p:spPr>
      </p:sp>
      <p:sp>
        <p:nvSpPr>
          <p:cNvPr id="37" name="node-pre-387"/>
          <p:cNvSpPr/>
          <p:nvPr/>
        </p:nvSpPr>
        <p:spPr>
          <a:xfrm>
            <a:off x="2057400" y="4910328"/>
            <a:ext cx="1645920" cy="548640"/>
          </a:xfrm>
          <a:prstGeom prst="rect">
            <a:avLst/>
          </a:prstGeom>
          <a:solidFill>
            <a:srgbClr val="FFFFFF"/>
          </a:solidFill>
          <a:ln w="15875">
            <a:solidFill>
              <a:srgbClr val="5B6B7C"/>
            </a:solidFill>
            <a:prstDash val="dash"/>
          </a:ln>
        </p:spPr>
      </p:sp>
      <p:sp>
        <p:nvSpPr>
          <p:cNvPr id="38" name="node-text-388"/>
          <p:cNvSpPr txBox="1"/>
          <p:nvPr/>
        </p:nvSpPr>
        <p:spPr>
          <a:xfrm>
            <a:off x="2112264" y="4910328"/>
            <a:ext cx="1536192" cy="548640"/>
          </a:xfrm>
          <a:prstGeom prst="rect">
            <a:avLst/>
          </a:prstGeom>
          <a:noFill/>
          <a:ln/>
        </p:spPr>
        <p:txBody>
          <a:bodyPr wrap="square" lIns="0" tIns="0" rIns="0" bIns="0" rtlCol="0" anchor="ctr"/>
          <a:lstStyle/>
          <a:p>
            <a:pPr algn="ctr" indent="0" marL="0">
              <a:buNone/>
            </a:pPr>
            <a:r>
              <a:rPr lang="en-US" sz="850" dirty="0">
                <a:solidFill>
                  <a:srgbClr val="1F2D3D"/>
                </a:solidFill>
              </a:rPr>
              <a:t>Prasyarat: Daftar Harga Satuan Kontrak</a:t>
            </a:r>
            <a:endParaRPr lang="en-US" sz="850" dirty="0"/>
          </a:p>
        </p:txBody>
      </p:sp>
      <p:sp>
        <p:nvSpPr>
          <p:cNvPr id="39" name="node-revise-389"/>
          <p:cNvSpPr/>
          <p:nvPr/>
        </p:nvSpPr>
        <p:spPr>
          <a:xfrm>
            <a:off x="2057400" y="2633472"/>
            <a:ext cx="1965960" cy="548640"/>
          </a:xfrm>
          <a:prstGeom prst="rect">
            <a:avLst/>
          </a:prstGeom>
          <a:solidFill>
            <a:srgbClr val="FCEFE1"/>
          </a:solidFill>
          <a:ln w="15875">
            <a:solidFill>
              <a:srgbClr val="D9822B"/>
            </a:solidFill>
            <a:prstDash val="solid"/>
          </a:ln>
        </p:spPr>
      </p:sp>
      <p:sp>
        <p:nvSpPr>
          <p:cNvPr id="40" name="node-text-390"/>
          <p:cNvSpPr txBox="1"/>
          <p:nvPr/>
        </p:nvSpPr>
        <p:spPr>
          <a:xfrm>
            <a:off x="2112264" y="2633472"/>
            <a:ext cx="1856232" cy="548640"/>
          </a:xfrm>
          <a:prstGeom prst="rect">
            <a:avLst/>
          </a:prstGeom>
          <a:noFill/>
          <a:ln/>
        </p:spPr>
        <p:txBody>
          <a:bodyPr wrap="square" lIns="0" tIns="0" rIns="0" bIns="0" rtlCol="0" anchor="ctr"/>
          <a:lstStyle/>
          <a:p>
            <a:pPr algn="ctr" indent="0" marL="0">
              <a:buNone/>
            </a:pPr>
            <a:r>
              <a:rPr lang="en-US" sz="900" dirty="0">
                <a:solidFill>
                  <a:srgbClr val="1F2D3D"/>
                </a:solidFill>
              </a:rPr>
              <a:t>Dikembalikan; perbaiki lalu ajukan ulang</a:t>
            </a:r>
            <a:endParaRPr lang="en-US" sz="900" dirty="0"/>
          </a:p>
        </p:txBody>
      </p:sp>
      <p:sp>
        <p:nvSpPr>
          <p:cNvPr id="41" name="connector-391"/>
          <p:cNvSpPr/>
          <p:nvPr/>
        </p:nvSpPr>
        <p:spPr>
          <a:xfrm flipH="1">
            <a:off x="4023360" y="2907792"/>
            <a:ext cx="342900" cy="0"/>
          </a:xfrm>
          <a:prstGeom prst="line">
            <a:avLst/>
          </a:prstGeom>
          <a:noFill/>
          <a:ln w="19050">
            <a:solidFill>
              <a:srgbClr val="D9822B"/>
            </a:solidFill>
            <a:prstDash val="dash"/>
            <a:tailEnd type="triangle"/>
          </a:ln>
        </p:spPr>
      </p:sp>
      <p:sp>
        <p:nvSpPr>
          <p:cNvPr id="42" name="connector-392"/>
          <p:cNvSpPr/>
          <p:nvPr/>
        </p:nvSpPr>
        <p:spPr>
          <a:xfrm flipH="1">
            <a:off x="3040380" y="3666744"/>
            <a:ext cx="1325880" cy="0"/>
          </a:xfrm>
          <a:prstGeom prst="line">
            <a:avLst/>
          </a:prstGeom>
          <a:noFill/>
          <a:ln w="19050">
            <a:solidFill>
              <a:srgbClr val="D9822B"/>
            </a:solidFill>
            <a:prstDash val="dash"/>
          </a:ln>
        </p:spPr>
      </p:sp>
      <p:sp>
        <p:nvSpPr>
          <p:cNvPr id="43" name="connector-393"/>
          <p:cNvSpPr/>
          <p:nvPr/>
        </p:nvSpPr>
        <p:spPr>
          <a:xfrm flipV="1">
            <a:off x="3040380" y="3182112"/>
            <a:ext cx="0" cy="484632"/>
          </a:xfrm>
          <a:prstGeom prst="line">
            <a:avLst/>
          </a:prstGeom>
          <a:noFill/>
          <a:ln w="19050">
            <a:solidFill>
              <a:srgbClr val="D9822B"/>
            </a:solidFill>
            <a:prstDash val="dash"/>
            <a:tailEnd type="triangle"/>
          </a:ln>
        </p:spPr>
      </p:sp>
      <p:sp>
        <p:nvSpPr>
          <p:cNvPr id="44" name="connector-394"/>
          <p:cNvSpPr/>
          <p:nvPr/>
        </p:nvSpPr>
        <p:spPr>
          <a:xfrm flipV="1">
            <a:off x="3040380" y="2450592"/>
            <a:ext cx="0" cy="182880"/>
          </a:xfrm>
          <a:prstGeom prst="line">
            <a:avLst/>
          </a:prstGeom>
          <a:noFill/>
          <a:ln w="19050">
            <a:solidFill>
              <a:srgbClr val="D9822B"/>
            </a:solidFill>
            <a:prstDash val="dash"/>
            <a:tailEnd type="triangle"/>
          </a:ln>
        </p:spPr>
      </p:sp>
      <p:sp>
        <p:nvSpPr>
          <p:cNvPr id="45" name="flow-label-395"/>
          <p:cNvSpPr txBox="1"/>
          <p:nvPr/>
        </p:nvSpPr>
        <p:spPr>
          <a:xfrm>
            <a:off x="4206240" y="2688336"/>
            <a:ext cx="548640" cy="219456"/>
          </a:xfrm>
          <a:prstGeom prst="rect">
            <a:avLst/>
          </a:prstGeom>
          <a:noFill/>
          <a:ln/>
        </p:spPr>
        <p:txBody>
          <a:bodyPr wrap="square" lIns="0" tIns="0" rIns="0" bIns="0" rtlCol="0" anchor="ctr"/>
          <a:lstStyle/>
          <a:p>
            <a:pPr algn="l" indent="0" marL="0">
              <a:buNone/>
            </a:pPr>
            <a:r>
              <a:rPr lang="en-US" sz="850" b="1" dirty="0">
                <a:solidFill>
                  <a:srgbClr val="D9822B"/>
                </a:solidFill>
              </a:rPr>
              <a:t>Tidak</a:t>
            </a:r>
            <a:endParaRPr lang="en-US" sz="850" dirty="0"/>
          </a:p>
        </p:txBody>
      </p:sp>
      <p:sp>
        <p:nvSpPr>
          <p:cNvPr id="46" name="flow-label-396"/>
          <p:cNvSpPr txBox="1"/>
          <p:nvPr/>
        </p:nvSpPr>
        <p:spPr>
          <a:xfrm>
            <a:off x="3108960" y="3447288"/>
            <a:ext cx="548640" cy="219456"/>
          </a:xfrm>
          <a:prstGeom prst="rect">
            <a:avLst/>
          </a:prstGeom>
          <a:noFill/>
          <a:ln/>
        </p:spPr>
        <p:txBody>
          <a:bodyPr wrap="square" lIns="0" tIns="0" rIns="0" bIns="0" rtlCol="0" anchor="ctr"/>
          <a:lstStyle/>
          <a:p>
            <a:pPr algn="l" indent="0" marL="0">
              <a:buNone/>
            </a:pPr>
            <a:r>
              <a:rPr lang="en-US" sz="850" b="1" dirty="0">
                <a:solidFill>
                  <a:srgbClr val="D9822B"/>
                </a:solidFill>
              </a:rPr>
              <a:t>Tidak</a:t>
            </a:r>
            <a:endParaRPr lang="en-US" sz="850" dirty="0"/>
          </a:p>
        </p:txBody>
      </p:sp>
      <p:sp>
        <p:nvSpPr>
          <p:cNvPr id="47" name="panel-397"/>
          <p:cNvSpPr/>
          <p:nvPr/>
        </p:nvSpPr>
        <p:spPr>
          <a:xfrm>
            <a:off x="8092440" y="1783080"/>
            <a:ext cx="3550615" cy="3749040"/>
          </a:xfrm>
          <a:prstGeom prst="rect">
            <a:avLst/>
          </a:prstGeom>
          <a:solidFill>
            <a:srgbClr val="F2F4F7"/>
          </a:solidFill>
          <a:ln w="6350">
            <a:solidFill>
              <a:srgbClr val="CDD5DF"/>
            </a:solidFill>
            <a:prstDash val="solid"/>
          </a:ln>
        </p:spPr>
      </p:sp>
      <p:sp>
        <p:nvSpPr>
          <p:cNvPr id="48" name="panel-title-398"/>
          <p:cNvSpPr txBox="1"/>
          <p:nvPr/>
        </p:nvSpPr>
        <p:spPr>
          <a:xfrm>
            <a:off x="8257032" y="1892808"/>
            <a:ext cx="3221431" cy="256032"/>
          </a:xfrm>
          <a:prstGeom prst="rect">
            <a:avLst/>
          </a:prstGeom>
          <a:noFill/>
          <a:ln/>
        </p:spPr>
        <p:txBody>
          <a:bodyPr wrap="square" lIns="0" tIns="0" rIns="0" bIns="0" rtlCol="0" anchor="ctr"/>
          <a:lstStyle/>
          <a:p>
            <a:pPr indent="0" marL="0">
              <a:buNone/>
            </a:pPr>
            <a:r>
              <a:rPr lang="en-US" sz="950" b="1" spc="100" kern="0" dirty="0">
                <a:solidFill>
                  <a:srgbClr val="0E2F56"/>
                </a:solidFill>
              </a:rPr>
              <a:t>ATURAN</a:t>
            </a:r>
            <a:endParaRPr lang="en-US" sz="950" dirty="0"/>
          </a:p>
        </p:txBody>
      </p:sp>
      <p:sp>
        <p:nvSpPr>
          <p:cNvPr id="49" name="panel-body-399"/>
          <p:cNvSpPr txBox="1"/>
          <p:nvPr/>
        </p:nvSpPr>
        <p:spPr>
          <a:xfrm>
            <a:off x="8257032" y="2194560"/>
            <a:ext cx="3221431" cy="3246120"/>
          </a:xfrm>
          <a:prstGeom prst="rect">
            <a:avLst/>
          </a:prstGeom>
          <a:noFill/>
          <a:ln/>
        </p:spPr>
        <p:txBody>
          <a:bodyPr wrap="square" lIns="0" tIns="0" rIns="0" bIns="0" rtlCol="0" anchor="t"/>
          <a:lstStyle/>
          <a:p>
            <a:pPr marL="152400" indent="-152400">
              <a:spcAft>
                <a:spcPts val="500"/>
              </a:spcAft>
              <a:buSzPct val="100000"/>
              <a:buChar char="•"/>
            </a:pPr>
            <a:r>
              <a:rPr lang="en-US" sz="950" dirty="0">
                <a:solidFill>
                  <a:srgbClr val="1F2D3D"/>
                </a:solidFill>
              </a:rPr>
              <a:t>Satu kontrak bisa punya banyak DO; beberapa dapat berjalan bersamaan.</a:t>
            </a:r>
            <a:endParaRPr lang="en-US" sz="950" dirty="0"/>
          </a:p>
          <a:p>
            <a:pPr marL="152400" indent="-152400">
              <a:spcAft>
                <a:spcPts val="500"/>
              </a:spcAft>
              <a:buSzPct val="100000"/>
              <a:buChar char="•"/>
            </a:pPr>
            <a:r>
              <a:rPr lang="en-US" sz="950" dirty="0">
                <a:solidFill>
                  <a:srgbClr val="1F2D3D"/>
                </a:solidFill>
              </a:rPr>
              <a:t>Uraian dan harga disalin ke DO; perubahan daftar harga tidak mengubah DO yang sudah dibuat.</a:t>
            </a:r>
            <a:endParaRPr lang="en-US" sz="950" dirty="0"/>
          </a:p>
          <a:p>
            <a:pPr marL="152400" indent="-152400">
              <a:spcAft>
                <a:spcPts val="500"/>
              </a:spcAft>
              <a:buSzPct val="100000"/>
              <a:buChar char="•"/>
            </a:pPr>
            <a:r>
              <a:rPr lang="en-US" sz="950" dirty="0">
                <a:solidFill>
                  <a:srgbClr val="1F2D3D"/>
                </a:solidFill>
              </a:rPr>
              <a:t>Rendan: PIC Perencana pengadaan itu, atau TL (TL ICC / TL Pengadaan / Admin).</a:t>
            </a:r>
            <a:endParaRPr lang="en-US" sz="950" dirty="0"/>
          </a:p>
          <a:p>
            <a:pPr marL="152400" indent="-152400">
              <a:spcAft>
                <a:spcPts val="500"/>
              </a:spcAft>
              <a:buSzPct val="100000"/>
              <a:buChar char="•"/>
            </a:pPr>
            <a:r>
              <a:rPr lang="en-US" sz="950" dirty="0">
                <a:solidFill>
                  <a:srgbClr val="1F2D3D"/>
                </a:solidFill>
              </a:rPr>
              <a:t>Laksdan: PIC Pelaksana, TL Pengadaan, Admin. TL ICC dan PIC Perencana tidak dapat menerbitkan DO.</a:t>
            </a:r>
            <a:endParaRPr lang="en-US" sz="950" dirty="0"/>
          </a:p>
        </p:txBody>
      </p:sp>
      <p:sp>
        <p:nvSpPr>
          <p:cNvPr id="50" name="status-strip-400"/>
          <p:cNvSpPr/>
          <p:nvPr/>
        </p:nvSpPr>
        <p:spPr>
          <a:xfrm>
            <a:off x="548640" y="5733288"/>
            <a:ext cx="11094415" cy="457200"/>
          </a:xfrm>
          <a:prstGeom prst="rect">
            <a:avLst/>
          </a:prstGeom>
          <a:solidFill>
            <a:srgbClr val="FFFFFF"/>
          </a:solidFill>
          <a:ln w="9525">
            <a:solidFill>
              <a:srgbClr val="CDD5DF"/>
            </a:solidFill>
            <a:prstDash val="solid"/>
          </a:ln>
        </p:spPr>
      </p:sp>
      <p:sp>
        <p:nvSpPr>
          <p:cNvPr id="51" name="status-mark-401"/>
          <p:cNvSpPr/>
          <p:nvPr/>
        </p:nvSpPr>
        <p:spPr>
          <a:xfrm>
            <a:off x="548640" y="5733288"/>
            <a:ext cx="73152" cy="457200"/>
          </a:xfrm>
          <a:prstGeom prst="rect">
            <a:avLst/>
          </a:prstGeom>
          <a:solidFill>
            <a:srgbClr val="1F6FB2"/>
          </a:solidFill>
          <a:ln w="12700">
            <a:solidFill>
              <a:srgbClr val="1F6FB2"/>
            </a:solidFill>
            <a:prstDash val="solid"/>
          </a:ln>
        </p:spPr>
      </p:sp>
      <p:sp>
        <p:nvSpPr>
          <p:cNvPr id="52" name="status-text-402"/>
          <p:cNvSpPr txBox="1"/>
          <p:nvPr/>
        </p:nvSpPr>
        <p:spPr>
          <a:xfrm>
            <a:off x="749808" y="5733288"/>
            <a:ext cx="10820095" cy="457200"/>
          </a:xfrm>
          <a:prstGeom prst="rect">
            <a:avLst/>
          </a:prstGeom>
          <a:noFill/>
          <a:ln/>
        </p:spPr>
        <p:txBody>
          <a:bodyPr wrap="square" lIns="0" tIns="0" rIns="0" bIns="0" rtlCol="0" anchor="ctr"/>
          <a:lstStyle/>
          <a:p>
            <a:pPr indent="0" marL="0">
              <a:buNone/>
            </a:pPr>
            <a:r>
              <a:rPr lang="en-US" sz="1000" dirty="0">
                <a:solidFill>
                  <a:srgbClr val="1F2D3D"/>
                </a:solidFill>
              </a:rPr>
              <a:t>Indikator tahapan:  Pengusul  &gt;  TL  &gt;  Asman  &gt;  Rendan  &gt;  Laksdan  &gt;  Terbit          Keputusan tercatat di Riwayat Approval.</a:t>
            </a:r>
            <a:endParaRPr lang="en-US" sz="1000" dirty="0"/>
          </a:p>
        </p:txBody>
      </p:sp>
      <p:sp>
        <p:nvSpPr>
          <p:cNvPr id="25" name="Slide Number Placeholder 0"/>
          <p:cNvSpPr>
            <a:spLocks noGrp="1"/>
          </p:cNvSpPr>
          <p:nvPr>
            <p:ph type="sldNum" sz="quarter" idx="4294967295"/>
          </p:nvPr>
        </p:nvSpPr>
        <p:spPr>
          <a:xfrm>
            <a:off x="11094415" y="646480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title" hasCustomPrompt="1"/>
          </p:nvPr>
        </p:nvSpPr>
        <p:spPr>
          <a:xfrm>
            <a:off x="548640" y="896112"/>
            <a:ext cx="7680960" cy="502920"/>
          </a:xfrm>
          <a:prstGeom prst="rect">
            <a:avLst/>
          </a:prstGeom>
          <a:noFill/>
          <a:ln/>
        </p:spPr>
        <p:txBody>
          <a:bodyPr wrap="square" lIns="0" tIns="0" rIns="0" bIns="0" rtlCol="0" anchor="ctr"/>
          <a:lstStyle/>
          <a:p>
            <a:pPr algn="l" indent="0" marL="0">
              <a:buNone/>
            </a:pPr>
            <a:r>
              <a:rPr lang="en-US" sz="2400" b="1" dirty="0">
                <a:solidFill>
                  <a:srgbClr val="0E2F56"/>
                </a:solidFill>
              </a:rPr>
              <a:t>Ringkasan</a:t>
            </a:r>
            <a:endParaRPr lang="en-US" sz="2400" dirty="0"/>
          </a:p>
        </p:txBody>
      </p:sp>
      <p:sp>
        <p:nvSpPr>
          <p:cNvPr id="3" name="Text 2"/>
          <p:cNvSpPr/>
          <p:nvPr>
            <p:ph idx="103" type="body" hasCustomPrompt="1"/>
          </p:nvPr>
        </p:nvSpPr>
        <p:spPr>
          <a:xfrm>
            <a:off x="548640" y="1371600"/>
            <a:ext cx="7680960" cy="292608"/>
          </a:xfrm>
          <a:prstGeom prst="rect">
            <a:avLst/>
          </a:prstGeom>
          <a:noFill/>
          <a:ln/>
        </p:spPr>
        <p:txBody>
          <a:bodyPr wrap="square" lIns="0" tIns="0" rIns="0" bIns="0" rtlCol="0" anchor="t"/>
          <a:lstStyle/>
          <a:p>
            <a:pPr algn="l" indent="0" marL="0">
              <a:buNone/>
            </a:pPr>
            <a:r>
              <a:rPr lang="en-US" sz="1200" dirty="0">
                <a:solidFill>
                  <a:srgbClr val="5B6B7C"/>
                </a:solidFill>
              </a:rPr>
              <a:t>Lima tahap, tiga persetujuan, dua jalur format, dan proses pendukung yang tercatat.</a:t>
            </a:r>
            <a:endParaRPr lang="en-US" sz="1200" dirty="0"/>
          </a:p>
        </p:txBody>
      </p:sp>
      <p:graphicFrame>
        <p:nvGraphicFramePr>
          <p:cNvPr id="14" name="table-403"/>
          <p:cNvGraphicFramePr>
            <a:graphicFrameLocks noGrp="1"/>
          </p:cNvGraphicFramePr>
          <p:nvPr>
            <p:extLst>
              <p:ext uri="{D42A27DB-BD31-4B8C-83A1-F6EECF244321}">
                <p14:modId xmlns:p14="http://schemas.microsoft.com/office/powerpoint/2010/main" val="1579011935"/>
              </p:ext>
            </p:extLst>
          </p:nvPr>
        </p:nvGraphicFramePr>
        <p:xfrm>
          <a:off x="548640" y="1828800"/>
          <a:ext cx="7040880" cy="914400"/>
        </p:xfrm>
        <a:graphic>
          <a:graphicData uri="http://schemas.openxmlformats.org/drawingml/2006/table">
            <a:tbl>
              <a:tblPr/>
              <a:tblGrid>
                <a:gridCol w="1600200"/>
                <a:gridCol w="2240280"/>
                <a:gridCol w="1600200"/>
                <a:gridCol w="1600200"/>
              </a:tblGrid>
              <a:tr h="548640">
                <a:tc>
                  <a:txBody>
                    <a:bodyPr/>
                    <a:lstStyle/>
                    <a:p>
                      <a:pPr algn="l" indent="0" marL="0">
                        <a:buNone/>
                      </a:pPr>
                      <a:r>
                        <a:rPr lang="en-US" sz="1100" b="1" dirty="0">
                          <a:solidFill>
                            <a:srgbClr val="FFFFFF"/>
                          </a:solidFill>
                        </a:rPr>
                        <a:t>Tahap</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0E2F56"/>
                    </a:solidFill>
                  </a:tcPr>
                </a:tc>
                <a:tc>
                  <a:txBody>
                    <a:bodyPr/>
                    <a:lstStyle/>
                    <a:p>
                      <a:pPr algn="l" indent="0" marL="0">
                        <a:buNone/>
                      </a:pPr>
                      <a:r>
                        <a:rPr lang="en-US" sz="1100" b="1" dirty="0">
                          <a:solidFill>
                            <a:srgbClr val="FFFFFF"/>
                          </a:solidFill>
                        </a:rPr>
                        <a:t>Pelaku utama</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0E2F56"/>
                    </a:solidFill>
                  </a:tcPr>
                </a:tc>
                <a:tc>
                  <a:txBody>
                    <a:bodyPr/>
                    <a:lstStyle/>
                    <a:p>
                      <a:pPr algn="l" indent="0" marL="0">
                        <a:buNone/>
                      </a:pPr>
                      <a:r>
                        <a:rPr lang="en-US" sz="1100" b="1" dirty="0">
                          <a:solidFill>
                            <a:srgbClr val="FFFFFF"/>
                          </a:solidFill>
                        </a:rPr>
                        <a:t>Keputusan</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0E2F56"/>
                    </a:solidFill>
                  </a:tcPr>
                </a:tc>
                <a:tc>
                  <a:txBody>
                    <a:bodyPr/>
                    <a:lstStyle/>
                    <a:p>
                      <a:pPr algn="l" indent="0" marL="0">
                        <a:buNone/>
                      </a:pPr>
                      <a:r>
                        <a:rPr lang="en-US" sz="1100" b="1" dirty="0">
                          <a:solidFill>
                            <a:srgbClr val="FFFFFF"/>
                          </a:solidFill>
                        </a:rPr>
                        <a:t>Bila dikembalikan</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0E2F56"/>
                    </a:solidFill>
                  </a:tcPr>
                </a:tc>
              </a:tr>
              <a:tr h="548640">
                <a:tc>
                  <a:txBody>
                    <a:bodyPr/>
                    <a:lstStyle/>
                    <a:p>
                      <a:pPr indent="0" marL="0">
                        <a:buNone/>
                      </a:pPr>
                      <a:r>
                        <a:rPr lang="en-US" sz="1100" b="1" dirty="0">
                          <a:solidFill>
                            <a:srgbClr val="0E2F56"/>
                          </a:solidFill>
                        </a:rPr>
                        <a:t>1  Usulan</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indent="0" marL="0">
                        <a:buNone/>
                      </a:pPr>
                      <a:r>
                        <a:rPr lang="en-US" sz="1100" dirty="0">
                          <a:solidFill>
                            <a:srgbClr val="1F2D3D"/>
                          </a:solidFill>
                        </a:rPr>
                        <a:t>Pengusul, TL Atasan, Asman</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indent="0" marL="0">
                        <a:buNone/>
                      </a:pPr>
                      <a:r>
                        <a:rPr lang="en-US" sz="1100" dirty="0">
                          <a:solidFill>
                            <a:srgbClr val="1F2D3D"/>
                          </a:solidFill>
                        </a:rPr>
                        <a:t>TL lalu Asman</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indent="0" marL="0">
                        <a:buNone/>
                      </a:pPr>
                      <a:r>
                        <a:rPr lang="en-US" sz="1100" dirty="0">
                          <a:solidFill>
                            <a:srgbClr val="D9822B"/>
                          </a:solidFill>
                        </a:rPr>
                        <a:t>Revisi Usulan, ajukan ulang dari TL</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r>
              <a:tr h="548640">
                <a:tc>
                  <a:txBody>
                    <a:bodyPr/>
                    <a:lstStyle/>
                    <a:p>
                      <a:pPr indent="0" marL="0">
                        <a:buNone/>
                      </a:pPr>
                      <a:r>
                        <a:rPr lang="en-US" sz="1100" b="1" dirty="0">
                          <a:solidFill>
                            <a:srgbClr val="0E2F56"/>
                          </a:solidFill>
                        </a:rPr>
                        <a:t>2  Perencanaan</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indent="0" marL="0">
                        <a:buNone/>
                      </a:pPr>
                      <a:r>
                        <a:rPr lang="en-US" sz="1100" dirty="0">
                          <a:solidFill>
                            <a:srgbClr val="1F2D3D"/>
                          </a:solidFill>
                        </a:rPr>
                        <a:t>TL ICC, PIC Perencana, TL Pengadaan</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indent="0" marL="0">
                        <a:buNone/>
                      </a:pPr>
                      <a:r>
                        <a:rPr lang="en-US" sz="1100" dirty="0">
                          <a:solidFill>
                            <a:srgbClr val="1F2D3D"/>
                          </a:solidFill>
                        </a:rPr>
                        <a:t>TL ICC</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indent="0" marL="0">
                        <a:buNone/>
                      </a:pPr>
                      <a:r>
                        <a:rPr lang="en-US" sz="1100" dirty="0">
                          <a:solidFill>
                            <a:srgbClr val="D9822B"/>
                          </a:solidFill>
                        </a:rPr>
                        <a:t>Revisi Perencanaan</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r>
              <a:tr h="548640">
                <a:tc>
                  <a:txBody>
                    <a:bodyPr/>
                    <a:lstStyle/>
                    <a:p>
                      <a:pPr indent="0" marL="0">
                        <a:buNone/>
                      </a:pPr>
                      <a:r>
                        <a:rPr lang="en-US" sz="1100" b="1" dirty="0">
                          <a:solidFill>
                            <a:srgbClr val="0E2F56"/>
                          </a:solidFill>
                        </a:rPr>
                        <a:t>3  Pelaksanaan</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indent="0" marL="0">
                        <a:buNone/>
                      </a:pPr>
                      <a:r>
                        <a:rPr lang="en-US" sz="1100" dirty="0">
                          <a:solidFill>
                            <a:srgbClr val="1F2D3D"/>
                          </a:solidFill>
                        </a:rPr>
                        <a:t>PIC Pelaksana, TL Pengadaan</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indent="0" marL="0">
                        <a:buNone/>
                      </a:pPr>
                      <a:r>
                        <a:rPr lang="en-US" sz="1100" dirty="0">
                          <a:solidFill>
                            <a:srgbClr val="1F2D3D"/>
                          </a:solidFill>
                        </a:rPr>
                        <a:t>TL Pengadaan</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indent="0" marL="0">
                        <a:buNone/>
                      </a:pPr>
                      <a:r>
                        <a:rPr lang="en-US" sz="1100" dirty="0">
                          <a:solidFill>
                            <a:srgbClr val="D9822B"/>
                          </a:solidFill>
                        </a:rPr>
                        <a:t>Revisi Pelaksanaan</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r>
              <a:tr h="548640">
                <a:tc>
                  <a:txBody>
                    <a:bodyPr/>
                    <a:lstStyle/>
                    <a:p>
                      <a:pPr indent="0" marL="0">
                        <a:buNone/>
                      </a:pPr>
                      <a:r>
                        <a:rPr lang="en-US" sz="1100" b="1" dirty="0">
                          <a:solidFill>
                            <a:srgbClr val="0E2F56"/>
                          </a:solidFill>
                        </a:rPr>
                        <a:t>4  Penyerahan</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indent="0" marL="0">
                        <a:buNone/>
                      </a:pPr>
                      <a:r>
                        <a:rPr lang="en-US" sz="1100" dirty="0">
                          <a:solidFill>
                            <a:srgbClr val="1F2D3D"/>
                          </a:solidFill>
                        </a:rPr>
                        <a:t>Keuangan</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indent="0" marL="0">
                        <a:buNone/>
                      </a:pPr>
                      <a:r>
                        <a:rPr lang="en-US" sz="1100" dirty="0">
                          <a:solidFill>
                            <a:srgbClr val="1F2D3D"/>
                          </a:solidFill>
                        </a:rPr>
                        <a:t>Berkas tiap item wajib</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c>
                  <a:txBody>
                    <a:bodyPr/>
                    <a:lstStyle/>
                    <a:p>
                      <a:pPr indent="0" marL="0">
                        <a:buNone/>
                      </a:pPr>
                      <a:r>
                        <a:rPr lang="en-US" sz="1100" dirty="0">
                          <a:solidFill>
                            <a:srgbClr val="1F2D3D"/>
                          </a:solidFill>
                        </a:rPr>
                        <a:t>-</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FFFFF"/>
                    </a:solidFill>
                  </a:tcPr>
                </a:tc>
              </a:tr>
              <a:tr h="548640">
                <a:tc>
                  <a:txBody>
                    <a:bodyPr/>
                    <a:lstStyle/>
                    <a:p>
                      <a:pPr indent="0" marL="0">
                        <a:buNone/>
                      </a:pPr>
                      <a:r>
                        <a:rPr lang="en-US" sz="1100" b="1" dirty="0">
                          <a:solidFill>
                            <a:srgbClr val="0E2F56"/>
                          </a:solidFill>
                        </a:rPr>
                        <a:t>5  Pembayaran</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indent="0" marL="0">
                        <a:buNone/>
                      </a:pPr>
                      <a:r>
                        <a:rPr lang="en-US" sz="1100" dirty="0">
                          <a:solidFill>
                            <a:srgbClr val="1F2D3D"/>
                          </a:solidFill>
                        </a:rPr>
                        <a:t>Keuangan</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indent="0" marL="0">
                        <a:buNone/>
                      </a:pPr>
                      <a:r>
                        <a:rPr lang="en-US" sz="1100" dirty="0">
                          <a:solidFill>
                            <a:srgbClr val="1F2D3D"/>
                          </a:solidFill>
                        </a:rPr>
                        <a:t>Semua item wajib selesai</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c>
                  <a:txBody>
                    <a:bodyPr/>
                    <a:lstStyle/>
                    <a:p>
                      <a:pPr indent="0" marL="0">
                        <a:buNone/>
                      </a:pPr>
                      <a:r>
                        <a:rPr lang="en-US" sz="1100" dirty="0">
                          <a:solidFill>
                            <a:srgbClr val="1F2D3D"/>
                          </a:solidFill>
                        </a:rPr>
                        <a:t>-</a:t>
                      </a:r>
                      <a:endParaRPr lang="en-US" sz="1100" dirty="0"/>
                    </a:p>
                  </a:txBody>
                  <a:tcPr marL="73152" marR="73152" marT="27432" marB="27432" anchor="ctr">
                    <a:lnL w="6350" cap="flat" cmpd="sng" algn="ctr">
                      <a:solidFill>
                        <a:srgbClr val="CDD5DF"/>
                      </a:solidFill>
                      <a:prstDash val="solid"/>
                      <a:round/>
                      <a:headEnd type="none" w="med" len="med"/>
                      <a:tailEnd type="none" w="med" len="med"/>
                    </a:lnL>
                    <a:lnR w="6350" cap="flat" cmpd="sng" algn="ctr">
                      <a:solidFill>
                        <a:srgbClr val="CDD5DF"/>
                      </a:solidFill>
                      <a:prstDash val="solid"/>
                      <a:round/>
                      <a:headEnd type="none" w="med" len="med"/>
                      <a:tailEnd type="none" w="med" len="med"/>
                    </a:lnR>
                    <a:lnT w="6350" cap="flat" cmpd="sng" algn="ctr">
                      <a:solidFill>
                        <a:srgbClr val="CDD5DF"/>
                      </a:solidFill>
                      <a:prstDash val="solid"/>
                      <a:round/>
                      <a:headEnd type="none" w="med" len="med"/>
                      <a:tailEnd type="none" w="med" len="med"/>
                    </a:lnT>
                    <a:lnB w="6350" cap="flat" cmpd="sng" algn="ctr">
                      <a:solidFill>
                        <a:srgbClr val="CDD5DF"/>
                      </a:solidFill>
                      <a:prstDash val="solid"/>
                      <a:round/>
                      <a:headEnd type="none" w="med" len="med"/>
                      <a:tailEnd type="none" w="med" len="med"/>
                    </a:lnB>
                    <a:solidFill>
                      <a:srgbClr val="F2F4F7"/>
                    </a:solidFill>
                  </a:tcPr>
                </a:tc>
              </a:tr>
            </a:tbl>
          </a:graphicData>
        </a:graphic>
      </p:graphicFrame>
      <p:sp>
        <p:nvSpPr>
          <p:cNvPr id="5" name="status-strip-404"/>
          <p:cNvSpPr/>
          <p:nvPr/>
        </p:nvSpPr>
        <p:spPr>
          <a:xfrm>
            <a:off x="548640" y="5669280"/>
            <a:ext cx="11094415" cy="457200"/>
          </a:xfrm>
          <a:prstGeom prst="rect">
            <a:avLst/>
          </a:prstGeom>
          <a:solidFill>
            <a:srgbClr val="FFFFFF"/>
          </a:solidFill>
          <a:ln w="9525">
            <a:solidFill>
              <a:srgbClr val="CDD5DF"/>
            </a:solidFill>
            <a:prstDash val="solid"/>
          </a:ln>
        </p:spPr>
      </p:sp>
      <p:sp>
        <p:nvSpPr>
          <p:cNvPr id="6" name="status-mark-405"/>
          <p:cNvSpPr/>
          <p:nvPr/>
        </p:nvSpPr>
        <p:spPr>
          <a:xfrm>
            <a:off x="548640" y="5669280"/>
            <a:ext cx="73152" cy="457200"/>
          </a:xfrm>
          <a:prstGeom prst="rect">
            <a:avLst/>
          </a:prstGeom>
          <a:solidFill>
            <a:srgbClr val="1F6FB2"/>
          </a:solidFill>
          <a:ln w="12700">
            <a:solidFill>
              <a:srgbClr val="1F6FB2"/>
            </a:solidFill>
            <a:prstDash val="solid"/>
          </a:ln>
        </p:spPr>
      </p:sp>
      <p:sp>
        <p:nvSpPr>
          <p:cNvPr id="7" name="status-text-406"/>
          <p:cNvSpPr txBox="1"/>
          <p:nvPr/>
        </p:nvSpPr>
        <p:spPr>
          <a:xfrm>
            <a:off x="749808" y="5669280"/>
            <a:ext cx="10820095" cy="457200"/>
          </a:xfrm>
          <a:prstGeom prst="rect">
            <a:avLst/>
          </a:prstGeom>
          <a:noFill/>
          <a:ln/>
        </p:spPr>
        <p:txBody>
          <a:bodyPr wrap="square" lIns="0" tIns="0" rIns="0" bIns="0" rtlCol="0" anchor="ctr"/>
          <a:lstStyle/>
          <a:p>
            <a:pPr indent="0" marL="0">
              <a:buNone/>
            </a:pPr>
            <a:r>
              <a:rPr lang="en-US" sz="1000" dirty="0">
                <a:solidFill>
                  <a:srgbClr val="1F2D3D"/>
                </a:solidFill>
              </a:rPr>
              <a:t>Proses pendukung, di luar lima tahap:  Amandemen  |  Delivery Order (KHS)  |  Riwayat Approval  |  Notifikasi  |  Monitoring per mitra</a:t>
            </a:r>
            <a:endParaRPr lang="en-US" sz="1000" dirty="0"/>
          </a:p>
        </p:txBody>
      </p:sp>
      <p:sp>
        <p:nvSpPr>
          <p:cNvPr id="8" name="panel-407"/>
          <p:cNvSpPr/>
          <p:nvPr/>
        </p:nvSpPr>
        <p:spPr>
          <a:xfrm>
            <a:off x="7863840" y="1828800"/>
            <a:ext cx="3779215" cy="3291840"/>
          </a:xfrm>
          <a:prstGeom prst="rect">
            <a:avLst/>
          </a:prstGeom>
          <a:solidFill>
            <a:srgbClr val="F2F4F7"/>
          </a:solidFill>
          <a:ln w="6350">
            <a:solidFill>
              <a:srgbClr val="CDD5DF"/>
            </a:solidFill>
            <a:prstDash val="solid"/>
          </a:ln>
        </p:spPr>
      </p:sp>
      <p:sp>
        <p:nvSpPr>
          <p:cNvPr id="9" name="panel-title-408"/>
          <p:cNvSpPr txBox="1"/>
          <p:nvPr/>
        </p:nvSpPr>
        <p:spPr>
          <a:xfrm>
            <a:off x="8028432" y="1938528"/>
            <a:ext cx="3450031" cy="256032"/>
          </a:xfrm>
          <a:prstGeom prst="rect">
            <a:avLst/>
          </a:prstGeom>
          <a:noFill/>
          <a:ln/>
        </p:spPr>
        <p:txBody>
          <a:bodyPr wrap="square" lIns="0" tIns="0" rIns="0" bIns="0" rtlCol="0" anchor="ctr"/>
          <a:lstStyle/>
          <a:p>
            <a:pPr indent="0" marL="0">
              <a:buNone/>
            </a:pPr>
            <a:r>
              <a:rPr lang="en-US" sz="950" b="1" spc="100" kern="0" dirty="0">
                <a:solidFill>
                  <a:srgbClr val="0E2F56"/>
                </a:solidFill>
              </a:rPr>
              <a:t>PERLU DIKONFIRMASI</a:t>
            </a:r>
            <a:endParaRPr lang="en-US" sz="950" dirty="0"/>
          </a:p>
        </p:txBody>
      </p:sp>
      <p:sp>
        <p:nvSpPr>
          <p:cNvPr id="10" name="panel-body-409"/>
          <p:cNvSpPr txBox="1"/>
          <p:nvPr/>
        </p:nvSpPr>
        <p:spPr>
          <a:xfrm>
            <a:off x="8028432" y="2240280"/>
            <a:ext cx="3450031" cy="2788920"/>
          </a:xfrm>
          <a:prstGeom prst="rect">
            <a:avLst/>
          </a:prstGeom>
          <a:noFill/>
          <a:ln/>
        </p:spPr>
        <p:txBody>
          <a:bodyPr wrap="square" lIns="0" tIns="0" rIns="0" bIns="0" rtlCol="0" anchor="t"/>
          <a:lstStyle/>
          <a:p>
            <a:pPr marL="152400" indent="-152400">
              <a:spcAft>
                <a:spcPts val="500"/>
              </a:spcAft>
              <a:buSzPct val="100000"/>
              <a:buChar char="•"/>
            </a:pPr>
            <a:r>
              <a:rPr lang="en-US" sz="1000" b="1" dirty="0">
                <a:solidFill>
                  <a:srgbClr val="D9822B"/>
                </a:solidFill>
              </a:rPr>
              <a:t>Surat Pesanan sebagai tahapan checklist SPPL: tercantum di dokumentasi, belum menjadi item checklist aktif.</a:t>
            </a:r>
            <a:endParaRPr lang="en-US" sz="1000" dirty="0"/>
          </a:p>
          <a:p>
            <a:pPr marL="152400" indent="-152400">
              <a:spcAft>
                <a:spcPts val="500"/>
              </a:spcAft>
              <a:buSzPct val="100000"/>
              <a:buChar char="•"/>
            </a:pPr>
            <a:r>
              <a:rPr lang="en-US" sz="1000" b="1" dirty="0">
                <a:solidFill>
                  <a:srgbClr val="D9822B"/>
                </a:solidFill>
              </a:rPr>
              <a:t>Penunjuk PIC Perencana: dokumentasi menyebut TL Pengadaan, hak bawaan di aplikasi saat ini TL ICC.</a:t>
            </a:r>
            <a:endParaRPr lang="en-US" sz="1000" dirty="0"/>
          </a:p>
          <a:p>
            <a:pPr marL="152400" indent="-152400">
              <a:spcAft>
                <a:spcPts val="500"/>
              </a:spcAft>
              <a:buSzPct val="100000"/>
              <a:buChar char="•"/>
            </a:pPr>
            <a:r>
              <a:rPr lang="en-US" sz="1000" dirty="0">
                <a:solidFill>
                  <a:srgbClr val="1F2D3D"/>
                </a:solidFill>
              </a:rPr>
              <a:t>Batas waktu (SLA) per tahap tidak didokumentasikan, sehingga tidak dicantumkan.</a:t>
            </a:r>
            <a:endParaRPr lang="en-US" sz="1000" dirty="0"/>
          </a:p>
        </p:txBody>
      </p:sp>
      <p:sp>
        <p:nvSpPr>
          <p:cNvPr id="25" name="Slide Number Placeholder 0"/>
          <p:cNvSpPr>
            <a:spLocks noGrp="1"/>
          </p:cNvSpPr>
          <p:nvPr>
            <p:ph type="sldNum" sz="quarter" idx="4294967295"/>
          </p:nvPr>
        </p:nvSpPr>
        <p:spPr>
          <a:xfrm>
            <a:off x="11094415" y="646480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C"/>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Sistem Pengadaan UP Kendari">
  <a:themeElements>
    <a:clrScheme name="Sistem Pengadaan UP Kendari">
      <a:dk1>
        <a:srgbClr val="1F2D3D"/>
      </a:dk1>
      <a:lt1>
        <a:srgbClr val="FFFFFF"/>
      </a:lt1>
      <a:dk2>
        <a:srgbClr val="0E2F56"/>
      </a:dk2>
      <a:lt2>
        <a:srgbClr val="F2F4F7"/>
      </a:lt2>
      <a:accent1>
        <a:srgbClr val="1F6FB2"/>
      </a:accent1>
      <a:accent2>
        <a:srgbClr val="1E7B4F"/>
      </a:accent2>
      <a:accent3>
        <a:srgbClr val="D9822B"/>
      </a:accent3>
      <a:accent4>
        <a:srgbClr val="B83227"/>
      </a:accent4>
      <a:accent5>
        <a:srgbClr val="5B6B7C"/>
      </a:accent5>
      <a:accent6>
        <a:srgbClr val="CDD5DF"/>
      </a:accent6>
      <a:hlink>
        <a:srgbClr val="1F6FB2"/>
      </a:hlink>
      <a:folHlink>
        <a:srgbClr val="0E2F56"/>
      </a:folHlink>
    </a:clrScheme>
    <a:fontScheme name="Sistem Pengadaan UP Kendari">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PLN Nusantara Power UP Kendari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 Pengadaan Barang dan Jasa UP Kendari</dc:title>
  <dc:subject>PptxGenJS Presentation</dc:subject>
  <dc:creator>Tim Pengadaan UP Kendari</dc:creator>
  <cp:lastModifiedBy>Tim Pengadaan UP Kendari</cp:lastModifiedBy>
  <cp:revision>1</cp:revision>
  <dcterms:created xsi:type="dcterms:W3CDTF">2026-10-25T12:07:12Z</dcterms:created>
  <dcterms:modified xsi:type="dcterms:W3CDTF">2026-10-25T12:07:12Z</dcterms:modified>
</cp:coreProperties>
</file>